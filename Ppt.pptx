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648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94734" y="1600072"/>
            <a:ext cx="3630929" cy="367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875" y="326022"/>
            <a:ext cx="10454248" cy="401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49" y="0"/>
            <a:ext cx="4286249" cy="63291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4" y="2060225"/>
            <a:ext cx="4015740" cy="9423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5"/>
              </a:spcBef>
            </a:pPr>
            <a:r>
              <a:rPr sz="2950" spc="-150" dirty="0"/>
              <a:t>AI-</a:t>
            </a:r>
            <a:r>
              <a:rPr sz="2950" spc="-70" dirty="0"/>
              <a:t>Based</a:t>
            </a:r>
            <a:r>
              <a:rPr sz="2950" spc="-165" dirty="0"/>
              <a:t> </a:t>
            </a:r>
            <a:r>
              <a:rPr sz="2950" spc="-185" dirty="0"/>
              <a:t>Smart</a:t>
            </a:r>
            <a:r>
              <a:rPr sz="2950" spc="-160" dirty="0"/>
              <a:t> </a:t>
            </a:r>
            <a:r>
              <a:rPr sz="2950" spc="-90" dirty="0"/>
              <a:t>Waste </a:t>
            </a:r>
            <a:r>
              <a:rPr sz="2950" spc="-105" dirty="0"/>
              <a:t>Management</a:t>
            </a:r>
            <a:r>
              <a:rPr sz="2950" spc="-200" dirty="0"/>
              <a:t> </a:t>
            </a:r>
            <a:r>
              <a:rPr sz="2950" spc="-10" dirty="0"/>
              <a:t>System</a:t>
            </a:r>
            <a:endParaRPr sz="2950"/>
          </a:p>
        </p:txBody>
      </p:sp>
      <p:sp>
        <p:nvSpPr>
          <p:cNvPr id="6" name="object 6"/>
          <p:cNvSpPr txBox="1"/>
          <p:nvPr/>
        </p:nvSpPr>
        <p:spPr>
          <a:xfrm>
            <a:off x="587374" y="3247231"/>
            <a:ext cx="4282440" cy="6153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BCSE316L</a:t>
            </a:r>
            <a:r>
              <a:rPr sz="1150" spc="-1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55" dirty="0">
                <a:solidFill>
                  <a:srgbClr val="545759"/>
                </a:solidFill>
                <a:latin typeface="Lucida Sans Unicode"/>
                <a:cs typeface="Lucida Sans Unicode"/>
              </a:rPr>
              <a:t>–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5" dirty="0">
                <a:solidFill>
                  <a:srgbClr val="545759"/>
                </a:solidFill>
                <a:latin typeface="Lucida Sans Unicode"/>
                <a:cs typeface="Lucida Sans Unicode"/>
              </a:rPr>
              <a:t>Design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of</a:t>
            </a:r>
            <a:r>
              <a:rPr sz="1150" spc="-10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Smart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Cities</a:t>
            </a:r>
            <a:r>
              <a:rPr sz="1150" spc="-10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35" dirty="0">
                <a:solidFill>
                  <a:srgbClr val="545759"/>
                </a:solidFill>
                <a:latin typeface="Lucida Sans Unicode"/>
                <a:cs typeface="Lucida Sans Unicode"/>
              </a:rPr>
              <a:t>|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Winter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Semester</a:t>
            </a:r>
            <a:r>
              <a:rPr sz="1150" spc="-10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2025–26</a:t>
            </a:r>
            <a:endParaRPr sz="11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spc="-60" dirty="0">
                <a:solidFill>
                  <a:srgbClr val="545759"/>
                </a:solidFill>
                <a:latin typeface="Arial Black"/>
                <a:cs typeface="Arial Black"/>
              </a:rPr>
              <a:t>Gunin</a:t>
            </a:r>
            <a:r>
              <a:rPr sz="1150" spc="-11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95" dirty="0">
                <a:solidFill>
                  <a:srgbClr val="545759"/>
                </a:solidFill>
                <a:latin typeface="Arial Black"/>
                <a:cs typeface="Arial Black"/>
              </a:rPr>
              <a:t>Bhardwaj</a:t>
            </a:r>
            <a:r>
              <a:rPr sz="1150" spc="-10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135" dirty="0">
                <a:solidFill>
                  <a:srgbClr val="545759"/>
                </a:solidFill>
                <a:latin typeface="Lucida Sans Unicode"/>
                <a:cs typeface="Lucida Sans Unicode"/>
              </a:rPr>
              <a:t>|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Registration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No: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22BCE2866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0074" y="4067174"/>
            <a:ext cx="952500" cy="285750"/>
          </a:xfrm>
          <a:custGeom>
            <a:avLst/>
            <a:gdLst/>
            <a:ahLst/>
            <a:cxnLst/>
            <a:rect l="l" t="t" r="r" b="b"/>
            <a:pathLst>
              <a:path w="952500" h="285750">
                <a:moveTo>
                  <a:pt x="868399" y="285749"/>
                </a:moveTo>
                <a:lnTo>
                  <a:pt x="84100" y="285749"/>
                </a:lnTo>
                <a:lnTo>
                  <a:pt x="78247" y="285173"/>
                </a:lnTo>
                <a:lnTo>
                  <a:pt x="35089" y="267296"/>
                </a:lnTo>
                <a:lnTo>
                  <a:pt x="9113" y="235644"/>
                </a:lnTo>
                <a:lnTo>
                  <a:pt x="0" y="201648"/>
                </a:lnTo>
                <a:lnTo>
                  <a:pt x="0" y="195738"/>
                </a:lnTo>
                <a:lnTo>
                  <a:pt x="0" y="84100"/>
                </a:lnTo>
                <a:lnTo>
                  <a:pt x="11886" y="44917"/>
                </a:lnTo>
                <a:lnTo>
                  <a:pt x="44917" y="11885"/>
                </a:lnTo>
                <a:lnTo>
                  <a:pt x="84100" y="0"/>
                </a:lnTo>
                <a:lnTo>
                  <a:pt x="868399" y="0"/>
                </a:lnTo>
                <a:lnTo>
                  <a:pt x="907581" y="11885"/>
                </a:lnTo>
                <a:lnTo>
                  <a:pt x="940613" y="44917"/>
                </a:lnTo>
                <a:lnTo>
                  <a:pt x="952499" y="84100"/>
                </a:lnTo>
                <a:lnTo>
                  <a:pt x="952499" y="201648"/>
                </a:lnTo>
                <a:lnTo>
                  <a:pt x="940613" y="240831"/>
                </a:lnTo>
                <a:lnTo>
                  <a:pt x="907581" y="273863"/>
                </a:lnTo>
                <a:lnTo>
                  <a:pt x="874252" y="285173"/>
                </a:lnTo>
                <a:lnTo>
                  <a:pt x="868399" y="285749"/>
                </a:lnTo>
                <a:close/>
              </a:path>
            </a:pathLst>
          </a:custGeom>
          <a:solidFill>
            <a:srgbClr val="FFD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33537" y="4062412"/>
            <a:ext cx="600075" cy="295275"/>
          </a:xfrm>
          <a:custGeom>
            <a:avLst/>
            <a:gdLst/>
            <a:ahLst/>
            <a:cxnLst/>
            <a:rect l="l" t="t" r="r" b="b"/>
            <a:pathLst>
              <a:path w="600075" h="295275">
                <a:moveTo>
                  <a:pt x="0" y="210026"/>
                </a:moveTo>
                <a:lnTo>
                  <a:pt x="0" y="85248"/>
                </a:lnTo>
                <a:lnTo>
                  <a:pt x="0" y="79651"/>
                </a:lnTo>
                <a:lnTo>
                  <a:pt x="546" y="74107"/>
                </a:lnTo>
                <a:lnTo>
                  <a:pt x="1638" y="68617"/>
                </a:lnTo>
                <a:lnTo>
                  <a:pt x="2729" y="63127"/>
                </a:lnTo>
                <a:lnTo>
                  <a:pt x="4347" y="57796"/>
                </a:lnTo>
                <a:lnTo>
                  <a:pt x="6489" y="52624"/>
                </a:lnTo>
                <a:lnTo>
                  <a:pt x="8631" y="47453"/>
                </a:lnTo>
                <a:lnTo>
                  <a:pt x="11257" y="42540"/>
                </a:lnTo>
                <a:lnTo>
                  <a:pt x="14367" y="37886"/>
                </a:lnTo>
                <a:lnTo>
                  <a:pt x="17476" y="33232"/>
                </a:lnTo>
                <a:lnTo>
                  <a:pt x="21010" y="28926"/>
                </a:lnTo>
                <a:lnTo>
                  <a:pt x="24968" y="24968"/>
                </a:lnTo>
                <a:lnTo>
                  <a:pt x="28926" y="21010"/>
                </a:lnTo>
                <a:lnTo>
                  <a:pt x="33232" y="17476"/>
                </a:lnTo>
                <a:lnTo>
                  <a:pt x="37887" y="14366"/>
                </a:lnTo>
                <a:lnTo>
                  <a:pt x="42541" y="11256"/>
                </a:lnTo>
                <a:lnTo>
                  <a:pt x="68617" y="1638"/>
                </a:lnTo>
                <a:lnTo>
                  <a:pt x="74107" y="545"/>
                </a:lnTo>
                <a:lnTo>
                  <a:pt x="79651" y="0"/>
                </a:lnTo>
                <a:lnTo>
                  <a:pt x="85248" y="0"/>
                </a:lnTo>
                <a:lnTo>
                  <a:pt x="514826" y="0"/>
                </a:lnTo>
                <a:lnTo>
                  <a:pt x="520423" y="0"/>
                </a:lnTo>
                <a:lnTo>
                  <a:pt x="525967" y="545"/>
                </a:lnTo>
                <a:lnTo>
                  <a:pt x="531457" y="1638"/>
                </a:lnTo>
                <a:lnTo>
                  <a:pt x="536947" y="2730"/>
                </a:lnTo>
                <a:lnTo>
                  <a:pt x="571148" y="21010"/>
                </a:lnTo>
                <a:lnTo>
                  <a:pt x="575106" y="24968"/>
                </a:lnTo>
                <a:lnTo>
                  <a:pt x="579064" y="28926"/>
                </a:lnTo>
                <a:lnTo>
                  <a:pt x="597344" y="63127"/>
                </a:lnTo>
                <a:lnTo>
                  <a:pt x="600075" y="85248"/>
                </a:lnTo>
                <a:lnTo>
                  <a:pt x="600075" y="210026"/>
                </a:lnTo>
                <a:lnTo>
                  <a:pt x="591443" y="247820"/>
                </a:lnTo>
                <a:lnTo>
                  <a:pt x="566841" y="277797"/>
                </a:lnTo>
                <a:lnTo>
                  <a:pt x="562187" y="280907"/>
                </a:lnTo>
                <a:lnTo>
                  <a:pt x="557533" y="284017"/>
                </a:lnTo>
                <a:lnTo>
                  <a:pt x="552620" y="286643"/>
                </a:lnTo>
                <a:lnTo>
                  <a:pt x="547449" y="288785"/>
                </a:lnTo>
                <a:lnTo>
                  <a:pt x="542277" y="290927"/>
                </a:lnTo>
                <a:lnTo>
                  <a:pt x="536947" y="292544"/>
                </a:lnTo>
                <a:lnTo>
                  <a:pt x="531457" y="293636"/>
                </a:lnTo>
                <a:lnTo>
                  <a:pt x="525967" y="294728"/>
                </a:lnTo>
                <a:lnTo>
                  <a:pt x="520423" y="295274"/>
                </a:lnTo>
                <a:lnTo>
                  <a:pt x="514826" y="295274"/>
                </a:lnTo>
                <a:lnTo>
                  <a:pt x="85248" y="295274"/>
                </a:lnTo>
                <a:lnTo>
                  <a:pt x="79651" y="295274"/>
                </a:lnTo>
                <a:lnTo>
                  <a:pt x="74107" y="294728"/>
                </a:lnTo>
                <a:lnTo>
                  <a:pt x="68617" y="293636"/>
                </a:lnTo>
                <a:lnTo>
                  <a:pt x="63127" y="292544"/>
                </a:lnTo>
                <a:lnTo>
                  <a:pt x="57796" y="290927"/>
                </a:lnTo>
                <a:lnTo>
                  <a:pt x="52625" y="288785"/>
                </a:lnTo>
                <a:lnTo>
                  <a:pt x="47454" y="286643"/>
                </a:lnTo>
                <a:lnTo>
                  <a:pt x="17476" y="262041"/>
                </a:lnTo>
                <a:lnTo>
                  <a:pt x="1638" y="226656"/>
                </a:lnTo>
                <a:lnTo>
                  <a:pt x="546" y="221167"/>
                </a:lnTo>
                <a:lnTo>
                  <a:pt x="0" y="215623"/>
                </a:lnTo>
                <a:lnTo>
                  <a:pt x="0" y="210026"/>
                </a:lnTo>
                <a:close/>
              </a:path>
            </a:pathLst>
          </a:custGeom>
          <a:ln w="9524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19337" y="4062412"/>
            <a:ext cx="1085850" cy="295275"/>
          </a:xfrm>
          <a:custGeom>
            <a:avLst/>
            <a:gdLst/>
            <a:ahLst/>
            <a:cxnLst/>
            <a:rect l="l" t="t" r="r" b="b"/>
            <a:pathLst>
              <a:path w="1085850" h="295275">
                <a:moveTo>
                  <a:pt x="0" y="210026"/>
                </a:moveTo>
                <a:lnTo>
                  <a:pt x="0" y="85248"/>
                </a:lnTo>
                <a:lnTo>
                  <a:pt x="0" y="79651"/>
                </a:lnTo>
                <a:lnTo>
                  <a:pt x="545" y="74107"/>
                </a:lnTo>
                <a:lnTo>
                  <a:pt x="14366" y="37886"/>
                </a:lnTo>
                <a:lnTo>
                  <a:pt x="17476" y="33232"/>
                </a:lnTo>
                <a:lnTo>
                  <a:pt x="21010" y="28926"/>
                </a:lnTo>
                <a:lnTo>
                  <a:pt x="24968" y="24968"/>
                </a:lnTo>
                <a:lnTo>
                  <a:pt x="28926" y="21010"/>
                </a:lnTo>
                <a:lnTo>
                  <a:pt x="33232" y="17476"/>
                </a:lnTo>
                <a:lnTo>
                  <a:pt x="37887" y="14366"/>
                </a:lnTo>
                <a:lnTo>
                  <a:pt x="42541" y="11256"/>
                </a:lnTo>
                <a:lnTo>
                  <a:pt x="68617" y="1638"/>
                </a:lnTo>
                <a:lnTo>
                  <a:pt x="74107" y="545"/>
                </a:lnTo>
                <a:lnTo>
                  <a:pt x="79651" y="0"/>
                </a:lnTo>
                <a:lnTo>
                  <a:pt x="85248" y="0"/>
                </a:lnTo>
                <a:lnTo>
                  <a:pt x="1000601" y="0"/>
                </a:lnTo>
                <a:lnTo>
                  <a:pt x="1006198" y="0"/>
                </a:lnTo>
                <a:lnTo>
                  <a:pt x="1011742" y="545"/>
                </a:lnTo>
                <a:lnTo>
                  <a:pt x="1017232" y="1638"/>
                </a:lnTo>
                <a:lnTo>
                  <a:pt x="1022722" y="2730"/>
                </a:lnTo>
                <a:lnTo>
                  <a:pt x="1056922" y="21010"/>
                </a:lnTo>
                <a:lnTo>
                  <a:pt x="1060880" y="24968"/>
                </a:lnTo>
                <a:lnTo>
                  <a:pt x="1064839" y="28926"/>
                </a:lnTo>
                <a:lnTo>
                  <a:pt x="1068372" y="33232"/>
                </a:lnTo>
                <a:lnTo>
                  <a:pt x="1071482" y="37886"/>
                </a:lnTo>
                <a:lnTo>
                  <a:pt x="1074592" y="42540"/>
                </a:lnTo>
                <a:lnTo>
                  <a:pt x="1077218" y="47453"/>
                </a:lnTo>
                <a:lnTo>
                  <a:pt x="1079360" y="52624"/>
                </a:lnTo>
                <a:lnTo>
                  <a:pt x="1081502" y="57796"/>
                </a:lnTo>
                <a:lnTo>
                  <a:pt x="1083119" y="63127"/>
                </a:lnTo>
                <a:lnTo>
                  <a:pt x="1084211" y="68617"/>
                </a:lnTo>
                <a:lnTo>
                  <a:pt x="1085303" y="74107"/>
                </a:lnTo>
                <a:lnTo>
                  <a:pt x="1085850" y="79651"/>
                </a:lnTo>
                <a:lnTo>
                  <a:pt x="1085850" y="85248"/>
                </a:lnTo>
                <a:lnTo>
                  <a:pt x="1085850" y="210026"/>
                </a:lnTo>
                <a:lnTo>
                  <a:pt x="1085850" y="215623"/>
                </a:lnTo>
                <a:lnTo>
                  <a:pt x="1085303" y="221167"/>
                </a:lnTo>
                <a:lnTo>
                  <a:pt x="1084211" y="226657"/>
                </a:lnTo>
                <a:lnTo>
                  <a:pt x="1083119" y="232146"/>
                </a:lnTo>
                <a:lnTo>
                  <a:pt x="1081502" y="237477"/>
                </a:lnTo>
                <a:lnTo>
                  <a:pt x="1079360" y="242648"/>
                </a:lnTo>
                <a:lnTo>
                  <a:pt x="1077218" y="247820"/>
                </a:lnTo>
                <a:lnTo>
                  <a:pt x="1074592" y="252733"/>
                </a:lnTo>
                <a:lnTo>
                  <a:pt x="1071482" y="257387"/>
                </a:lnTo>
                <a:lnTo>
                  <a:pt x="1068372" y="262041"/>
                </a:lnTo>
                <a:lnTo>
                  <a:pt x="1047962" y="280907"/>
                </a:lnTo>
                <a:lnTo>
                  <a:pt x="1043308" y="284017"/>
                </a:lnTo>
                <a:lnTo>
                  <a:pt x="1038395" y="286643"/>
                </a:lnTo>
                <a:lnTo>
                  <a:pt x="1033224" y="288785"/>
                </a:lnTo>
                <a:lnTo>
                  <a:pt x="1028052" y="290927"/>
                </a:lnTo>
                <a:lnTo>
                  <a:pt x="1022722" y="292544"/>
                </a:lnTo>
                <a:lnTo>
                  <a:pt x="1017232" y="293636"/>
                </a:lnTo>
                <a:lnTo>
                  <a:pt x="1011742" y="294728"/>
                </a:lnTo>
                <a:lnTo>
                  <a:pt x="1006198" y="295274"/>
                </a:lnTo>
                <a:lnTo>
                  <a:pt x="1000601" y="295274"/>
                </a:lnTo>
                <a:lnTo>
                  <a:pt x="85248" y="295274"/>
                </a:lnTo>
                <a:lnTo>
                  <a:pt x="79651" y="295274"/>
                </a:lnTo>
                <a:lnTo>
                  <a:pt x="74107" y="294728"/>
                </a:lnTo>
                <a:lnTo>
                  <a:pt x="68617" y="293636"/>
                </a:lnTo>
                <a:lnTo>
                  <a:pt x="63127" y="292544"/>
                </a:lnTo>
                <a:lnTo>
                  <a:pt x="57796" y="290927"/>
                </a:lnTo>
                <a:lnTo>
                  <a:pt x="52625" y="288785"/>
                </a:lnTo>
                <a:lnTo>
                  <a:pt x="47454" y="286643"/>
                </a:lnTo>
                <a:lnTo>
                  <a:pt x="17476" y="262041"/>
                </a:lnTo>
                <a:lnTo>
                  <a:pt x="1637" y="226656"/>
                </a:lnTo>
                <a:lnTo>
                  <a:pt x="0" y="215623"/>
                </a:lnTo>
                <a:lnTo>
                  <a:pt x="0" y="210026"/>
                </a:lnTo>
                <a:close/>
              </a:path>
            </a:pathLst>
          </a:custGeom>
          <a:ln w="9524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77267" y="4115434"/>
            <a:ext cx="796925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SMART</a:t>
            </a:r>
            <a:r>
              <a:rPr sz="950" spc="-10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CITIES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2515" y="4115434"/>
            <a:ext cx="440055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65" dirty="0">
                <a:solidFill>
                  <a:srgbClr val="FF6F46"/>
                </a:solidFill>
                <a:latin typeface="Lucida Sans Unicode"/>
                <a:cs typeface="Lucida Sans Unicode"/>
              </a:rPr>
              <a:t>AI</a:t>
            </a:r>
            <a:r>
              <a:rPr sz="950" spc="-105" dirty="0">
                <a:solidFill>
                  <a:srgbClr val="FF6F46"/>
                </a:solidFill>
                <a:latin typeface="Lucida Sans Unicode"/>
                <a:cs typeface="Lucida Sans Unicode"/>
              </a:rPr>
              <a:t> </a:t>
            </a:r>
            <a:r>
              <a:rPr sz="950" spc="-60" dirty="0">
                <a:solidFill>
                  <a:srgbClr val="FF6F46"/>
                </a:solidFill>
                <a:latin typeface="Lucida Sans Unicode"/>
                <a:cs typeface="Lucida Sans Unicode"/>
              </a:rPr>
              <a:t>&amp;</a:t>
            </a:r>
            <a:r>
              <a:rPr sz="950" spc="-100" dirty="0">
                <a:solidFill>
                  <a:srgbClr val="FF6F46"/>
                </a:solidFill>
                <a:latin typeface="Lucida Sans Unicode"/>
                <a:cs typeface="Lucida Sans Unicode"/>
              </a:rPr>
              <a:t> </a:t>
            </a:r>
            <a:r>
              <a:rPr sz="950" spc="-40" dirty="0">
                <a:solidFill>
                  <a:srgbClr val="FF6F46"/>
                </a:solidFill>
                <a:latin typeface="Lucida Sans Unicode"/>
                <a:cs typeface="Lucida Sans Unicode"/>
              </a:rPr>
              <a:t>IOT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00548" y="4115434"/>
            <a:ext cx="918210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30" dirty="0">
                <a:solidFill>
                  <a:srgbClr val="FF6F46"/>
                </a:solidFill>
                <a:latin typeface="Lucida Sans Unicode"/>
                <a:cs typeface="Lucida Sans Unicode"/>
              </a:rPr>
              <a:t>SUSTAINABILITY</a:t>
            </a:r>
            <a:endParaRPr sz="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1793525"/>
            <a:ext cx="535114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spc="-80" dirty="0"/>
              <a:t>Abstract</a:t>
            </a:r>
            <a:r>
              <a:rPr sz="2950" spc="-170" dirty="0"/>
              <a:t> </a:t>
            </a:r>
            <a:r>
              <a:rPr sz="2950" spc="-260" dirty="0"/>
              <a:t>&amp;</a:t>
            </a:r>
            <a:r>
              <a:rPr sz="2950" spc="-165" dirty="0"/>
              <a:t> </a:t>
            </a:r>
            <a:r>
              <a:rPr sz="2950" spc="-100" dirty="0"/>
              <a:t>Problem</a:t>
            </a:r>
            <a:r>
              <a:rPr sz="2950" spc="-165" dirty="0"/>
              <a:t> </a:t>
            </a:r>
            <a:r>
              <a:rPr sz="2950" spc="-130" dirty="0"/>
              <a:t>Statement</a:t>
            </a:r>
            <a:endParaRPr sz="2950"/>
          </a:p>
        </p:txBody>
      </p:sp>
      <p:sp>
        <p:nvSpPr>
          <p:cNvPr id="3" name="object 3"/>
          <p:cNvSpPr/>
          <p:nvPr/>
        </p:nvSpPr>
        <p:spPr>
          <a:xfrm>
            <a:off x="495299" y="2495549"/>
            <a:ext cx="5143500" cy="2133600"/>
          </a:xfrm>
          <a:custGeom>
            <a:avLst/>
            <a:gdLst/>
            <a:ahLst/>
            <a:cxnLst/>
            <a:rect l="l" t="t" r="r" b="b"/>
            <a:pathLst>
              <a:path w="5143500" h="2133600">
                <a:moveTo>
                  <a:pt x="4963476" y="2133599"/>
                </a:moveTo>
                <a:lnTo>
                  <a:pt x="180022" y="2133599"/>
                </a:lnTo>
                <a:lnTo>
                  <a:pt x="171178" y="2133383"/>
                </a:lnTo>
                <a:lnTo>
                  <a:pt x="127764" y="2125849"/>
                </a:lnTo>
                <a:lnTo>
                  <a:pt x="87480" y="2107993"/>
                </a:lnTo>
                <a:lnTo>
                  <a:pt x="52727" y="2080872"/>
                </a:lnTo>
                <a:lnTo>
                  <a:pt x="25605" y="2046118"/>
                </a:lnTo>
                <a:lnTo>
                  <a:pt x="7749" y="2005835"/>
                </a:lnTo>
                <a:lnTo>
                  <a:pt x="216" y="1962421"/>
                </a:lnTo>
                <a:lnTo>
                  <a:pt x="0" y="1953577"/>
                </a:lnTo>
                <a:lnTo>
                  <a:pt x="0" y="180022"/>
                </a:lnTo>
                <a:lnTo>
                  <a:pt x="5396" y="136269"/>
                </a:lnTo>
                <a:lnTo>
                  <a:pt x="21254" y="95159"/>
                </a:lnTo>
                <a:lnTo>
                  <a:pt x="46626" y="59133"/>
                </a:lnTo>
                <a:lnTo>
                  <a:pt x="80007" y="30338"/>
                </a:lnTo>
                <a:lnTo>
                  <a:pt x="119384" y="10518"/>
                </a:lnTo>
                <a:lnTo>
                  <a:pt x="162377" y="864"/>
                </a:lnTo>
                <a:lnTo>
                  <a:pt x="180022" y="0"/>
                </a:lnTo>
                <a:lnTo>
                  <a:pt x="4963476" y="0"/>
                </a:lnTo>
                <a:lnTo>
                  <a:pt x="5007229" y="5396"/>
                </a:lnTo>
                <a:lnTo>
                  <a:pt x="5048339" y="21254"/>
                </a:lnTo>
                <a:lnTo>
                  <a:pt x="5084365" y="46626"/>
                </a:lnTo>
                <a:lnTo>
                  <a:pt x="5113159" y="80007"/>
                </a:lnTo>
                <a:lnTo>
                  <a:pt x="5132980" y="119384"/>
                </a:lnTo>
                <a:lnTo>
                  <a:pt x="5142634" y="162376"/>
                </a:lnTo>
                <a:lnTo>
                  <a:pt x="5143499" y="180022"/>
                </a:lnTo>
                <a:lnTo>
                  <a:pt x="5143499" y="1953577"/>
                </a:lnTo>
                <a:lnTo>
                  <a:pt x="5138102" y="1997329"/>
                </a:lnTo>
                <a:lnTo>
                  <a:pt x="5122243" y="2038439"/>
                </a:lnTo>
                <a:lnTo>
                  <a:pt x="5096872" y="2074465"/>
                </a:lnTo>
                <a:lnTo>
                  <a:pt x="5063491" y="2103260"/>
                </a:lnTo>
                <a:lnTo>
                  <a:pt x="5024114" y="2123080"/>
                </a:lnTo>
                <a:lnTo>
                  <a:pt x="4981122" y="2132734"/>
                </a:lnTo>
                <a:lnTo>
                  <a:pt x="4963476" y="2133599"/>
                </a:lnTo>
                <a:close/>
              </a:path>
            </a:pathLst>
          </a:custGeom>
          <a:solidFill>
            <a:srgbClr val="E75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9493" y="2628773"/>
            <a:ext cx="4849495" cy="1100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0C0D0E"/>
                </a:solidFill>
                <a:latin typeface="Verdana"/>
                <a:cs typeface="Verdana"/>
              </a:rPr>
              <a:t>The</a:t>
            </a:r>
            <a:r>
              <a:rPr sz="1450" spc="-10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0C0D0E"/>
                </a:solidFill>
                <a:latin typeface="Verdana"/>
                <a:cs typeface="Verdana"/>
              </a:rPr>
              <a:t>Challenge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1065"/>
              </a:spcBef>
            </a:pPr>
            <a:r>
              <a:rPr sz="1150" spc="-10" dirty="0">
                <a:latin typeface="Lucida Sans Unicode"/>
                <a:cs typeface="Lucida Sans Unicode"/>
              </a:rPr>
              <a:t>As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spc="-25" dirty="0">
                <a:latin typeface="Lucida Sans Unicode"/>
                <a:cs typeface="Lucida Sans Unicode"/>
              </a:rPr>
              <a:t>urban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spc="-20" dirty="0">
                <a:latin typeface="Lucida Sans Unicode"/>
                <a:cs typeface="Lucida Sans Unicode"/>
              </a:rPr>
              <a:t>populations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spc="-55" dirty="0">
                <a:latin typeface="Lucida Sans Unicode"/>
                <a:cs typeface="Lucida Sans Unicode"/>
              </a:rPr>
              <a:t>grow,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waste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spc="-10" dirty="0">
                <a:latin typeface="Lucida Sans Unicode"/>
                <a:cs typeface="Lucida Sans Unicode"/>
              </a:rPr>
              <a:t>management</a:t>
            </a:r>
            <a:r>
              <a:rPr sz="1150" spc="-80" dirty="0">
                <a:latin typeface="Lucida Sans Unicode"/>
                <a:cs typeface="Lucida Sans Unicode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becomes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spc="-45" dirty="0">
                <a:latin typeface="Lucida Sans Unicode"/>
                <a:cs typeface="Lucida Sans Unicode"/>
              </a:rPr>
              <a:t>harder.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spc="-20" dirty="0">
                <a:latin typeface="Lucida Sans Unicode"/>
                <a:cs typeface="Lucida Sans Unicode"/>
              </a:rPr>
              <a:t>Most </a:t>
            </a:r>
            <a:r>
              <a:rPr sz="1150" dirty="0">
                <a:latin typeface="Lucida Sans Unicode"/>
                <a:cs typeface="Lucida Sans Unicode"/>
              </a:rPr>
              <a:t>cities</a:t>
            </a:r>
            <a:r>
              <a:rPr sz="1150" spc="-75" dirty="0">
                <a:latin typeface="Lucida Sans Unicode"/>
                <a:cs typeface="Lucida Sans Unicode"/>
              </a:rPr>
              <a:t> </a:t>
            </a:r>
            <a:r>
              <a:rPr sz="1150" spc="-30" dirty="0">
                <a:latin typeface="Lucida Sans Unicode"/>
                <a:cs typeface="Lucida Sans Unicode"/>
              </a:rPr>
              <a:t>still</a:t>
            </a:r>
            <a:r>
              <a:rPr sz="1150" spc="-70" dirty="0">
                <a:latin typeface="Lucida Sans Unicode"/>
                <a:cs typeface="Lucida Sans Unicode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use</a:t>
            </a:r>
            <a:r>
              <a:rPr sz="1150" spc="-70" dirty="0">
                <a:latin typeface="Lucida Sans Unicode"/>
                <a:cs typeface="Lucida Sans Unicode"/>
              </a:rPr>
              <a:t> </a:t>
            </a:r>
            <a:r>
              <a:rPr sz="1150" spc="-65" dirty="0">
                <a:latin typeface="Arial Black"/>
                <a:cs typeface="Arial Black"/>
              </a:rPr>
              <a:t>fixed</a:t>
            </a:r>
            <a:r>
              <a:rPr sz="1150" spc="-90" dirty="0">
                <a:latin typeface="Arial Black"/>
                <a:cs typeface="Arial Black"/>
              </a:rPr>
              <a:t> </a:t>
            </a:r>
            <a:r>
              <a:rPr sz="1150" spc="-60" dirty="0">
                <a:latin typeface="Arial Black"/>
                <a:cs typeface="Arial Black"/>
              </a:rPr>
              <a:t>collection</a:t>
            </a:r>
            <a:r>
              <a:rPr sz="1150" spc="-90" dirty="0">
                <a:latin typeface="Arial Black"/>
                <a:cs typeface="Arial Black"/>
              </a:rPr>
              <a:t> </a:t>
            </a:r>
            <a:r>
              <a:rPr sz="1150" spc="-60" dirty="0">
                <a:latin typeface="Arial Black"/>
                <a:cs typeface="Arial Black"/>
              </a:rPr>
              <a:t>schedules</a:t>
            </a:r>
            <a:r>
              <a:rPr sz="1150" spc="-90" dirty="0">
                <a:latin typeface="Arial Black"/>
                <a:cs typeface="Arial Black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that</a:t>
            </a:r>
            <a:r>
              <a:rPr sz="1150" spc="-70" dirty="0">
                <a:latin typeface="Lucida Sans Unicode"/>
                <a:cs typeface="Lucida Sans Unicode"/>
              </a:rPr>
              <a:t> </a:t>
            </a:r>
            <a:r>
              <a:rPr sz="1150" spc="-20" dirty="0">
                <a:latin typeface="Lucida Sans Unicode"/>
                <a:cs typeface="Lucida Sans Unicode"/>
              </a:rPr>
              <a:t>don't</a:t>
            </a:r>
            <a:r>
              <a:rPr sz="1150" spc="-70" dirty="0">
                <a:latin typeface="Lucida Sans Unicode"/>
                <a:cs typeface="Lucida Sans Unicode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reflect</a:t>
            </a:r>
            <a:r>
              <a:rPr sz="1150" spc="-70" dirty="0">
                <a:latin typeface="Lucida Sans Unicode"/>
                <a:cs typeface="Lucida Sans Unicode"/>
              </a:rPr>
              <a:t> </a:t>
            </a:r>
            <a:r>
              <a:rPr sz="1150" spc="-10" dirty="0">
                <a:latin typeface="Lucida Sans Unicode"/>
                <a:cs typeface="Lucida Sans Unicode"/>
              </a:rPr>
              <a:t>actual </a:t>
            </a:r>
            <a:r>
              <a:rPr sz="1150" dirty="0">
                <a:latin typeface="Lucida Sans Unicode"/>
                <a:cs typeface="Lucida Sans Unicode"/>
              </a:rPr>
              <a:t>need</a:t>
            </a:r>
            <a:r>
              <a:rPr sz="1150" spc="-90" dirty="0">
                <a:latin typeface="Lucida Sans Unicode"/>
                <a:cs typeface="Lucida Sans Unicode"/>
              </a:rPr>
              <a:t> </a:t>
            </a:r>
            <a:r>
              <a:rPr sz="1150" spc="-229" dirty="0">
                <a:latin typeface="Lucida Sans Unicode"/>
                <a:cs typeface="Lucida Sans Unicode"/>
              </a:rPr>
              <a:t>—</a:t>
            </a:r>
            <a:r>
              <a:rPr sz="1150" spc="-90" dirty="0">
                <a:latin typeface="Lucida Sans Unicode"/>
                <a:cs typeface="Lucida Sans Unicode"/>
              </a:rPr>
              <a:t> </a:t>
            </a:r>
            <a:r>
              <a:rPr sz="1150" spc="-20" dirty="0">
                <a:latin typeface="Lucida Sans Unicode"/>
                <a:cs typeface="Lucida Sans Unicode"/>
              </a:rPr>
              <a:t>resulting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spc="-45" dirty="0">
                <a:latin typeface="Lucida Sans Unicode"/>
                <a:cs typeface="Lucida Sans Unicode"/>
              </a:rPr>
              <a:t>in</a:t>
            </a:r>
            <a:r>
              <a:rPr sz="1150" spc="-90" dirty="0">
                <a:latin typeface="Lucida Sans Unicode"/>
                <a:cs typeface="Lucida Sans Unicode"/>
              </a:rPr>
              <a:t> </a:t>
            </a:r>
            <a:r>
              <a:rPr sz="1150" spc="-30" dirty="0">
                <a:latin typeface="Lucida Sans Unicode"/>
                <a:cs typeface="Lucida Sans Unicode"/>
              </a:rPr>
              <a:t>overflowing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spc="-25" dirty="0">
                <a:latin typeface="Lucida Sans Unicode"/>
                <a:cs typeface="Lucida Sans Unicode"/>
              </a:rPr>
              <a:t>bins</a:t>
            </a:r>
            <a:r>
              <a:rPr sz="1150" spc="-90" dirty="0">
                <a:latin typeface="Lucida Sans Unicode"/>
                <a:cs typeface="Lucida Sans Unicode"/>
              </a:rPr>
              <a:t> </a:t>
            </a:r>
            <a:r>
              <a:rPr sz="1150" spc="-20" dirty="0">
                <a:latin typeface="Lucida Sans Unicode"/>
                <a:cs typeface="Lucida Sans Unicode"/>
              </a:rPr>
              <a:t>and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wasted</a:t>
            </a:r>
            <a:r>
              <a:rPr sz="1150" spc="-90" dirty="0">
                <a:latin typeface="Lucida Sans Unicode"/>
                <a:cs typeface="Lucida Sans Unicode"/>
              </a:rPr>
              <a:t> </a:t>
            </a:r>
            <a:r>
              <a:rPr sz="1150" spc="-10" dirty="0">
                <a:latin typeface="Lucida Sans Unicode"/>
                <a:cs typeface="Lucida Sans Unicode"/>
              </a:rPr>
              <a:t>resources.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10261" y="4167187"/>
            <a:ext cx="1390650" cy="295275"/>
          </a:xfrm>
          <a:custGeom>
            <a:avLst/>
            <a:gdLst/>
            <a:ahLst/>
            <a:cxnLst/>
            <a:rect l="l" t="t" r="r" b="b"/>
            <a:pathLst>
              <a:path w="1390650" h="295275">
                <a:moveTo>
                  <a:pt x="0" y="210026"/>
                </a:moveTo>
                <a:lnTo>
                  <a:pt x="0" y="85248"/>
                </a:lnTo>
                <a:lnTo>
                  <a:pt x="0" y="79651"/>
                </a:lnTo>
                <a:lnTo>
                  <a:pt x="545" y="74107"/>
                </a:lnTo>
                <a:lnTo>
                  <a:pt x="1638" y="68617"/>
                </a:lnTo>
                <a:lnTo>
                  <a:pt x="2730" y="63126"/>
                </a:lnTo>
                <a:lnTo>
                  <a:pt x="4346" y="57796"/>
                </a:lnTo>
                <a:lnTo>
                  <a:pt x="6489" y="52624"/>
                </a:lnTo>
                <a:lnTo>
                  <a:pt x="8630" y="47453"/>
                </a:lnTo>
                <a:lnTo>
                  <a:pt x="11256" y="42540"/>
                </a:lnTo>
                <a:lnTo>
                  <a:pt x="14366" y="37886"/>
                </a:lnTo>
                <a:lnTo>
                  <a:pt x="17476" y="33232"/>
                </a:lnTo>
                <a:lnTo>
                  <a:pt x="21010" y="28926"/>
                </a:lnTo>
                <a:lnTo>
                  <a:pt x="24968" y="24968"/>
                </a:lnTo>
                <a:lnTo>
                  <a:pt x="28926" y="21010"/>
                </a:lnTo>
                <a:lnTo>
                  <a:pt x="33232" y="17476"/>
                </a:lnTo>
                <a:lnTo>
                  <a:pt x="37886" y="14366"/>
                </a:lnTo>
                <a:lnTo>
                  <a:pt x="42540" y="11256"/>
                </a:lnTo>
                <a:lnTo>
                  <a:pt x="47453" y="8630"/>
                </a:lnTo>
                <a:lnTo>
                  <a:pt x="52625" y="6488"/>
                </a:lnTo>
                <a:lnTo>
                  <a:pt x="57796" y="4346"/>
                </a:lnTo>
                <a:lnTo>
                  <a:pt x="63127" y="2729"/>
                </a:lnTo>
                <a:lnTo>
                  <a:pt x="68617" y="1638"/>
                </a:lnTo>
                <a:lnTo>
                  <a:pt x="74107" y="545"/>
                </a:lnTo>
                <a:lnTo>
                  <a:pt x="79651" y="0"/>
                </a:lnTo>
                <a:lnTo>
                  <a:pt x="85249" y="0"/>
                </a:lnTo>
                <a:lnTo>
                  <a:pt x="1305401" y="0"/>
                </a:lnTo>
                <a:lnTo>
                  <a:pt x="1310998" y="0"/>
                </a:lnTo>
                <a:lnTo>
                  <a:pt x="1316542" y="545"/>
                </a:lnTo>
                <a:lnTo>
                  <a:pt x="1322031" y="1638"/>
                </a:lnTo>
                <a:lnTo>
                  <a:pt x="1327521" y="2729"/>
                </a:lnTo>
                <a:lnTo>
                  <a:pt x="1332852" y="4346"/>
                </a:lnTo>
                <a:lnTo>
                  <a:pt x="1338023" y="6488"/>
                </a:lnTo>
                <a:lnTo>
                  <a:pt x="1343195" y="8630"/>
                </a:lnTo>
                <a:lnTo>
                  <a:pt x="1348108" y="11256"/>
                </a:lnTo>
                <a:lnTo>
                  <a:pt x="1352762" y="14366"/>
                </a:lnTo>
                <a:lnTo>
                  <a:pt x="1357416" y="17476"/>
                </a:lnTo>
                <a:lnTo>
                  <a:pt x="1361722" y="21010"/>
                </a:lnTo>
                <a:lnTo>
                  <a:pt x="1365681" y="24968"/>
                </a:lnTo>
                <a:lnTo>
                  <a:pt x="1369638" y="28926"/>
                </a:lnTo>
                <a:lnTo>
                  <a:pt x="1384160" y="52624"/>
                </a:lnTo>
                <a:lnTo>
                  <a:pt x="1386302" y="57796"/>
                </a:lnTo>
                <a:lnTo>
                  <a:pt x="1387919" y="63126"/>
                </a:lnTo>
                <a:lnTo>
                  <a:pt x="1389011" y="68617"/>
                </a:lnTo>
                <a:lnTo>
                  <a:pt x="1390104" y="74107"/>
                </a:lnTo>
                <a:lnTo>
                  <a:pt x="1390649" y="79651"/>
                </a:lnTo>
                <a:lnTo>
                  <a:pt x="1390650" y="85248"/>
                </a:lnTo>
                <a:lnTo>
                  <a:pt x="1390650" y="210026"/>
                </a:lnTo>
                <a:lnTo>
                  <a:pt x="1390649" y="215623"/>
                </a:lnTo>
                <a:lnTo>
                  <a:pt x="1390104" y="221167"/>
                </a:lnTo>
                <a:lnTo>
                  <a:pt x="1389011" y="226656"/>
                </a:lnTo>
                <a:lnTo>
                  <a:pt x="1387919" y="232146"/>
                </a:lnTo>
                <a:lnTo>
                  <a:pt x="1386301" y="237477"/>
                </a:lnTo>
                <a:lnTo>
                  <a:pt x="1384159" y="242648"/>
                </a:lnTo>
                <a:lnTo>
                  <a:pt x="1382017" y="247820"/>
                </a:lnTo>
                <a:lnTo>
                  <a:pt x="1379391" y="252733"/>
                </a:lnTo>
                <a:lnTo>
                  <a:pt x="1376282" y="257387"/>
                </a:lnTo>
                <a:lnTo>
                  <a:pt x="1373172" y="262041"/>
                </a:lnTo>
                <a:lnTo>
                  <a:pt x="1343195" y="286643"/>
                </a:lnTo>
                <a:lnTo>
                  <a:pt x="1322032" y="293636"/>
                </a:lnTo>
                <a:lnTo>
                  <a:pt x="1316542" y="294728"/>
                </a:lnTo>
                <a:lnTo>
                  <a:pt x="1310998" y="295274"/>
                </a:lnTo>
                <a:lnTo>
                  <a:pt x="1305401" y="295274"/>
                </a:lnTo>
                <a:lnTo>
                  <a:pt x="85249" y="295274"/>
                </a:lnTo>
                <a:lnTo>
                  <a:pt x="79651" y="295274"/>
                </a:lnTo>
                <a:lnTo>
                  <a:pt x="74107" y="294728"/>
                </a:lnTo>
                <a:lnTo>
                  <a:pt x="68617" y="293636"/>
                </a:lnTo>
                <a:lnTo>
                  <a:pt x="63127" y="292544"/>
                </a:lnTo>
                <a:lnTo>
                  <a:pt x="57796" y="290927"/>
                </a:lnTo>
                <a:lnTo>
                  <a:pt x="52625" y="288785"/>
                </a:lnTo>
                <a:lnTo>
                  <a:pt x="47453" y="286643"/>
                </a:lnTo>
                <a:lnTo>
                  <a:pt x="42540" y="284017"/>
                </a:lnTo>
                <a:lnTo>
                  <a:pt x="37886" y="280907"/>
                </a:lnTo>
                <a:lnTo>
                  <a:pt x="33232" y="277798"/>
                </a:lnTo>
                <a:lnTo>
                  <a:pt x="28926" y="274264"/>
                </a:lnTo>
                <a:lnTo>
                  <a:pt x="24968" y="270306"/>
                </a:lnTo>
                <a:lnTo>
                  <a:pt x="21010" y="266347"/>
                </a:lnTo>
                <a:lnTo>
                  <a:pt x="17476" y="262041"/>
                </a:lnTo>
                <a:lnTo>
                  <a:pt x="14366" y="257387"/>
                </a:lnTo>
                <a:lnTo>
                  <a:pt x="11256" y="252733"/>
                </a:lnTo>
                <a:lnTo>
                  <a:pt x="8630" y="247820"/>
                </a:lnTo>
                <a:lnTo>
                  <a:pt x="6489" y="242649"/>
                </a:lnTo>
                <a:lnTo>
                  <a:pt x="4346" y="237477"/>
                </a:lnTo>
                <a:lnTo>
                  <a:pt x="2730" y="232146"/>
                </a:lnTo>
                <a:lnTo>
                  <a:pt x="1638" y="226657"/>
                </a:lnTo>
                <a:lnTo>
                  <a:pt x="545" y="221167"/>
                </a:lnTo>
                <a:lnTo>
                  <a:pt x="0" y="215623"/>
                </a:lnTo>
                <a:lnTo>
                  <a:pt x="0" y="210026"/>
                </a:lnTo>
                <a:close/>
              </a:path>
            </a:pathLst>
          </a:custGeom>
          <a:ln w="9524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86636" y="4167187"/>
            <a:ext cx="1400175" cy="295275"/>
          </a:xfrm>
          <a:custGeom>
            <a:avLst/>
            <a:gdLst/>
            <a:ahLst/>
            <a:cxnLst/>
            <a:rect l="l" t="t" r="r" b="b"/>
            <a:pathLst>
              <a:path w="1400175" h="295275">
                <a:moveTo>
                  <a:pt x="0" y="210026"/>
                </a:moveTo>
                <a:lnTo>
                  <a:pt x="0" y="85248"/>
                </a:lnTo>
                <a:lnTo>
                  <a:pt x="0" y="79651"/>
                </a:lnTo>
                <a:lnTo>
                  <a:pt x="545" y="74107"/>
                </a:lnTo>
                <a:lnTo>
                  <a:pt x="1637" y="68617"/>
                </a:lnTo>
                <a:lnTo>
                  <a:pt x="2729" y="63126"/>
                </a:lnTo>
                <a:lnTo>
                  <a:pt x="4346" y="57796"/>
                </a:lnTo>
                <a:lnTo>
                  <a:pt x="6488" y="52624"/>
                </a:lnTo>
                <a:lnTo>
                  <a:pt x="8630" y="47453"/>
                </a:lnTo>
                <a:lnTo>
                  <a:pt x="11256" y="42540"/>
                </a:lnTo>
                <a:lnTo>
                  <a:pt x="14366" y="37886"/>
                </a:lnTo>
                <a:lnTo>
                  <a:pt x="17476" y="33232"/>
                </a:lnTo>
                <a:lnTo>
                  <a:pt x="21010" y="28926"/>
                </a:lnTo>
                <a:lnTo>
                  <a:pt x="24968" y="24968"/>
                </a:lnTo>
                <a:lnTo>
                  <a:pt x="28926" y="21010"/>
                </a:lnTo>
                <a:lnTo>
                  <a:pt x="33232" y="17476"/>
                </a:lnTo>
                <a:lnTo>
                  <a:pt x="37887" y="14366"/>
                </a:lnTo>
                <a:lnTo>
                  <a:pt x="42541" y="11256"/>
                </a:lnTo>
                <a:lnTo>
                  <a:pt x="47453" y="8630"/>
                </a:lnTo>
                <a:lnTo>
                  <a:pt x="52625" y="6488"/>
                </a:lnTo>
                <a:lnTo>
                  <a:pt x="57796" y="4346"/>
                </a:lnTo>
                <a:lnTo>
                  <a:pt x="63127" y="2729"/>
                </a:lnTo>
                <a:lnTo>
                  <a:pt x="68617" y="1638"/>
                </a:lnTo>
                <a:lnTo>
                  <a:pt x="74107" y="545"/>
                </a:lnTo>
                <a:lnTo>
                  <a:pt x="79651" y="0"/>
                </a:lnTo>
                <a:lnTo>
                  <a:pt x="85249" y="0"/>
                </a:lnTo>
                <a:lnTo>
                  <a:pt x="1314926" y="0"/>
                </a:lnTo>
                <a:lnTo>
                  <a:pt x="1320523" y="0"/>
                </a:lnTo>
                <a:lnTo>
                  <a:pt x="1326067" y="545"/>
                </a:lnTo>
                <a:lnTo>
                  <a:pt x="1331556" y="1638"/>
                </a:lnTo>
                <a:lnTo>
                  <a:pt x="1337046" y="2729"/>
                </a:lnTo>
                <a:lnTo>
                  <a:pt x="1371247" y="21010"/>
                </a:lnTo>
                <a:lnTo>
                  <a:pt x="1375205" y="24968"/>
                </a:lnTo>
                <a:lnTo>
                  <a:pt x="1379163" y="28926"/>
                </a:lnTo>
                <a:lnTo>
                  <a:pt x="1393684" y="52624"/>
                </a:lnTo>
                <a:lnTo>
                  <a:pt x="1395826" y="57796"/>
                </a:lnTo>
                <a:lnTo>
                  <a:pt x="1397444" y="63126"/>
                </a:lnTo>
                <a:lnTo>
                  <a:pt x="1398536" y="68617"/>
                </a:lnTo>
                <a:lnTo>
                  <a:pt x="1399629" y="74107"/>
                </a:lnTo>
                <a:lnTo>
                  <a:pt x="1400175" y="79651"/>
                </a:lnTo>
                <a:lnTo>
                  <a:pt x="1400175" y="85248"/>
                </a:lnTo>
                <a:lnTo>
                  <a:pt x="1400175" y="210026"/>
                </a:lnTo>
                <a:lnTo>
                  <a:pt x="1400175" y="215623"/>
                </a:lnTo>
                <a:lnTo>
                  <a:pt x="1399629" y="221167"/>
                </a:lnTo>
                <a:lnTo>
                  <a:pt x="1398537" y="226656"/>
                </a:lnTo>
                <a:lnTo>
                  <a:pt x="1397444" y="232146"/>
                </a:lnTo>
                <a:lnTo>
                  <a:pt x="1395826" y="237477"/>
                </a:lnTo>
                <a:lnTo>
                  <a:pt x="1393684" y="242648"/>
                </a:lnTo>
                <a:lnTo>
                  <a:pt x="1391542" y="247820"/>
                </a:lnTo>
                <a:lnTo>
                  <a:pt x="1388916" y="252733"/>
                </a:lnTo>
                <a:lnTo>
                  <a:pt x="1385806" y="257387"/>
                </a:lnTo>
                <a:lnTo>
                  <a:pt x="1382696" y="262041"/>
                </a:lnTo>
                <a:lnTo>
                  <a:pt x="1352720" y="286643"/>
                </a:lnTo>
                <a:lnTo>
                  <a:pt x="1347548" y="288785"/>
                </a:lnTo>
                <a:lnTo>
                  <a:pt x="1342377" y="290927"/>
                </a:lnTo>
                <a:lnTo>
                  <a:pt x="1337047" y="292544"/>
                </a:lnTo>
                <a:lnTo>
                  <a:pt x="1331557" y="293636"/>
                </a:lnTo>
                <a:lnTo>
                  <a:pt x="1326067" y="294728"/>
                </a:lnTo>
                <a:lnTo>
                  <a:pt x="1320523" y="295274"/>
                </a:lnTo>
                <a:lnTo>
                  <a:pt x="1314926" y="295274"/>
                </a:lnTo>
                <a:lnTo>
                  <a:pt x="85249" y="295274"/>
                </a:lnTo>
                <a:lnTo>
                  <a:pt x="79651" y="295274"/>
                </a:lnTo>
                <a:lnTo>
                  <a:pt x="74107" y="294728"/>
                </a:lnTo>
                <a:lnTo>
                  <a:pt x="68617" y="293636"/>
                </a:lnTo>
                <a:lnTo>
                  <a:pt x="63127" y="292544"/>
                </a:lnTo>
                <a:lnTo>
                  <a:pt x="57796" y="290927"/>
                </a:lnTo>
                <a:lnTo>
                  <a:pt x="52625" y="288785"/>
                </a:lnTo>
                <a:lnTo>
                  <a:pt x="47453" y="286643"/>
                </a:lnTo>
                <a:lnTo>
                  <a:pt x="42540" y="284017"/>
                </a:lnTo>
                <a:lnTo>
                  <a:pt x="37886" y="280907"/>
                </a:lnTo>
                <a:lnTo>
                  <a:pt x="33232" y="277798"/>
                </a:lnTo>
                <a:lnTo>
                  <a:pt x="28926" y="274264"/>
                </a:lnTo>
                <a:lnTo>
                  <a:pt x="24968" y="270306"/>
                </a:lnTo>
                <a:lnTo>
                  <a:pt x="21010" y="266347"/>
                </a:lnTo>
                <a:lnTo>
                  <a:pt x="6489" y="242649"/>
                </a:lnTo>
                <a:lnTo>
                  <a:pt x="4346" y="237477"/>
                </a:lnTo>
                <a:lnTo>
                  <a:pt x="2729" y="232146"/>
                </a:lnTo>
                <a:lnTo>
                  <a:pt x="1637" y="226657"/>
                </a:lnTo>
                <a:lnTo>
                  <a:pt x="545" y="221167"/>
                </a:lnTo>
                <a:lnTo>
                  <a:pt x="0" y="215623"/>
                </a:lnTo>
                <a:lnTo>
                  <a:pt x="0" y="210026"/>
                </a:lnTo>
                <a:close/>
              </a:path>
            </a:pathLst>
          </a:custGeom>
          <a:ln w="9524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63010" y="4167187"/>
            <a:ext cx="1238250" cy="295275"/>
          </a:xfrm>
          <a:custGeom>
            <a:avLst/>
            <a:gdLst/>
            <a:ahLst/>
            <a:cxnLst/>
            <a:rect l="l" t="t" r="r" b="b"/>
            <a:pathLst>
              <a:path w="1238250" h="295275">
                <a:moveTo>
                  <a:pt x="0" y="210026"/>
                </a:moveTo>
                <a:lnTo>
                  <a:pt x="0" y="85248"/>
                </a:lnTo>
                <a:lnTo>
                  <a:pt x="0" y="79651"/>
                </a:lnTo>
                <a:lnTo>
                  <a:pt x="545" y="74107"/>
                </a:lnTo>
                <a:lnTo>
                  <a:pt x="1637" y="68617"/>
                </a:lnTo>
                <a:lnTo>
                  <a:pt x="2730" y="63126"/>
                </a:lnTo>
                <a:lnTo>
                  <a:pt x="4346" y="57796"/>
                </a:lnTo>
                <a:lnTo>
                  <a:pt x="6489" y="52624"/>
                </a:lnTo>
                <a:lnTo>
                  <a:pt x="8630" y="47453"/>
                </a:lnTo>
                <a:lnTo>
                  <a:pt x="11256" y="42540"/>
                </a:lnTo>
                <a:lnTo>
                  <a:pt x="14366" y="37886"/>
                </a:lnTo>
                <a:lnTo>
                  <a:pt x="17476" y="33232"/>
                </a:lnTo>
                <a:lnTo>
                  <a:pt x="21010" y="28926"/>
                </a:lnTo>
                <a:lnTo>
                  <a:pt x="24968" y="24968"/>
                </a:lnTo>
                <a:lnTo>
                  <a:pt x="28926" y="21010"/>
                </a:lnTo>
                <a:lnTo>
                  <a:pt x="33232" y="17476"/>
                </a:lnTo>
                <a:lnTo>
                  <a:pt x="37887" y="14366"/>
                </a:lnTo>
                <a:lnTo>
                  <a:pt x="42541" y="11256"/>
                </a:lnTo>
                <a:lnTo>
                  <a:pt x="68617" y="1638"/>
                </a:lnTo>
                <a:lnTo>
                  <a:pt x="74107" y="545"/>
                </a:lnTo>
                <a:lnTo>
                  <a:pt x="79651" y="0"/>
                </a:lnTo>
                <a:lnTo>
                  <a:pt x="85249" y="0"/>
                </a:lnTo>
                <a:lnTo>
                  <a:pt x="1153002" y="0"/>
                </a:lnTo>
                <a:lnTo>
                  <a:pt x="1158599" y="0"/>
                </a:lnTo>
                <a:lnTo>
                  <a:pt x="1164143" y="545"/>
                </a:lnTo>
                <a:lnTo>
                  <a:pt x="1169632" y="1638"/>
                </a:lnTo>
                <a:lnTo>
                  <a:pt x="1175121" y="2729"/>
                </a:lnTo>
                <a:lnTo>
                  <a:pt x="1180452" y="4346"/>
                </a:lnTo>
                <a:lnTo>
                  <a:pt x="1185623" y="6488"/>
                </a:lnTo>
                <a:lnTo>
                  <a:pt x="1190795" y="8630"/>
                </a:lnTo>
                <a:lnTo>
                  <a:pt x="1213281" y="24968"/>
                </a:lnTo>
                <a:lnTo>
                  <a:pt x="1217240" y="28926"/>
                </a:lnTo>
                <a:lnTo>
                  <a:pt x="1220773" y="33232"/>
                </a:lnTo>
                <a:lnTo>
                  <a:pt x="1223881" y="37886"/>
                </a:lnTo>
                <a:lnTo>
                  <a:pt x="1226991" y="42540"/>
                </a:lnTo>
                <a:lnTo>
                  <a:pt x="1229618" y="47453"/>
                </a:lnTo>
                <a:lnTo>
                  <a:pt x="1231760" y="52624"/>
                </a:lnTo>
                <a:lnTo>
                  <a:pt x="1233903" y="57796"/>
                </a:lnTo>
                <a:lnTo>
                  <a:pt x="1235519" y="63126"/>
                </a:lnTo>
                <a:lnTo>
                  <a:pt x="1236611" y="68617"/>
                </a:lnTo>
                <a:lnTo>
                  <a:pt x="1237702" y="74107"/>
                </a:lnTo>
                <a:lnTo>
                  <a:pt x="1238249" y="79651"/>
                </a:lnTo>
                <a:lnTo>
                  <a:pt x="1238250" y="85248"/>
                </a:lnTo>
                <a:lnTo>
                  <a:pt x="1238250" y="210026"/>
                </a:lnTo>
                <a:lnTo>
                  <a:pt x="1238249" y="215623"/>
                </a:lnTo>
                <a:lnTo>
                  <a:pt x="1237702" y="221167"/>
                </a:lnTo>
                <a:lnTo>
                  <a:pt x="1236611" y="226656"/>
                </a:lnTo>
                <a:lnTo>
                  <a:pt x="1235519" y="232146"/>
                </a:lnTo>
                <a:lnTo>
                  <a:pt x="1233903" y="237477"/>
                </a:lnTo>
                <a:lnTo>
                  <a:pt x="1231760" y="242648"/>
                </a:lnTo>
                <a:lnTo>
                  <a:pt x="1229618" y="247820"/>
                </a:lnTo>
                <a:lnTo>
                  <a:pt x="1226993" y="252733"/>
                </a:lnTo>
                <a:lnTo>
                  <a:pt x="1223882" y="257387"/>
                </a:lnTo>
                <a:lnTo>
                  <a:pt x="1220773" y="262041"/>
                </a:lnTo>
                <a:lnTo>
                  <a:pt x="1217240" y="266347"/>
                </a:lnTo>
                <a:lnTo>
                  <a:pt x="1213281" y="270305"/>
                </a:lnTo>
                <a:lnTo>
                  <a:pt x="1209323" y="274263"/>
                </a:lnTo>
                <a:lnTo>
                  <a:pt x="1185624" y="288785"/>
                </a:lnTo>
                <a:lnTo>
                  <a:pt x="1180454" y="290927"/>
                </a:lnTo>
                <a:lnTo>
                  <a:pt x="1153002" y="295274"/>
                </a:lnTo>
                <a:lnTo>
                  <a:pt x="85249" y="295274"/>
                </a:lnTo>
                <a:lnTo>
                  <a:pt x="79651" y="295274"/>
                </a:lnTo>
                <a:lnTo>
                  <a:pt x="74107" y="294728"/>
                </a:lnTo>
                <a:lnTo>
                  <a:pt x="68617" y="293636"/>
                </a:lnTo>
                <a:lnTo>
                  <a:pt x="63127" y="292544"/>
                </a:lnTo>
                <a:lnTo>
                  <a:pt x="57796" y="290927"/>
                </a:lnTo>
                <a:lnTo>
                  <a:pt x="52625" y="288785"/>
                </a:lnTo>
                <a:lnTo>
                  <a:pt x="47453" y="286643"/>
                </a:lnTo>
                <a:lnTo>
                  <a:pt x="42540" y="284017"/>
                </a:lnTo>
                <a:lnTo>
                  <a:pt x="37886" y="280907"/>
                </a:lnTo>
                <a:lnTo>
                  <a:pt x="33232" y="277798"/>
                </a:lnTo>
                <a:lnTo>
                  <a:pt x="28926" y="274264"/>
                </a:lnTo>
                <a:lnTo>
                  <a:pt x="24968" y="270306"/>
                </a:lnTo>
                <a:lnTo>
                  <a:pt x="21010" y="266347"/>
                </a:lnTo>
                <a:lnTo>
                  <a:pt x="2729" y="232146"/>
                </a:lnTo>
                <a:lnTo>
                  <a:pt x="1637" y="226657"/>
                </a:lnTo>
                <a:lnTo>
                  <a:pt x="545" y="221167"/>
                </a:lnTo>
                <a:lnTo>
                  <a:pt x="0" y="215623"/>
                </a:lnTo>
                <a:lnTo>
                  <a:pt x="0" y="210026"/>
                </a:lnTo>
                <a:close/>
              </a:path>
            </a:pathLst>
          </a:custGeom>
          <a:ln w="9524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94734" y="2628773"/>
            <a:ext cx="4533900" cy="13385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0C0D0E"/>
                </a:solidFill>
                <a:latin typeface="Verdana"/>
                <a:cs typeface="Verdana"/>
              </a:rPr>
              <a:t>The</a:t>
            </a:r>
            <a:r>
              <a:rPr sz="1450" spc="-10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0C0D0E"/>
                </a:solidFill>
                <a:latin typeface="Verdana"/>
                <a:cs typeface="Verdana"/>
              </a:rPr>
              <a:t>Solution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1065"/>
              </a:spcBef>
            </a:pP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This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project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uses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20" dirty="0">
                <a:solidFill>
                  <a:srgbClr val="545759"/>
                </a:solidFill>
                <a:latin typeface="Arial Black"/>
                <a:cs typeface="Arial Black"/>
              </a:rPr>
              <a:t>AI</a:t>
            </a:r>
            <a:r>
              <a:rPr sz="1150" spc="-11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60" dirty="0">
                <a:solidFill>
                  <a:srgbClr val="545759"/>
                </a:solidFill>
                <a:latin typeface="Arial Black"/>
                <a:cs typeface="Arial Black"/>
              </a:rPr>
              <a:t>and</a:t>
            </a:r>
            <a:r>
              <a:rPr sz="1150" spc="-11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70" dirty="0">
                <a:solidFill>
                  <a:srgbClr val="545759"/>
                </a:solidFill>
                <a:latin typeface="Arial Black"/>
                <a:cs typeface="Arial Black"/>
              </a:rPr>
              <a:t>machine</a:t>
            </a:r>
            <a:r>
              <a:rPr sz="1150" spc="-11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60" dirty="0">
                <a:solidFill>
                  <a:srgbClr val="545759"/>
                </a:solidFill>
                <a:latin typeface="Arial Black"/>
                <a:cs typeface="Arial Black"/>
              </a:rPr>
              <a:t>learning</a:t>
            </a:r>
            <a:r>
              <a:rPr sz="1150" spc="-11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to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predict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bin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fill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rates, </a:t>
            </a:r>
            <a:r>
              <a:rPr sz="1150" spc="-15" dirty="0">
                <a:solidFill>
                  <a:srgbClr val="545759"/>
                </a:solidFill>
                <a:latin typeface="Lucida Sans Unicode"/>
                <a:cs typeface="Lucida Sans Unicode"/>
              </a:rPr>
              <a:t>optimise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collection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routes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dynamically,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and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incorporate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citizen feedback</a:t>
            </a:r>
            <a:r>
              <a:rPr sz="1150" spc="-10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for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priority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collection.</a:t>
            </a:r>
            <a:r>
              <a:rPr sz="1150" spc="-10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Tested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on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simulated</a:t>
            </a:r>
            <a:r>
              <a:rPr sz="1150" spc="-10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data,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it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demonstrates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a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clear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improvement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over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traditional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methods.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4151" y="4220209"/>
            <a:ext cx="1223010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30" dirty="0">
                <a:solidFill>
                  <a:srgbClr val="FF6F46"/>
                </a:solidFill>
                <a:latin typeface="Lucida Sans Unicode"/>
                <a:cs typeface="Lucida Sans Unicode"/>
              </a:rPr>
              <a:t>PREDICTIVE</a:t>
            </a:r>
            <a:r>
              <a:rPr sz="950" spc="-50" dirty="0">
                <a:solidFill>
                  <a:srgbClr val="FF6F46"/>
                </a:solidFill>
                <a:latin typeface="Lucida Sans Unicode"/>
                <a:cs typeface="Lucida Sans Unicode"/>
              </a:rPr>
              <a:t> </a:t>
            </a:r>
            <a:r>
              <a:rPr sz="950" spc="-30" dirty="0">
                <a:solidFill>
                  <a:srgbClr val="FF6F46"/>
                </a:solidFill>
                <a:latin typeface="Lucida Sans Unicode"/>
                <a:cs typeface="Lucida Sans Unicode"/>
              </a:rPr>
              <a:t>ANALYSIS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65615" y="4220209"/>
            <a:ext cx="1235075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30" dirty="0">
                <a:solidFill>
                  <a:srgbClr val="FF6F46"/>
                </a:solidFill>
                <a:latin typeface="Lucida Sans Unicode"/>
                <a:cs typeface="Lucida Sans Unicode"/>
              </a:rPr>
              <a:t>ROUTE</a:t>
            </a:r>
            <a:r>
              <a:rPr sz="950" spc="-70" dirty="0">
                <a:solidFill>
                  <a:srgbClr val="FF6F46"/>
                </a:solidFill>
                <a:latin typeface="Lucida Sans Unicode"/>
                <a:cs typeface="Lucida Sans Unicode"/>
              </a:rPr>
              <a:t> </a:t>
            </a:r>
            <a:r>
              <a:rPr sz="950" spc="-35" dirty="0">
                <a:solidFill>
                  <a:srgbClr val="FF6F46"/>
                </a:solidFill>
                <a:latin typeface="Lucida Sans Unicode"/>
                <a:cs typeface="Lucida Sans Unicode"/>
              </a:rPr>
              <a:t>OPTIMISATION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48985" y="4220209"/>
            <a:ext cx="1069340" cy="16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spc="-35" dirty="0">
                <a:solidFill>
                  <a:srgbClr val="FF6F46"/>
                </a:solidFill>
                <a:latin typeface="Lucida Sans Unicode"/>
                <a:cs typeface="Lucida Sans Unicode"/>
              </a:rPr>
              <a:t>CITIZEN</a:t>
            </a:r>
            <a:r>
              <a:rPr sz="950" spc="-70" dirty="0">
                <a:solidFill>
                  <a:srgbClr val="FF6F46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FF6F46"/>
                </a:solidFill>
                <a:latin typeface="Lucida Sans Unicode"/>
                <a:cs typeface="Lucida Sans Unicode"/>
              </a:rPr>
              <a:t>FEEDBACK</a:t>
            </a:r>
            <a:endParaRPr sz="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402" y="953887"/>
            <a:ext cx="69796" cy="6979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4747" y="1083483"/>
            <a:ext cx="44450" cy="44450"/>
          </a:xfrm>
          <a:custGeom>
            <a:avLst/>
            <a:gdLst/>
            <a:ahLst/>
            <a:cxnLst/>
            <a:rect l="l" t="t" r="r" b="b"/>
            <a:pathLst>
              <a:path w="44450" h="44450">
                <a:moveTo>
                  <a:pt x="24926" y="44015"/>
                </a:moveTo>
                <a:lnTo>
                  <a:pt x="19089" y="44015"/>
                </a:lnTo>
                <a:lnTo>
                  <a:pt x="16282" y="43457"/>
                </a:lnTo>
                <a:lnTo>
                  <a:pt x="0" y="24926"/>
                </a:lnTo>
                <a:lnTo>
                  <a:pt x="0" y="19089"/>
                </a:lnTo>
                <a:lnTo>
                  <a:pt x="19089" y="0"/>
                </a:lnTo>
                <a:lnTo>
                  <a:pt x="24926" y="0"/>
                </a:lnTo>
                <a:lnTo>
                  <a:pt x="44016" y="22007"/>
                </a:lnTo>
                <a:lnTo>
                  <a:pt x="44015" y="24926"/>
                </a:lnTo>
                <a:lnTo>
                  <a:pt x="24926" y="44015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177174"/>
            <a:ext cx="4286249" cy="40468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73624" y="869600"/>
            <a:ext cx="305562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spc="-130" dirty="0"/>
              <a:t>Literature</a:t>
            </a:r>
            <a:r>
              <a:rPr sz="2950" spc="-165" dirty="0"/>
              <a:t> </a:t>
            </a:r>
            <a:r>
              <a:rPr sz="2950" spc="-95" dirty="0"/>
              <a:t>Survey</a:t>
            </a:r>
            <a:endParaRPr sz="2950"/>
          </a:p>
        </p:txBody>
      </p:sp>
      <p:grpSp>
        <p:nvGrpSpPr>
          <p:cNvPr id="6" name="object 6"/>
          <p:cNvGrpSpPr/>
          <p:nvPr/>
        </p:nvGrpSpPr>
        <p:grpSpPr>
          <a:xfrm>
            <a:off x="4867274" y="1581149"/>
            <a:ext cx="5962650" cy="1381125"/>
            <a:chOff x="4867274" y="1581149"/>
            <a:chExt cx="5962650" cy="1381125"/>
          </a:xfrm>
        </p:grpSpPr>
        <p:sp>
          <p:nvSpPr>
            <p:cNvPr id="7" name="object 7"/>
            <p:cNvSpPr/>
            <p:nvPr/>
          </p:nvSpPr>
          <p:spPr>
            <a:xfrm>
              <a:off x="4886324" y="1590674"/>
              <a:ext cx="5934075" cy="1362075"/>
            </a:xfrm>
            <a:custGeom>
              <a:avLst/>
              <a:gdLst/>
              <a:ahLst/>
              <a:cxnLst/>
              <a:rect l="l" t="t" r="r" b="b"/>
              <a:pathLst>
                <a:path w="5934075" h="1362075">
                  <a:moveTo>
                    <a:pt x="5837846" y="1362074"/>
                  </a:moveTo>
                  <a:lnTo>
                    <a:pt x="71196" y="1362074"/>
                  </a:lnTo>
                  <a:lnTo>
                    <a:pt x="66240" y="1361647"/>
                  </a:lnTo>
                  <a:lnTo>
                    <a:pt x="29704" y="1348405"/>
                  </a:lnTo>
                  <a:lnTo>
                    <a:pt x="3885" y="1316870"/>
                  </a:lnTo>
                  <a:lnTo>
                    <a:pt x="0" y="1299777"/>
                  </a:lnTo>
                  <a:lnTo>
                    <a:pt x="0" y="1295399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5837846" y="0"/>
                  </a:lnTo>
                  <a:lnTo>
                    <a:pt x="5876743" y="10427"/>
                  </a:lnTo>
                  <a:lnTo>
                    <a:pt x="5908691" y="34946"/>
                  </a:lnTo>
                  <a:lnTo>
                    <a:pt x="5928820" y="69824"/>
                  </a:lnTo>
                  <a:lnTo>
                    <a:pt x="5934073" y="96226"/>
                  </a:lnTo>
                  <a:lnTo>
                    <a:pt x="5934073" y="1265847"/>
                  </a:lnTo>
                  <a:lnTo>
                    <a:pt x="5923646" y="1304745"/>
                  </a:lnTo>
                  <a:lnTo>
                    <a:pt x="5899126" y="1336691"/>
                  </a:lnTo>
                  <a:lnTo>
                    <a:pt x="5864247" y="1356823"/>
                  </a:lnTo>
                  <a:lnTo>
                    <a:pt x="5844543" y="1361415"/>
                  </a:lnTo>
                  <a:lnTo>
                    <a:pt x="5837846" y="13620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67262" y="1581149"/>
              <a:ext cx="5962650" cy="1381125"/>
            </a:xfrm>
            <a:custGeom>
              <a:avLst/>
              <a:gdLst/>
              <a:ahLst/>
              <a:cxnLst/>
              <a:rect l="l" t="t" r="r" b="b"/>
              <a:pathLst>
                <a:path w="5962650" h="1381125">
                  <a:moveTo>
                    <a:pt x="5962650" y="112522"/>
                  </a:moveTo>
                  <a:lnTo>
                    <a:pt x="5954090" y="69469"/>
                  </a:lnTo>
                  <a:lnTo>
                    <a:pt x="5943600" y="49847"/>
                  </a:lnTo>
                  <a:lnTo>
                    <a:pt x="5943600" y="112522"/>
                  </a:lnTo>
                  <a:lnTo>
                    <a:pt x="5943600" y="1268615"/>
                  </a:lnTo>
                  <a:lnTo>
                    <a:pt x="5932652" y="1312506"/>
                  </a:lnTo>
                  <a:lnTo>
                    <a:pt x="5916676" y="1334211"/>
                  </a:lnTo>
                  <a:lnTo>
                    <a:pt x="5916231" y="1334706"/>
                  </a:lnTo>
                  <a:lnTo>
                    <a:pt x="5877230" y="1358074"/>
                  </a:lnTo>
                  <a:lnTo>
                    <a:pt x="5850140" y="1362075"/>
                  </a:lnTo>
                  <a:lnTo>
                    <a:pt x="95250" y="1362075"/>
                  </a:lnTo>
                  <a:lnTo>
                    <a:pt x="87744" y="1361808"/>
                  </a:lnTo>
                  <a:lnTo>
                    <a:pt x="80391" y="1360995"/>
                  </a:lnTo>
                  <a:lnTo>
                    <a:pt x="76200" y="1360208"/>
                  </a:lnTo>
                  <a:lnTo>
                    <a:pt x="76200" y="20942"/>
                  </a:lnTo>
                  <a:lnTo>
                    <a:pt x="80391" y="20142"/>
                  </a:lnTo>
                  <a:lnTo>
                    <a:pt x="87744" y="19329"/>
                  </a:lnTo>
                  <a:lnTo>
                    <a:pt x="95250" y="19050"/>
                  </a:lnTo>
                  <a:lnTo>
                    <a:pt x="5850140" y="19050"/>
                  </a:lnTo>
                  <a:lnTo>
                    <a:pt x="5894248" y="30099"/>
                  </a:lnTo>
                  <a:lnTo>
                    <a:pt x="5927864" y="60579"/>
                  </a:lnTo>
                  <a:lnTo>
                    <a:pt x="5943155" y="103314"/>
                  </a:lnTo>
                  <a:lnTo>
                    <a:pt x="5943600" y="112522"/>
                  </a:lnTo>
                  <a:lnTo>
                    <a:pt x="5943600" y="49847"/>
                  </a:lnTo>
                  <a:lnTo>
                    <a:pt x="5937161" y="41173"/>
                  </a:lnTo>
                  <a:lnTo>
                    <a:pt x="5930150" y="33464"/>
                  </a:lnTo>
                  <a:lnTo>
                    <a:pt x="5929706" y="32956"/>
                  </a:lnTo>
                  <a:lnTo>
                    <a:pt x="5893193" y="8572"/>
                  </a:lnTo>
                  <a:lnTo>
                    <a:pt x="5850140" y="0"/>
                  </a:lnTo>
                  <a:lnTo>
                    <a:pt x="95250" y="0"/>
                  </a:lnTo>
                  <a:lnTo>
                    <a:pt x="87744" y="368"/>
                  </a:lnTo>
                  <a:lnTo>
                    <a:pt x="80391" y="1460"/>
                  </a:lnTo>
                  <a:lnTo>
                    <a:pt x="76200" y="2514"/>
                  </a:lnTo>
                  <a:lnTo>
                    <a:pt x="76200" y="0"/>
                  </a:lnTo>
                  <a:lnTo>
                    <a:pt x="71196" y="0"/>
                  </a:lnTo>
                  <a:lnTo>
                    <a:pt x="66243" y="495"/>
                  </a:lnTo>
                  <a:lnTo>
                    <a:pt x="29705" y="15633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0" y="1304925"/>
                  </a:lnTo>
                  <a:lnTo>
                    <a:pt x="0" y="1309928"/>
                  </a:lnTo>
                  <a:lnTo>
                    <a:pt x="15621" y="1351419"/>
                  </a:lnTo>
                  <a:lnTo>
                    <a:pt x="51663" y="1377251"/>
                  </a:lnTo>
                  <a:lnTo>
                    <a:pt x="71196" y="1381125"/>
                  </a:lnTo>
                  <a:lnTo>
                    <a:pt x="76200" y="1381125"/>
                  </a:lnTo>
                  <a:lnTo>
                    <a:pt x="76200" y="1378635"/>
                  </a:lnTo>
                  <a:lnTo>
                    <a:pt x="80391" y="1379677"/>
                  </a:lnTo>
                  <a:lnTo>
                    <a:pt x="87744" y="1380769"/>
                  </a:lnTo>
                  <a:lnTo>
                    <a:pt x="95250" y="1381125"/>
                  </a:lnTo>
                  <a:lnTo>
                    <a:pt x="5850140" y="1381125"/>
                  </a:lnTo>
                  <a:lnTo>
                    <a:pt x="5893193" y="1372565"/>
                  </a:lnTo>
                  <a:lnTo>
                    <a:pt x="5929706" y="1348181"/>
                  </a:lnTo>
                  <a:lnTo>
                    <a:pt x="5954090" y="1311668"/>
                  </a:lnTo>
                  <a:lnTo>
                    <a:pt x="5962650" y="1268615"/>
                  </a:lnTo>
                  <a:lnTo>
                    <a:pt x="5962650" y="112522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99843" y="1733423"/>
            <a:ext cx="5116195" cy="10337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45" dirty="0">
                <a:solidFill>
                  <a:srgbClr val="545759"/>
                </a:solidFill>
                <a:latin typeface="Verdana"/>
                <a:cs typeface="Verdana"/>
              </a:rPr>
              <a:t>Early</a:t>
            </a:r>
            <a:r>
              <a:rPr sz="1450" spc="-9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Research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Initial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studies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focused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on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65" dirty="0">
                <a:solidFill>
                  <a:srgbClr val="545759"/>
                </a:solidFill>
                <a:latin typeface="Arial Black"/>
                <a:cs typeface="Arial Black"/>
              </a:rPr>
              <a:t>sensors</a:t>
            </a:r>
            <a:r>
              <a:rPr sz="1150" spc="-10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45" dirty="0">
                <a:solidFill>
                  <a:srgbClr val="545759"/>
                </a:solidFill>
                <a:latin typeface="Arial Black"/>
                <a:cs typeface="Arial Black"/>
              </a:rPr>
              <a:t>to</a:t>
            </a:r>
            <a:r>
              <a:rPr sz="1150" spc="-10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60" dirty="0">
                <a:solidFill>
                  <a:srgbClr val="545759"/>
                </a:solidFill>
                <a:latin typeface="Arial Black"/>
                <a:cs typeface="Arial Black"/>
              </a:rPr>
              <a:t>monitor</a:t>
            </a:r>
            <a:r>
              <a:rPr sz="1150" spc="-11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50" dirty="0">
                <a:solidFill>
                  <a:srgbClr val="545759"/>
                </a:solidFill>
                <a:latin typeface="Arial Black"/>
                <a:cs typeface="Arial Black"/>
              </a:rPr>
              <a:t>bin</a:t>
            </a:r>
            <a:r>
              <a:rPr sz="1150" spc="-10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50" dirty="0">
                <a:solidFill>
                  <a:srgbClr val="545759"/>
                </a:solidFill>
                <a:latin typeface="Arial Black"/>
                <a:cs typeface="Arial Black"/>
              </a:rPr>
              <a:t>fill</a:t>
            </a:r>
            <a:r>
              <a:rPr sz="1150" spc="-10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70" dirty="0">
                <a:solidFill>
                  <a:srgbClr val="545759"/>
                </a:solidFill>
                <a:latin typeface="Arial Black"/>
                <a:cs typeface="Arial Black"/>
              </a:rPr>
              <a:t>levels</a:t>
            </a:r>
            <a:r>
              <a:rPr sz="11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,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reducing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unnecessary</a:t>
            </a:r>
            <a:r>
              <a:rPr sz="11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collection</a:t>
            </a:r>
            <a:r>
              <a:rPr sz="11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trips.</a:t>
            </a:r>
            <a:r>
              <a:rPr sz="11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Technologies</a:t>
            </a:r>
            <a:r>
              <a:rPr sz="11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like</a:t>
            </a:r>
            <a:r>
              <a:rPr sz="11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RFID</a:t>
            </a:r>
            <a:r>
              <a:rPr sz="11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and</a:t>
            </a:r>
            <a:r>
              <a:rPr sz="11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image</a:t>
            </a:r>
            <a:r>
              <a:rPr sz="11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processing </a:t>
            </a:r>
            <a:r>
              <a:rPr sz="115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improved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tracking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and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detection.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67274" y="3114674"/>
            <a:ext cx="5962650" cy="1143000"/>
            <a:chOff x="4867274" y="3114674"/>
            <a:chExt cx="5962650" cy="1143000"/>
          </a:xfrm>
        </p:grpSpPr>
        <p:sp>
          <p:nvSpPr>
            <p:cNvPr id="11" name="object 11"/>
            <p:cNvSpPr/>
            <p:nvPr/>
          </p:nvSpPr>
          <p:spPr>
            <a:xfrm>
              <a:off x="4886324" y="3124199"/>
              <a:ext cx="5934075" cy="1123950"/>
            </a:xfrm>
            <a:custGeom>
              <a:avLst/>
              <a:gdLst/>
              <a:ahLst/>
              <a:cxnLst/>
              <a:rect l="l" t="t" r="r" b="b"/>
              <a:pathLst>
                <a:path w="5934075" h="1123950">
                  <a:moveTo>
                    <a:pt x="5837846" y="1123949"/>
                  </a:moveTo>
                  <a:lnTo>
                    <a:pt x="71196" y="1123949"/>
                  </a:lnTo>
                  <a:lnTo>
                    <a:pt x="66240" y="1123522"/>
                  </a:lnTo>
                  <a:lnTo>
                    <a:pt x="29704" y="1110280"/>
                  </a:lnTo>
                  <a:lnTo>
                    <a:pt x="3885" y="1078745"/>
                  </a:lnTo>
                  <a:lnTo>
                    <a:pt x="0" y="1061652"/>
                  </a:lnTo>
                  <a:lnTo>
                    <a:pt x="0" y="1057274"/>
                  </a:lnTo>
                  <a:lnTo>
                    <a:pt x="0" y="62296"/>
                  </a:lnTo>
                  <a:lnTo>
                    <a:pt x="15621" y="25992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5837846" y="0"/>
                  </a:lnTo>
                  <a:lnTo>
                    <a:pt x="5876743" y="10427"/>
                  </a:lnTo>
                  <a:lnTo>
                    <a:pt x="5908691" y="34946"/>
                  </a:lnTo>
                  <a:lnTo>
                    <a:pt x="5928820" y="69823"/>
                  </a:lnTo>
                  <a:lnTo>
                    <a:pt x="5934073" y="96226"/>
                  </a:lnTo>
                  <a:lnTo>
                    <a:pt x="5934073" y="1027723"/>
                  </a:lnTo>
                  <a:lnTo>
                    <a:pt x="5923646" y="1066620"/>
                  </a:lnTo>
                  <a:lnTo>
                    <a:pt x="5899126" y="1098566"/>
                  </a:lnTo>
                  <a:lnTo>
                    <a:pt x="5864247" y="1118697"/>
                  </a:lnTo>
                  <a:lnTo>
                    <a:pt x="5844543" y="1123290"/>
                  </a:lnTo>
                  <a:lnTo>
                    <a:pt x="5837846" y="11239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67262" y="3114674"/>
              <a:ext cx="5962650" cy="1143000"/>
            </a:xfrm>
            <a:custGeom>
              <a:avLst/>
              <a:gdLst/>
              <a:ahLst/>
              <a:cxnLst/>
              <a:rect l="l" t="t" r="r" b="b"/>
              <a:pathLst>
                <a:path w="5962650" h="1143000">
                  <a:moveTo>
                    <a:pt x="5962650" y="112522"/>
                  </a:moveTo>
                  <a:lnTo>
                    <a:pt x="5954090" y="69456"/>
                  </a:lnTo>
                  <a:lnTo>
                    <a:pt x="5943600" y="49847"/>
                  </a:lnTo>
                  <a:lnTo>
                    <a:pt x="5943600" y="112522"/>
                  </a:lnTo>
                  <a:lnTo>
                    <a:pt x="5943600" y="1030490"/>
                  </a:lnTo>
                  <a:lnTo>
                    <a:pt x="5932652" y="1074381"/>
                  </a:lnTo>
                  <a:lnTo>
                    <a:pt x="5916676" y="1096086"/>
                  </a:lnTo>
                  <a:lnTo>
                    <a:pt x="5916231" y="1096581"/>
                  </a:lnTo>
                  <a:lnTo>
                    <a:pt x="5877230" y="1119949"/>
                  </a:lnTo>
                  <a:lnTo>
                    <a:pt x="5850140" y="1123950"/>
                  </a:lnTo>
                  <a:lnTo>
                    <a:pt x="95250" y="1123950"/>
                  </a:lnTo>
                  <a:lnTo>
                    <a:pt x="87744" y="1123683"/>
                  </a:lnTo>
                  <a:lnTo>
                    <a:pt x="80391" y="1122870"/>
                  </a:lnTo>
                  <a:lnTo>
                    <a:pt x="76200" y="1122083"/>
                  </a:lnTo>
                  <a:lnTo>
                    <a:pt x="76200" y="20942"/>
                  </a:lnTo>
                  <a:lnTo>
                    <a:pt x="80391" y="20142"/>
                  </a:lnTo>
                  <a:lnTo>
                    <a:pt x="87744" y="19329"/>
                  </a:lnTo>
                  <a:lnTo>
                    <a:pt x="95250" y="19050"/>
                  </a:lnTo>
                  <a:lnTo>
                    <a:pt x="5850140" y="19050"/>
                  </a:lnTo>
                  <a:lnTo>
                    <a:pt x="5894248" y="30099"/>
                  </a:lnTo>
                  <a:lnTo>
                    <a:pt x="5927864" y="60579"/>
                  </a:lnTo>
                  <a:lnTo>
                    <a:pt x="5943155" y="103314"/>
                  </a:lnTo>
                  <a:lnTo>
                    <a:pt x="5943600" y="112522"/>
                  </a:lnTo>
                  <a:lnTo>
                    <a:pt x="5943600" y="49847"/>
                  </a:lnTo>
                  <a:lnTo>
                    <a:pt x="5937161" y="41173"/>
                  </a:lnTo>
                  <a:lnTo>
                    <a:pt x="5930150" y="33464"/>
                  </a:lnTo>
                  <a:lnTo>
                    <a:pt x="5929706" y="32956"/>
                  </a:lnTo>
                  <a:lnTo>
                    <a:pt x="5893193" y="8572"/>
                  </a:lnTo>
                  <a:lnTo>
                    <a:pt x="5850140" y="0"/>
                  </a:lnTo>
                  <a:lnTo>
                    <a:pt x="95250" y="0"/>
                  </a:lnTo>
                  <a:lnTo>
                    <a:pt x="87744" y="368"/>
                  </a:lnTo>
                  <a:lnTo>
                    <a:pt x="80391" y="1460"/>
                  </a:lnTo>
                  <a:lnTo>
                    <a:pt x="76200" y="2514"/>
                  </a:lnTo>
                  <a:lnTo>
                    <a:pt x="76200" y="0"/>
                  </a:lnTo>
                  <a:lnTo>
                    <a:pt x="71196" y="0"/>
                  </a:lnTo>
                  <a:lnTo>
                    <a:pt x="66243" y="495"/>
                  </a:lnTo>
                  <a:lnTo>
                    <a:pt x="29705" y="15621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0" y="1066800"/>
                  </a:lnTo>
                  <a:lnTo>
                    <a:pt x="0" y="1071803"/>
                  </a:lnTo>
                  <a:lnTo>
                    <a:pt x="15621" y="1113294"/>
                  </a:lnTo>
                  <a:lnTo>
                    <a:pt x="51663" y="1139113"/>
                  </a:lnTo>
                  <a:lnTo>
                    <a:pt x="71196" y="1143000"/>
                  </a:lnTo>
                  <a:lnTo>
                    <a:pt x="76200" y="1143000"/>
                  </a:lnTo>
                  <a:lnTo>
                    <a:pt x="76200" y="1140510"/>
                  </a:lnTo>
                  <a:lnTo>
                    <a:pt x="80391" y="1141552"/>
                  </a:lnTo>
                  <a:lnTo>
                    <a:pt x="87744" y="1142644"/>
                  </a:lnTo>
                  <a:lnTo>
                    <a:pt x="95250" y="1143000"/>
                  </a:lnTo>
                  <a:lnTo>
                    <a:pt x="5850140" y="1143000"/>
                  </a:lnTo>
                  <a:lnTo>
                    <a:pt x="5893193" y="1134440"/>
                  </a:lnTo>
                  <a:lnTo>
                    <a:pt x="5929706" y="1110056"/>
                  </a:lnTo>
                  <a:lnTo>
                    <a:pt x="5954090" y="1073543"/>
                  </a:lnTo>
                  <a:lnTo>
                    <a:pt x="5962650" y="1030490"/>
                  </a:lnTo>
                  <a:lnTo>
                    <a:pt x="5962650" y="112522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099843" y="3266947"/>
            <a:ext cx="5222875" cy="7956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35" dirty="0">
                <a:solidFill>
                  <a:srgbClr val="545759"/>
                </a:solidFill>
                <a:latin typeface="Verdana"/>
                <a:cs typeface="Verdana"/>
              </a:rPr>
              <a:t>Recent</a:t>
            </a:r>
            <a:r>
              <a:rPr sz="1450" spc="-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Advances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Newer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research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applies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70" dirty="0">
                <a:solidFill>
                  <a:srgbClr val="545759"/>
                </a:solidFill>
                <a:latin typeface="Arial Black"/>
                <a:cs typeface="Arial Black"/>
              </a:rPr>
              <a:t>machine</a:t>
            </a:r>
            <a:r>
              <a:rPr sz="1150" spc="-11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60" dirty="0">
                <a:solidFill>
                  <a:srgbClr val="545759"/>
                </a:solidFill>
                <a:latin typeface="Arial Black"/>
                <a:cs typeface="Arial Black"/>
              </a:rPr>
              <a:t>learning</a:t>
            </a:r>
            <a:r>
              <a:rPr sz="1150" spc="-114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60" dirty="0">
                <a:solidFill>
                  <a:srgbClr val="545759"/>
                </a:solidFill>
                <a:latin typeface="Arial Black"/>
                <a:cs typeface="Arial Black"/>
              </a:rPr>
              <a:t>and</a:t>
            </a:r>
            <a:r>
              <a:rPr sz="1150" spc="-114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120" dirty="0">
                <a:solidFill>
                  <a:srgbClr val="545759"/>
                </a:solidFill>
                <a:latin typeface="Arial Black"/>
                <a:cs typeface="Arial Black"/>
              </a:rPr>
              <a:t>AI</a:t>
            </a:r>
            <a:r>
              <a:rPr sz="1150" spc="-11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for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smarter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prediction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and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planning.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These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systems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adapt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over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time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and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make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data-driven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decisions.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67274" y="4410074"/>
            <a:ext cx="5962650" cy="1143000"/>
            <a:chOff x="4867274" y="4410074"/>
            <a:chExt cx="5962650" cy="1143000"/>
          </a:xfrm>
        </p:grpSpPr>
        <p:sp>
          <p:nvSpPr>
            <p:cNvPr id="15" name="object 15"/>
            <p:cNvSpPr/>
            <p:nvPr/>
          </p:nvSpPr>
          <p:spPr>
            <a:xfrm>
              <a:off x="4886324" y="4419599"/>
              <a:ext cx="5934075" cy="1123950"/>
            </a:xfrm>
            <a:custGeom>
              <a:avLst/>
              <a:gdLst/>
              <a:ahLst/>
              <a:cxnLst/>
              <a:rect l="l" t="t" r="r" b="b"/>
              <a:pathLst>
                <a:path w="5934075" h="1123950">
                  <a:moveTo>
                    <a:pt x="5837846" y="1123949"/>
                  </a:moveTo>
                  <a:lnTo>
                    <a:pt x="71196" y="1123949"/>
                  </a:lnTo>
                  <a:lnTo>
                    <a:pt x="66240" y="1123522"/>
                  </a:lnTo>
                  <a:lnTo>
                    <a:pt x="29704" y="1110280"/>
                  </a:lnTo>
                  <a:lnTo>
                    <a:pt x="3885" y="1078744"/>
                  </a:lnTo>
                  <a:lnTo>
                    <a:pt x="0" y="1061652"/>
                  </a:lnTo>
                  <a:lnTo>
                    <a:pt x="0" y="1057274"/>
                  </a:lnTo>
                  <a:lnTo>
                    <a:pt x="0" y="62296"/>
                  </a:lnTo>
                  <a:lnTo>
                    <a:pt x="15621" y="25991"/>
                  </a:lnTo>
                  <a:lnTo>
                    <a:pt x="51661" y="3399"/>
                  </a:lnTo>
                  <a:lnTo>
                    <a:pt x="71196" y="0"/>
                  </a:lnTo>
                  <a:lnTo>
                    <a:pt x="5837846" y="0"/>
                  </a:lnTo>
                  <a:lnTo>
                    <a:pt x="5876743" y="10427"/>
                  </a:lnTo>
                  <a:lnTo>
                    <a:pt x="5908691" y="34945"/>
                  </a:lnTo>
                  <a:lnTo>
                    <a:pt x="5928820" y="69823"/>
                  </a:lnTo>
                  <a:lnTo>
                    <a:pt x="5934073" y="96226"/>
                  </a:lnTo>
                  <a:lnTo>
                    <a:pt x="5934073" y="1027722"/>
                  </a:lnTo>
                  <a:lnTo>
                    <a:pt x="5923646" y="1066619"/>
                  </a:lnTo>
                  <a:lnTo>
                    <a:pt x="5899126" y="1098566"/>
                  </a:lnTo>
                  <a:lnTo>
                    <a:pt x="5864247" y="1118697"/>
                  </a:lnTo>
                  <a:lnTo>
                    <a:pt x="5844543" y="1123290"/>
                  </a:lnTo>
                  <a:lnTo>
                    <a:pt x="5837846" y="11239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67262" y="4410074"/>
              <a:ext cx="5962650" cy="1143000"/>
            </a:xfrm>
            <a:custGeom>
              <a:avLst/>
              <a:gdLst/>
              <a:ahLst/>
              <a:cxnLst/>
              <a:rect l="l" t="t" r="r" b="b"/>
              <a:pathLst>
                <a:path w="5962650" h="1143000">
                  <a:moveTo>
                    <a:pt x="5962650" y="112522"/>
                  </a:moveTo>
                  <a:lnTo>
                    <a:pt x="5954090" y="69456"/>
                  </a:lnTo>
                  <a:lnTo>
                    <a:pt x="5943600" y="49847"/>
                  </a:lnTo>
                  <a:lnTo>
                    <a:pt x="5943600" y="112522"/>
                  </a:lnTo>
                  <a:lnTo>
                    <a:pt x="5943600" y="1030490"/>
                  </a:lnTo>
                  <a:lnTo>
                    <a:pt x="5932652" y="1074381"/>
                  </a:lnTo>
                  <a:lnTo>
                    <a:pt x="5916676" y="1096086"/>
                  </a:lnTo>
                  <a:lnTo>
                    <a:pt x="5916231" y="1096581"/>
                  </a:lnTo>
                  <a:lnTo>
                    <a:pt x="5877230" y="1119949"/>
                  </a:lnTo>
                  <a:lnTo>
                    <a:pt x="5850140" y="1123950"/>
                  </a:lnTo>
                  <a:lnTo>
                    <a:pt x="95250" y="1123950"/>
                  </a:lnTo>
                  <a:lnTo>
                    <a:pt x="87744" y="1123683"/>
                  </a:lnTo>
                  <a:lnTo>
                    <a:pt x="80391" y="1122870"/>
                  </a:lnTo>
                  <a:lnTo>
                    <a:pt x="76200" y="1122083"/>
                  </a:lnTo>
                  <a:lnTo>
                    <a:pt x="76200" y="20942"/>
                  </a:lnTo>
                  <a:lnTo>
                    <a:pt x="80391" y="20142"/>
                  </a:lnTo>
                  <a:lnTo>
                    <a:pt x="87744" y="19329"/>
                  </a:lnTo>
                  <a:lnTo>
                    <a:pt x="95250" y="19050"/>
                  </a:lnTo>
                  <a:lnTo>
                    <a:pt x="5850140" y="19050"/>
                  </a:lnTo>
                  <a:lnTo>
                    <a:pt x="5894248" y="30099"/>
                  </a:lnTo>
                  <a:lnTo>
                    <a:pt x="5927864" y="60579"/>
                  </a:lnTo>
                  <a:lnTo>
                    <a:pt x="5943155" y="103314"/>
                  </a:lnTo>
                  <a:lnTo>
                    <a:pt x="5943600" y="112522"/>
                  </a:lnTo>
                  <a:lnTo>
                    <a:pt x="5943600" y="49847"/>
                  </a:lnTo>
                  <a:lnTo>
                    <a:pt x="5937161" y="41173"/>
                  </a:lnTo>
                  <a:lnTo>
                    <a:pt x="5930150" y="33464"/>
                  </a:lnTo>
                  <a:lnTo>
                    <a:pt x="5929706" y="32956"/>
                  </a:lnTo>
                  <a:lnTo>
                    <a:pt x="5893193" y="8572"/>
                  </a:lnTo>
                  <a:lnTo>
                    <a:pt x="5850140" y="0"/>
                  </a:lnTo>
                  <a:lnTo>
                    <a:pt x="95250" y="0"/>
                  </a:lnTo>
                  <a:lnTo>
                    <a:pt x="87744" y="368"/>
                  </a:lnTo>
                  <a:lnTo>
                    <a:pt x="80391" y="1460"/>
                  </a:lnTo>
                  <a:lnTo>
                    <a:pt x="76200" y="2514"/>
                  </a:lnTo>
                  <a:lnTo>
                    <a:pt x="76200" y="0"/>
                  </a:lnTo>
                  <a:lnTo>
                    <a:pt x="71196" y="0"/>
                  </a:lnTo>
                  <a:lnTo>
                    <a:pt x="66243" y="495"/>
                  </a:lnTo>
                  <a:lnTo>
                    <a:pt x="29705" y="15633"/>
                  </a:lnTo>
                  <a:lnTo>
                    <a:pt x="3886" y="51663"/>
                  </a:lnTo>
                  <a:lnTo>
                    <a:pt x="0" y="71196"/>
                  </a:lnTo>
                  <a:lnTo>
                    <a:pt x="0" y="1066800"/>
                  </a:lnTo>
                  <a:lnTo>
                    <a:pt x="0" y="1071803"/>
                  </a:lnTo>
                  <a:lnTo>
                    <a:pt x="15621" y="1113294"/>
                  </a:lnTo>
                  <a:lnTo>
                    <a:pt x="51663" y="1139113"/>
                  </a:lnTo>
                  <a:lnTo>
                    <a:pt x="71196" y="1143000"/>
                  </a:lnTo>
                  <a:lnTo>
                    <a:pt x="76200" y="1143000"/>
                  </a:lnTo>
                  <a:lnTo>
                    <a:pt x="76200" y="1140510"/>
                  </a:lnTo>
                  <a:lnTo>
                    <a:pt x="80391" y="1141552"/>
                  </a:lnTo>
                  <a:lnTo>
                    <a:pt x="87744" y="1142644"/>
                  </a:lnTo>
                  <a:lnTo>
                    <a:pt x="95250" y="1143000"/>
                  </a:lnTo>
                  <a:lnTo>
                    <a:pt x="5850140" y="1143000"/>
                  </a:lnTo>
                  <a:lnTo>
                    <a:pt x="5893193" y="1134440"/>
                  </a:lnTo>
                  <a:lnTo>
                    <a:pt x="5929706" y="1110056"/>
                  </a:lnTo>
                  <a:lnTo>
                    <a:pt x="5954090" y="1073543"/>
                  </a:lnTo>
                  <a:lnTo>
                    <a:pt x="5962650" y="1030490"/>
                  </a:lnTo>
                  <a:lnTo>
                    <a:pt x="5962650" y="112522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099843" y="4552822"/>
            <a:ext cx="5370830" cy="8051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55" dirty="0">
                <a:solidFill>
                  <a:srgbClr val="545759"/>
                </a:solidFill>
                <a:latin typeface="Verdana"/>
                <a:cs typeface="Verdana"/>
              </a:rPr>
              <a:t>Key</a:t>
            </a:r>
            <a:r>
              <a:rPr sz="1450" spc="-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Consensus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615"/>
              </a:spcBef>
            </a:pP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Existing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studies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confirm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that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combining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95" dirty="0">
                <a:solidFill>
                  <a:srgbClr val="545759"/>
                </a:solidFill>
                <a:latin typeface="Arial Black"/>
                <a:cs typeface="Arial Black"/>
              </a:rPr>
              <a:t>AI, </a:t>
            </a:r>
            <a:r>
              <a:rPr sz="1150" spc="-135" dirty="0">
                <a:solidFill>
                  <a:srgbClr val="545759"/>
                </a:solidFill>
                <a:latin typeface="Arial Black"/>
                <a:cs typeface="Arial Black"/>
              </a:rPr>
              <a:t>IoT,</a:t>
            </a:r>
            <a:r>
              <a:rPr sz="1150" spc="-10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60" dirty="0">
                <a:solidFill>
                  <a:srgbClr val="545759"/>
                </a:solidFill>
                <a:latin typeface="Arial Black"/>
                <a:cs typeface="Arial Black"/>
              </a:rPr>
              <a:t>and</a:t>
            </a:r>
            <a:r>
              <a:rPr sz="1150" spc="-10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65" dirty="0">
                <a:solidFill>
                  <a:srgbClr val="545759"/>
                </a:solidFill>
                <a:latin typeface="Arial Black"/>
                <a:cs typeface="Arial Black"/>
              </a:rPr>
              <a:t>citizen</a:t>
            </a:r>
            <a:r>
              <a:rPr sz="1150" spc="-9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40" dirty="0">
                <a:solidFill>
                  <a:srgbClr val="545759"/>
                </a:solidFill>
                <a:latin typeface="Arial Black"/>
                <a:cs typeface="Arial Black"/>
              </a:rPr>
              <a:t>input</a:t>
            </a:r>
            <a:r>
              <a:rPr sz="1150" spc="-10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significantly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improves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urban</a:t>
            </a:r>
            <a:r>
              <a:rPr sz="11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waste</a:t>
            </a:r>
            <a:r>
              <a:rPr sz="11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management</a:t>
            </a:r>
            <a:r>
              <a:rPr sz="11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outcomes.</a:t>
            </a:r>
            <a:endParaRPr sz="11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1136300"/>
            <a:ext cx="324929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spc="-80" dirty="0"/>
              <a:t>Project</a:t>
            </a:r>
            <a:r>
              <a:rPr sz="2950" spc="-204" dirty="0"/>
              <a:t> </a:t>
            </a:r>
            <a:r>
              <a:rPr sz="2950" spc="-70" dirty="0"/>
              <a:t>Objectives</a:t>
            </a:r>
            <a:endParaRPr sz="2950"/>
          </a:p>
        </p:txBody>
      </p:sp>
      <p:grpSp>
        <p:nvGrpSpPr>
          <p:cNvPr id="3" name="object 3"/>
          <p:cNvGrpSpPr/>
          <p:nvPr/>
        </p:nvGrpSpPr>
        <p:grpSpPr>
          <a:xfrm>
            <a:off x="600074" y="1924049"/>
            <a:ext cx="3314700" cy="1724025"/>
            <a:chOff x="600074" y="1924049"/>
            <a:chExt cx="3314700" cy="1724025"/>
          </a:xfrm>
        </p:grpSpPr>
        <p:sp>
          <p:nvSpPr>
            <p:cNvPr id="4" name="object 4"/>
            <p:cNvSpPr/>
            <p:nvPr/>
          </p:nvSpPr>
          <p:spPr>
            <a:xfrm>
              <a:off x="604837" y="1928812"/>
              <a:ext cx="3305175" cy="1714500"/>
            </a:xfrm>
            <a:custGeom>
              <a:avLst/>
              <a:gdLst/>
              <a:ahLst/>
              <a:cxnLst/>
              <a:rect l="l" t="t" r="r" b="b"/>
              <a:pathLst>
                <a:path w="3305175" h="1714500">
                  <a:moveTo>
                    <a:pt x="3204498" y="1714499"/>
                  </a:moveTo>
                  <a:lnTo>
                    <a:pt x="100676" y="1714499"/>
                  </a:lnTo>
                  <a:lnTo>
                    <a:pt x="93669" y="1713809"/>
                  </a:lnTo>
                  <a:lnTo>
                    <a:pt x="53770" y="1700271"/>
                  </a:lnTo>
                  <a:lnTo>
                    <a:pt x="22090" y="1672494"/>
                  </a:lnTo>
                  <a:lnTo>
                    <a:pt x="3450" y="1634708"/>
                  </a:lnTo>
                  <a:lnTo>
                    <a:pt x="0" y="1613823"/>
                  </a:lnTo>
                  <a:lnTo>
                    <a:pt x="0" y="1606748"/>
                  </a:lnTo>
                  <a:lnTo>
                    <a:pt x="0" y="100676"/>
                  </a:lnTo>
                  <a:lnTo>
                    <a:pt x="10909" y="59980"/>
                  </a:lnTo>
                  <a:lnTo>
                    <a:pt x="36562" y="26556"/>
                  </a:lnTo>
                  <a:lnTo>
                    <a:pt x="73053" y="5494"/>
                  </a:lnTo>
                  <a:lnTo>
                    <a:pt x="100676" y="0"/>
                  </a:lnTo>
                  <a:lnTo>
                    <a:pt x="3204498" y="0"/>
                  </a:lnTo>
                  <a:lnTo>
                    <a:pt x="3245193" y="10909"/>
                  </a:lnTo>
                  <a:lnTo>
                    <a:pt x="3278617" y="36562"/>
                  </a:lnTo>
                  <a:lnTo>
                    <a:pt x="3299679" y="73052"/>
                  </a:lnTo>
                  <a:lnTo>
                    <a:pt x="3305174" y="100676"/>
                  </a:lnTo>
                  <a:lnTo>
                    <a:pt x="3305174" y="1613823"/>
                  </a:lnTo>
                  <a:lnTo>
                    <a:pt x="3294264" y="1654519"/>
                  </a:lnTo>
                  <a:lnTo>
                    <a:pt x="3268611" y="1687942"/>
                  </a:lnTo>
                  <a:lnTo>
                    <a:pt x="3232121" y="1709005"/>
                  </a:lnTo>
                  <a:lnTo>
                    <a:pt x="3211504" y="1713809"/>
                  </a:lnTo>
                  <a:lnTo>
                    <a:pt x="3204498" y="1714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4837" y="1928812"/>
              <a:ext cx="3305175" cy="1714500"/>
            </a:xfrm>
            <a:custGeom>
              <a:avLst/>
              <a:gdLst/>
              <a:ahLst/>
              <a:cxnLst/>
              <a:rect l="l" t="t" r="r" b="b"/>
              <a:pathLst>
                <a:path w="3305175" h="1714500">
                  <a:moveTo>
                    <a:pt x="0" y="1606748"/>
                  </a:moveTo>
                  <a:lnTo>
                    <a:pt x="0" y="107751"/>
                  </a:lnTo>
                  <a:lnTo>
                    <a:pt x="0" y="100676"/>
                  </a:lnTo>
                  <a:lnTo>
                    <a:pt x="690" y="93669"/>
                  </a:lnTo>
                  <a:lnTo>
                    <a:pt x="2070" y="86730"/>
                  </a:lnTo>
                  <a:lnTo>
                    <a:pt x="3450" y="79790"/>
                  </a:lnTo>
                  <a:lnTo>
                    <a:pt x="5494" y="73052"/>
                  </a:lnTo>
                  <a:lnTo>
                    <a:pt x="8202" y="66516"/>
                  </a:lnTo>
                  <a:lnTo>
                    <a:pt x="10909" y="59980"/>
                  </a:lnTo>
                  <a:lnTo>
                    <a:pt x="31559" y="31559"/>
                  </a:lnTo>
                  <a:lnTo>
                    <a:pt x="36562" y="26556"/>
                  </a:lnTo>
                  <a:lnTo>
                    <a:pt x="42005" y="22089"/>
                  </a:lnTo>
                  <a:lnTo>
                    <a:pt x="47887" y="18159"/>
                  </a:lnTo>
                  <a:lnTo>
                    <a:pt x="53770" y="14228"/>
                  </a:lnTo>
                  <a:lnTo>
                    <a:pt x="93669" y="690"/>
                  </a:lnTo>
                  <a:lnTo>
                    <a:pt x="100676" y="0"/>
                  </a:lnTo>
                  <a:lnTo>
                    <a:pt x="107751" y="0"/>
                  </a:lnTo>
                  <a:lnTo>
                    <a:pt x="3197423" y="0"/>
                  </a:lnTo>
                  <a:lnTo>
                    <a:pt x="3204498" y="0"/>
                  </a:lnTo>
                  <a:lnTo>
                    <a:pt x="3211504" y="690"/>
                  </a:lnTo>
                  <a:lnTo>
                    <a:pt x="3251403" y="14228"/>
                  </a:lnTo>
                  <a:lnTo>
                    <a:pt x="3273614" y="31559"/>
                  </a:lnTo>
                  <a:lnTo>
                    <a:pt x="3278617" y="36562"/>
                  </a:lnTo>
                  <a:lnTo>
                    <a:pt x="3283084" y="42005"/>
                  </a:lnTo>
                  <a:lnTo>
                    <a:pt x="3287014" y="47887"/>
                  </a:lnTo>
                  <a:lnTo>
                    <a:pt x="3290945" y="53770"/>
                  </a:lnTo>
                  <a:lnTo>
                    <a:pt x="3294264" y="59980"/>
                  </a:lnTo>
                  <a:lnTo>
                    <a:pt x="3296972" y="66516"/>
                  </a:lnTo>
                  <a:lnTo>
                    <a:pt x="3299679" y="73052"/>
                  </a:lnTo>
                  <a:lnTo>
                    <a:pt x="3305174" y="107751"/>
                  </a:lnTo>
                  <a:lnTo>
                    <a:pt x="3305174" y="1606748"/>
                  </a:lnTo>
                  <a:lnTo>
                    <a:pt x="3305174" y="1613823"/>
                  </a:lnTo>
                  <a:lnTo>
                    <a:pt x="3304484" y="1620830"/>
                  </a:lnTo>
                  <a:lnTo>
                    <a:pt x="3303103" y="1627769"/>
                  </a:lnTo>
                  <a:lnTo>
                    <a:pt x="3301723" y="1634708"/>
                  </a:lnTo>
                  <a:lnTo>
                    <a:pt x="3299680" y="1641446"/>
                  </a:lnTo>
                  <a:lnTo>
                    <a:pt x="3296972" y="1647982"/>
                  </a:lnTo>
                  <a:lnTo>
                    <a:pt x="3294264" y="1654519"/>
                  </a:lnTo>
                  <a:lnTo>
                    <a:pt x="3268611" y="1687942"/>
                  </a:lnTo>
                  <a:lnTo>
                    <a:pt x="3232121" y="1709005"/>
                  </a:lnTo>
                  <a:lnTo>
                    <a:pt x="3218444" y="1712429"/>
                  </a:lnTo>
                  <a:lnTo>
                    <a:pt x="3211504" y="1713809"/>
                  </a:lnTo>
                  <a:lnTo>
                    <a:pt x="3204498" y="1714499"/>
                  </a:lnTo>
                  <a:lnTo>
                    <a:pt x="3197423" y="1714499"/>
                  </a:lnTo>
                  <a:lnTo>
                    <a:pt x="107751" y="1714499"/>
                  </a:lnTo>
                  <a:lnTo>
                    <a:pt x="100676" y="1714499"/>
                  </a:lnTo>
                  <a:lnTo>
                    <a:pt x="93669" y="1713809"/>
                  </a:lnTo>
                  <a:lnTo>
                    <a:pt x="86730" y="1712429"/>
                  </a:lnTo>
                  <a:lnTo>
                    <a:pt x="79791" y="1711048"/>
                  </a:lnTo>
                  <a:lnTo>
                    <a:pt x="73053" y="1709004"/>
                  </a:lnTo>
                  <a:lnTo>
                    <a:pt x="66516" y="1706297"/>
                  </a:lnTo>
                  <a:lnTo>
                    <a:pt x="59980" y="1703590"/>
                  </a:lnTo>
                  <a:lnTo>
                    <a:pt x="26556" y="1677937"/>
                  </a:lnTo>
                  <a:lnTo>
                    <a:pt x="8202" y="1647982"/>
                  </a:lnTo>
                  <a:lnTo>
                    <a:pt x="5494" y="1641446"/>
                  </a:lnTo>
                  <a:lnTo>
                    <a:pt x="3450" y="1634708"/>
                  </a:lnTo>
                  <a:lnTo>
                    <a:pt x="2070" y="1627769"/>
                  </a:lnTo>
                  <a:lnTo>
                    <a:pt x="690" y="1620830"/>
                  </a:lnTo>
                  <a:lnTo>
                    <a:pt x="0" y="1613823"/>
                  </a:lnTo>
                  <a:lnTo>
                    <a:pt x="0" y="1606748"/>
                  </a:lnTo>
                  <a:close/>
                </a:path>
              </a:pathLst>
            </a:custGeom>
            <a:ln w="9524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2000" y="2085974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8" y="447674"/>
                  </a:moveTo>
                  <a:lnTo>
                    <a:pt x="216506" y="447674"/>
                  </a:lnTo>
                  <a:lnTo>
                    <a:pt x="209193" y="447315"/>
                  </a:lnTo>
                  <a:lnTo>
                    <a:pt x="165876" y="440164"/>
                  </a:lnTo>
                  <a:lnTo>
                    <a:pt x="124786" y="424700"/>
                  </a:lnTo>
                  <a:lnTo>
                    <a:pt x="87503" y="401516"/>
                  </a:lnTo>
                  <a:lnTo>
                    <a:pt x="55459" y="371505"/>
                  </a:lnTo>
                  <a:lnTo>
                    <a:pt x="29886" y="335818"/>
                  </a:lnTo>
                  <a:lnTo>
                    <a:pt x="11766" y="295829"/>
                  </a:lnTo>
                  <a:lnTo>
                    <a:pt x="1796" y="253073"/>
                  </a:lnTo>
                  <a:lnTo>
                    <a:pt x="0" y="231168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3" y="131405"/>
                  </a:lnTo>
                  <a:lnTo>
                    <a:pt x="41796" y="93384"/>
                  </a:lnTo>
                  <a:lnTo>
                    <a:pt x="70744" y="60376"/>
                  </a:lnTo>
                  <a:lnTo>
                    <a:pt x="105575" y="33650"/>
                  </a:lnTo>
                  <a:lnTo>
                    <a:pt x="144951" y="14233"/>
                  </a:lnTo>
                  <a:lnTo>
                    <a:pt x="187358" y="2870"/>
                  </a:lnTo>
                  <a:lnTo>
                    <a:pt x="216506" y="0"/>
                  </a:lnTo>
                  <a:lnTo>
                    <a:pt x="231168" y="0"/>
                  </a:lnTo>
                  <a:lnTo>
                    <a:pt x="274695" y="5731"/>
                  </a:lnTo>
                  <a:lnTo>
                    <a:pt x="316269" y="19844"/>
                  </a:lnTo>
                  <a:lnTo>
                    <a:pt x="354290" y="41796"/>
                  </a:lnTo>
                  <a:lnTo>
                    <a:pt x="387298" y="70744"/>
                  </a:lnTo>
                  <a:lnTo>
                    <a:pt x="414024" y="105575"/>
                  </a:lnTo>
                  <a:lnTo>
                    <a:pt x="433441" y="144951"/>
                  </a:lnTo>
                  <a:lnTo>
                    <a:pt x="444804" y="187359"/>
                  </a:lnTo>
                  <a:lnTo>
                    <a:pt x="447674" y="216506"/>
                  </a:lnTo>
                  <a:lnTo>
                    <a:pt x="447674" y="223837"/>
                  </a:lnTo>
                  <a:lnTo>
                    <a:pt x="447674" y="231168"/>
                  </a:lnTo>
                  <a:lnTo>
                    <a:pt x="441943" y="274695"/>
                  </a:lnTo>
                  <a:lnTo>
                    <a:pt x="427830" y="316268"/>
                  </a:lnTo>
                  <a:lnTo>
                    <a:pt x="405878" y="354290"/>
                  </a:lnTo>
                  <a:lnTo>
                    <a:pt x="376930" y="387298"/>
                  </a:lnTo>
                  <a:lnTo>
                    <a:pt x="342099" y="414024"/>
                  </a:lnTo>
                  <a:lnTo>
                    <a:pt x="302723" y="433441"/>
                  </a:lnTo>
                  <a:lnTo>
                    <a:pt x="260315" y="444803"/>
                  </a:lnTo>
                  <a:lnTo>
                    <a:pt x="238481" y="447315"/>
                  </a:lnTo>
                  <a:lnTo>
                    <a:pt x="231168" y="447674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1301" y="2213576"/>
              <a:ext cx="206930" cy="19937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6918" y="2666873"/>
            <a:ext cx="2781935" cy="7956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545759"/>
                </a:solidFill>
                <a:latin typeface="Verdana"/>
                <a:cs typeface="Verdana"/>
              </a:rPr>
              <a:t>Predict</a:t>
            </a:r>
            <a:r>
              <a:rPr sz="1450" spc="-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30" dirty="0">
                <a:solidFill>
                  <a:srgbClr val="545759"/>
                </a:solidFill>
                <a:latin typeface="Verdana"/>
                <a:cs typeface="Verdana"/>
              </a:rPr>
              <a:t>Fill</a:t>
            </a:r>
            <a:r>
              <a:rPr sz="1450" spc="-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Levels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Estimate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how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full</a:t>
            </a:r>
            <a:r>
              <a:rPr sz="11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each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waste</a:t>
            </a:r>
            <a:r>
              <a:rPr sz="11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bin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50" dirty="0">
                <a:solidFill>
                  <a:srgbClr val="545759"/>
                </a:solidFill>
                <a:latin typeface="Lucida Sans Unicode"/>
                <a:cs typeface="Lucida Sans Unicode"/>
              </a:rPr>
              <a:t>will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get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before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overflow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occurs.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57649" y="1924049"/>
            <a:ext cx="3314700" cy="1724025"/>
            <a:chOff x="4057649" y="1924049"/>
            <a:chExt cx="3314700" cy="1724025"/>
          </a:xfrm>
        </p:grpSpPr>
        <p:sp>
          <p:nvSpPr>
            <p:cNvPr id="10" name="object 10"/>
            <p:cNvSpPr/>
            <p:nvPr/>
          </p:nvSpPr>
          <p:spPr>
            <a:xfrm>
              <a:off x="4062412" y="1928812"/>
              <a:ext cx="3305175" cy="1714500"/>
            </a:xfrm>
            <a:custGeom>
              <a:avLst/>
              <a:gdLst/>
              <a:ahLst/>
              <a:cxnLst/>
              <a:rect l="l" t="t" r="r" b="b"/>
              <a:pathLst>
                <a:path w="3305175" h="1714500">
                  <a:moveTo>
                    <a:pt x="3204498" y="1714499"/>
                  </a:moveTo>
                  <a:lnTo>
                    <a:pt x="100676" y="1714499"/>
                  </a:lnTo>
                  <a:lnTo>
                    <a:pt x="93668" y="1713809"/>
                  </a:lnTo>
                  <a:lnTo>
                    <a:pt x="53770" y="1700271"/>
                  </a:lnTo>
                  <a:lnTo>
                    <a:pt x="22089" y="1672494"/>
                  </a:lnTo>
                  <a:lnTo>
                    <a:pt x="3450" y="1634708"/>
                  </a:lnTo>
                  <a:lnTo>
                    <a:pt x="0" y="1613823"/>
                  </a:lnTo>
                  <a:lnTo>
                    <a:pt x="0" y="1606748"/>
                  </a:lnTo>
                  <a:lnTo>
                    <a:pt x="0" y="100676"/>
                  </a:lnTo>
                  <a:lnTo>
                    <a:pt x="10908" y="59980"/>
                  </a:lnTo>
                  <a:lnTo>
                    <a:pt x="36562" y="26556"/>
                  </a:lnTo>
                  <a:lnTo>
                    <a:pt x="73052" y="5494"/>
                  </a:lnTo>
                  <a:lnTo>
                    <a:pt x="100676" y="0"/>
                  </a:lnTo>
                  <a:lnTo>
                    <a:pt x="3204498" y="0"/>
                  </a:lnTo>
                  <a:lnTo>
                    <a:pt x="3245192" y="10909"/>
                  </a:lnTo>
                  <a:lnTo>
                    <a:pt x="3278617" y="36562"/>
                  </a:lnTo>
                  <a:lnTo>
                    <a:pt x="3299679" y="73052"/>
                  </a:lnTo>
                  <a:lnTo>
                    <a:pt x="3305174" y="100676"/>
                  </a:lnTo>
                  <a:lnTo>
                    <a:pt x="3305174" y="1613823"/>
                  </a:lnTo>
                  <a:lnTo>
                    <a:pt x="3294263" y="1654519"/>
                  </a:lnTo>
                  <a:lnTo>
                    <a:pt x="3268611" y="1687942"/>
                  </a:lnTo>
                  <a:lnTo>
                    <a:pt x="3232120" y="1709005"/>
                  </a:lnTo>
                  <a:lnTo>
                    <a:pt x="3211505" y="1713809"/>
                  </a:lnTo>
                  <a:lnTo>
                    <a:pt x="3204498" y="1714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62412" y="1928812"/>
              <a:ext cx="3305175" cy="1714500"/>
            </a:xfrm>
            <a:custGeom>
              <a:avLst/>
              <a:gdLst/>
              <a:ahLst/>
              <a:cxnLst/>
              <a:rect l="l" t="t" r="r" b="b"/>
              <a:pathLst>
                <a:path w="3305175" h="1714500">
                  <a:moveTo>
                    <a:pt x="0" y="1606748"/>
                  </a:moveTo>
                  <a:lnTo>
                    <a:pt x="0" y="107751"/>
                  </a:lnTo>
                  <a:lnTo>
                    <a:pt x="0" y="100676"/>
                  </a:lnTo>
                  <a:lnTo>
                    <a:pt x="690" y="93669"/>
                  </a:lnTo>
                  <a:lnTo>
                    <a:pt x="2070" y="86730"/>
                  </a:lnTo>
                  <a:lnTo>
                    <a:pt x="3450" y="79790"/>
                  </a:lnTo>
                  <a:lnTo>
                    <a:pt x="5494" y="73052"/>
                  </a:lnTo>
                  <a:lnTo>
                    <a:pt x="8201" y="66516"/>
                  </a:lnTo>
                  <a:lnTo>
                    <a:pt x="10908" y="59980"/>
                  </a:lnTo>
                  <a:lnTo>
                    <a:pt x="14227" y="53770"/>
                  </a:lnTo>
                  <a:lnTo>
                    <a:pt x="42004" y="22089"/>
                  </a:lnTo>
                  <a:lnTo>
                    <a:pt x="47887" y="18159"/>
                  </a:lnTo>
                  <a:lnTo>
                    <a:pt x="53769" y="14228"/>
                  </a:lnTo>
                  <a:lnTo>
                    <a:pt x="93668" y="690"/>
                  </a:lnTo>
                  <a:lnTo>
                    <a:pt x="100676" y="0"/>
                  </a:lnTo>
                  <a:lnTo>
                    <a:pt x="107751" y="0"/>
                  </a:lnTo>
                  <a:lnTo>
                    <a:pt x="3197423" y="0"/>
                  </a:lnTo>
                  <a:lnTo>
                    <a:pt x="3204498" y="0"/>
                  </a:lnTo>
                  <a:lnTo>
                    <a:pt x="3211505" y="690"/>
                  </a:lnTo>
                  <a:lnTo>
                    <a:pt x="3251403" y="14228"/>
                  </a:lnTo>
                  <a:lnTo>
                    <a:pt x="3257285" y="18159"/>
                  </a:lnTo>
                  <a:lnTo>
                    <a:pt x="3263168" y="22089"/>
                  </a:lnTo>
                  <a:lnTo>
                    <a:pt x="3287014" y="47887"/>
                  </a:lnTo>
                  <a:lnTo>
                    <a:pt x="3290944" y="53770"/>
                  </a:lnTo>
                  <a:lnTo>
                    <a:pt x="3304484" y="93669"/>
                  </a:lnTo>
                  <a:lnTo>
                    <a:pt x="3305174" y="100676"/>
                  </a:lnTo>
                  <a:lnTo>
                    <a:pt x="3305174" y="107751"/>
                  </a:lnTo>
                  <a:lnTo>
                    <a:pt x="3305174" y="1606748"/>
                  </a:lnTo>
                  <a:lnTo>
                    <a:pt x="3305174" y="1613823"/>
                  </a:lnTo>
                  <a:lnTo>
                    <a:pt x="3304484" y="1620830"/>
                  </a:lnTo>
                  <a:lnTo>
                    <a:pt x="3290944" y="1660729"/>
                  </a:lnTo>
                  <a:lnTo>
                    <a:pt x="3287014" y="1666611"/>
                  </a:lnTo>
                  <a:lnTo>
                    <a:pt x="3283083" y="1672494"/>
                  </a:lnTo>
                  <a:lnTo>
                    <a:pt x="3251403" y="1700271"/>
                  </a:lnTo>
                  <a:lnTo>
                    <a:pt x="3218443" y="1712429"/>
                  </a:lnTo>
                  <a:lnTo>
                    <a:pt x="3211505" y="1713809"/>
                  </a:lnTo>
                  <a:lnTo>
                    <a:pt x="3204498" y="1714499"/>
                  </a:lnTo>
                  <a:lnTo>
                    <a:pt x="3197423" y="1714499"/>
                  </a:lnTo>
                  <a:lnTo>
                    <a:pt x="107751" y="1714499"/>
                  </a:lnTo>
                  <a:lnTo>
                    <a:pt x="100676" y="1714499"/>
                  </a:lnTo>
                  <a:lnTo>
                    <a:pt x="93668" y="1713809"/>
                  </a:lnTo>
                  <a:lnTo>
                    <a:pt x="86729" y="1712429"/>
                  </a:lnTo>
                  <a:lnTo>
                    <a:pt x="79790" y="1711048"/>
                  </a:lnTo>
                  <a:lnTo>
                    <a:pt x="73052" y="1709004"/>
                  </a:lnTo>
                  <a:lnTo>
                    <a:pt x="66516" y="1706297"/>
                  </a:lnTo>
                  <a:lnTo>
                    <a:pt x="59979" y="1703590"/>
                  </a:lnTo>
                  <a:lnTo>
                    <a:pt x="53770" y="1700271"/>
                  </a:lnTo>
                  <a:lnTo>
                    <a:pt x="47887" y="1696340"/>
                  </a:lnTo>
                  <a:lnTo>
                    <a:pt x="42004" y="1692409"/>
                  </a:lnTo>
                  <a:lnTo>
                    <a:pt x="14227" y="1660729"/>
                  </a:lnTo>
                  <a:lnTo>
                    <a:pt x="8201" y="1647982"/>
                  </a:lnTo>
                  <a:lnTo>
                    <a:pt x="5494" y="1641446"/>
                  </a:lnTo>
                  <a:lnTo>
                    <a:pt x="3450" y="1634708"/>
                  </a:lnTo>
                  <a:lnTo>
                    <a:pt x="2069" y="1627769"/>
                  </a:lnTo>
                  <a:lnTo>
                    <a:pt x="690" y="1620830"/>
                  </a:lnTo>
                  <a:lnTo>
                    <a:pt x="0" y="1613823"/>
                  </a:lnTo>
                  <a:lnTo>
                    <a:pt x="0" y="1606748"/>
                  </a:lnTo>
                  <a:close/>
                </a:path>
              </a:pathLst>
            </a:custGeom>
            <a:ln w="9524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19574" y="2085974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8" y="447674"/>
                  </a:moveTo>
                  <a:lnTo>
                    <a:pt x="216506" y="447674"/>
                  </a:lnTo>
                  <a:lnTo>
                    <a:pt x="209192" y="447315"/>
                  </a:lnTo>
                  <a:lnTo>
                    <a:pt x="165875" y="440164"/>
                  </a:lnTo>
                  <a:lnTo>
                    <a:pt x="124785" y="424700"/>
                  </a:lnTo>
                  <a:lnTo>
                    <a:pt x="87502" y="401516"/>
                  </a:lnTo>
                  <a:lnTo>
                    <a:pt x="55459" y="371505"/>
                  </a:lnTo>
                  <a:lnTo>
                    <a:pt x="29885" y="335818"/>
                  </a:lnTo>
                  <a:lnTo>
                    <a:pt x="11766" y="295829"/>
                  </a:lnTo>
                  <a:lnTo>
                    <a:pt x="1796" y="253073"/>
                  </a:lnTo>
                  <a:lnTo>
                    <a:pt x="0" y="231168"/>
                  </a:lnTo>
                  <a:lnTo>
                    <a:pt x="0" y="216506"/>
                  </a:lnTo>
                  <a:lnTo>
                    <a:pt x="5730" y="172978"/>
                  </a:lnTo>
                  <a:lnTo>
                    <a:pt x="19843" y="131405"/>
                  </a:lnTo>
                  <a:lnTo>
                    <a:pt x="41795" y="93384"/>
                  </a:lnTo>
                  <a:lnTo>
                    <a:pt x="70743" y="60376"/>
                  </a:lnTo>
                  <a:lnTo>
                    <a:pt x="105574" y="33650"/>
                  </a:lnTo>
                  <a:lnTo>
                    <a:pt x="144951" y="14233"/>
                  </a:lnTo>
                  <a:lnTo>
                    <a:pt x="187358" y="2870"/>
                  </a:lnTo>
                  <a:lnTo>
                    <a:pt x="216506" y="0"/>
                  </a:lnTo>
                  <a:lnTo>
                    <a:pt x="231168" y="0"/>
                  </a:lnTo>
                  <a:lnTo>
                    <a:pt x="274695" y="5731"/>
                  </a:lnTo>
                  <a:lnTo>
                    <a:pt x="316268" y="19844"/>
                  </a:lnTo>
                  <a:lnTo>
                    <a:pt x="354289" y="41796"/>
                  </a:lnTo>
                  <a:lnTo>
                    <a:pt x="387297" y="70744"/>
                  </a:lnTo>
                  <a:lnTo>
                    <a:pt x="414023" y="105575"/>
                  </a:lnTo>
                  <a:lnTo>
                    <a:pt x="433441" y="144951"/>
                  </a:lnTo>
                  <a:lnTo>
                    <a:pt x="444803" y="187359"/>
                  </a:lnTo>
                  <a:lnTo>
                    <a:pt x="447674" y="216506"/>
                  </a:lnTo>
                  <a:lnTo>
                    <a:pt x="447674" y="223837"/>
                  </a:lnTo>
                  <a:lnTo>
                    <a:pt x="447674" y="231168"/>
                  </a:lnTo>
                  <a:lnTo>
                    <a:pt x="441942" y="274695"/>
                  </a:lnTo>
                  <a:lnTo>
                    <a:pt x="427829" y="316268"/>
                  </a:lnTo>
                  <a:lnTo>
                    <a:pt x="405877" y="354290"/>
                  </a:lnTo>
                  <a:lnTo>
                    <a:pt x="376930" y="387298"/>
                  </a:lnTo>
                  <a:lnTo>
                    <a:pt x="342099" y="414024"/>
                  </a:lnTo>
                  <a:lnTo>
                    <a:pt x="302722" y="433441"/>
                  </a:lnTo>
                  <a:lnTo>
                    <a:pt x="260315" y="444803"/>
                  </a:lnTo>
                  <a:lnTo>
                    <a:pt x="238481" y="447315"/>
                  </a:lnTo>
                  <a:lnTo>
                    <a:pt x="231168" y="447674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886" y="2209799"/>
              <a:ext cx="201433" cy="20688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206875" y="2666873"/>
            <a:ext cx="2977515" cy="7956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45" dirty="0">
                <a:solidFill>
                  <a:srgbClr val="545759"/>
                </a:solidFill>
                <a:latin typeface="Verdana"/>
                <a:cs typeface="Verdana"/>
              </a:rPr>
              <a:t>Optimise</a:t>
            </a:r>
            <a:r>
              <a:rPr sz="1450" spc="-9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Routes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Dynamically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adjust</a:t>
            </a:r>
            <a:r>
              <a:rPr sz="11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collection</a:t>
            </a:r>
            <a:r>
              <a:rPr sz="11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routes</a:t>
            </a:r>
            <a:r>
              <a:rPr sz="11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based on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predicted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priority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levels.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524748" y="1924049"/>
            <a:ext cx="3305175" cy="1724025"/>
            <a:chOff x="7524748" y="1924049"/>
            <a:chExt cx="3305175" cy="1724025"/>
          </a:xfrm>
        </p:grpSpPr>
        <p:sp>
          <p:nvSpPr>
            <p:cNvPr id="16" name="object 16"/>
            <p:cNvSpPr/>
            <p:nvPr/>
          </p:nvSpPr>
          <p:spPr>
            <a:xfrm>
              <a:off x="7529510" y="1928812"/>
              <a:ext cx="3295650" cy="1714500"/>
            </a:xfrm>
            <a:custGeom>
              <a:avLst/>
              <a:gdLst/>
              <a:ahLst/>
              <a:cxnLst/>
              <a:rect l="l" t="t" r="r" b="b"/>
              <a:pathLst>
                <a:path w="3295650" h="1714500">
                  <a:moveTo>
                    <a:pt x="3194973" y="1714499"/>
                  </a:moveTo>
                  <a:lnTo>
                    <a:pt x="100676" y="1714499"/>
                  </a:lnTo>
                  <a:lnTo>
                    <a:pt x="93669" y="1713809"/>
                  </a:lnTo>
                  <a:lnTo>
                    <a:pt x="53769" y="1700271"/>
                  </a:lnTo>
                  <a:lnTo>
                    <a:pt x="22089" y="1672494"/>
                  </a:lnTo>
                  <a:lnTo>
                    <a:pt x="3449" y="1634708"/>
                  </a:lnTo>
                  <a:lnTo>
                    <a:pt x="0" y="1613823"/>
                  </a:lnTo>
                  <a:lnTo>
                    <a:pt x="0" y="1606748"/>
                  </a:lnTo>
                  <a:lnTo>
                    <a:pt x="0" y="100676"/>
                  </a:lnTo>
                  <a:lnTo>
                    <a:pt x="10909" y="59980"/>
                  </a:lnTo>
                  <a:lnTo>
                    <a:pt x="36562" y="26556"/>
                  </a:lnTo>
                  <a:lnTo>
                    <a:pt x="73053" y="5494"/>
                  </a:lnTo>
                  <a:lnTo>
                    <a:pt x="100676" y="0"/>
                  </a:lnTo>
                  <a:lnTo>
                    <a:pt x="3194973" y="0"/>
                  </a:lnTo>
                  <a:lnTo>
                    <a:pt x="3235669" y="10909"/>
                  </a:lnTo>
                  <a:lnTo>
                    <a:pt x="3269092" y="36562"/>
                  </a:lnTo>
                  <a:lnTo>
                    <a:pt x="3290154" y="73052"/>
                  </a:lnTo>
                  <a:lnTo>
                    <a:pt x="3295649" y="100676"/>
                  </a:lnTo>
                  <a:lnTo>
                    <a:pt x="3295649" y="1613823"/>
                  </a:lnTo>
                  <a:lnTo>
                    <a:pt x="3284738" y="1654519"/>
                  </a:lnTo>
                  <a:lnTo>
                    <a:pt x="3259086" y="1687942"/>
                  </a:lnTo>
                  <a:lnTo>
                    <a:pt x="3222595" y="1709005"/>
                  </a:lnTo>
                  <a:lnTo>
                    <a:pt x="3201980" y="1713809"/>
                  </a:lnTo>
                  <a:lnTo>
                    <a:pt x="3194973" y="1714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29510" y="1928812"/>
              <a:ext cx="3295650" cy="1714500"/>
            </a:xfrm>
            <a:custGeom>
              <a:avLst/>
              <a:gdLst/>
              <a:ahLst/>
              <a:cxnLst/>
              <a:rect l="l" t="t" r="r" b="b"/>
              <a:pathLst>
                <a:path w="3295650" h="1714500">
                  <a:moveTo>
                    <a:pt x="0" y="1606748"/>
                  </a:moveTo>
                  <a:lnTo>
                    <a:pt x="0" y="107751"/>
                  </a:lnTo>
                  <a:lnTo>
                    <a:pt x="0" y="100676"/>
                  </a:lnTo>
                  <a:lnTo>
                    <a:pt x="690" y="93669"/>
                  </a:lnTo>
                  <a:lnTo>
                    <a:pt x="2070" y="86730"/>
                  </a:lnTo>
                  <a:lnTo>
                    <a:pt x="3449" y="79790"/>
                  </a:lnTo>
                  <a:lnTo>
                    <a:pt x="5493" y="73052"/>
                  </a:lnTo>
                  <a:lnTo>
                    <a:pt x="8201" y="66516"/>
                  </a:lnTo>
                  <a:lnTo>
                    <a:pt x="10909" y="59980"/>
                  </a:lnTo>
                  <a:lnTo>
                    <a:pt x="14228" y="53770"/>
                  </a:lnTo>
                  <a:lnTo>
                    <a:pt x="18158" y="47887"/>
                  </a:lnTo>
                  <a:lnTo>
                    <a:pt x="22089" y="42005"/>
                  </a:lnTo>
                  <a:lnTo>
                    <a:pt x="26556" y="36562"/>
                  </a:lnTo>
                  <a:lnTo>
                    <a:pt x="31559" y="31559"/>
                  </a:lnTo>
                  <a:lnTo>
                    <a:pt x="36562" y="26556"/>
                  </a:lnTo>
                  <a:lnTo>
                    <a:pt x="42004" y="22089"/>
                  </a:lnTo>
                  <a:lnTo>
                    <a:pt x="47887" y="18159"/>
                  </a:lnTo>
                  <a:lnTo>
                    <a:pt x="53770" y="14228"/>
                  </a:lnTo>
                  <a:lnTo>
                    <a:pt x="59980" y="10909"/>
                  </a:lnTo>
                  <a:lnTo>
                    <a:pt x="66516" y="8201"/>
                  </a:lnTo>
                  <a:lnTo>
                    <a:pt x="73053" y="5494"/>
                  </a:lnTo>
                  <a:lnTo>
                    <a:pt x="79790" y="3450"/>
                  </a:lnTo>
                  <a:lnTo>
                    <a:pt x="86730" y="2070"/>
                  </a:lnTo>
                  <a:lnTo>
                    <a:pt x="93669" y="690"/>
                  </a:lnTo>
                  <a:lnTo>
                    <a:pt x="100676" y="0"/>
                  </a:lnTo>
                  <a:lnTo>
                    <a:pt x="107752" y="0"/>
                  </a:lnTo>
                  <a:lnTo>
                    <a:pt x="3187898" y="0"/>
                  </a:lnTo>
                  <a:lnTo>
                    <a:pt x="3194973" y="0"/>
                  </a:lnTo>
                  <a:lnTo>
                    <a:pt x="3201980" y="690"/>
                  </a:lnTo>
                  <a:lnTo>
                    <a:pt x="3208919" y="2070"/>
                  </a:lnTo>
                  <a:lnTo>
                    <a:pt x="3215857" y="3450"/>
                  </a:lnTo>
                  <a:lnTo>
                    <a:pt x="3222595" y="5494"/>
                  </a:lnTo>
                  <a:lnTo>
                    <a:pt x="3229132" y="8202"/>
                  </a:lnTo>
                  <a:lnTo>
                    <a:pt x="3235669" y="10909"/>
                  </a:lnTo>
                  <a:lnTo>
                    <a:pt x="3241879" y="14228"/>
                  </a:lnTo>
                  <a:lnTo>
                    <a:pt x="3247761" y="18159"/>
                  </a:lnTo>
                  <a:lnTo>
                    <a:pt x="3253643" y="22089"/>
                  </a:lnTo>
                  <a:lnTo>
                    <a:pt x="3259086" y="26556"/>
                  </a:lnTo>
                  <a:lnTo>
                    <a:pt x="3264089" y="31559"/>
                  </a:lnTo>
                  <a:lnTo>
                    <a:pt x="3269092" y="36562"/>
                  </a:lnTo>
                  <a:lnTo>
                    <a:pt x="3273558" y="42005"/>
                  </a:lnTo>
                  <a:lnTo>
                    <a:pt x="3277488" y="47887"/>
                  </a:lnTo>
                  <a:lnTo>
                    <a:pt x="3281419" y="53770"/>
                  </a:lnTo>
                  <a:lnTo>
                    <a:pt x="3284738" y="59980"/>
                  </a:lnTo>
                  <a:lnTo>
                    <a:pt x="3287446" y="66516"/>
                  </a:lnTo>
                  <a:lnTo>
                    <a:pt x="3290154" y="73052"/>
                  </a:lnTo>
                  <a:lnTo>
                    <a:pt x="3295650" y="107751"/>
                  </a:lnTo>
                  <a:lnTo>
                    <a:pt x="3295650" y="1606748"/>
                  </a:lnTo>
                  <a:lnTo>
                    <a:pt x="3295649" y="1613823"/>
                  </a:lnTo>
                  <a:lnTo>
                    <a:pt x="3294958" y="1620830"/>
                  </a:lnTo>
                  <a:lnTo>
                    <a:pt x="3293578" y="1627769"/>
                  </a:lnTo>
                  <a:lnTo>
                    <a:pt x="3292198" y="1634708"/>
                  </a:lnTo>
                  <a:lnTo>
                    <a:pt x="3290154" y="1641446"/>
                  </a:lnTo>
                  <a:lnTo>
                    <a:pt x="3287446" y="1647982"/>
                  </a:lnTo>
                  <a:lnTo>
                    <a:pt x="3284738" y="1654519"/>
                  </a:lnTo>
                  <a:lnTo>
                    <a:pt x="3281419" y="1660729"/>
                  </a:lnTo>
                  <a:lnTo>
                    <a:pt x="3277488" y="1666611"/>
                  </a:lnTo>
                  <a:lnTo>
                    <a:pt x="3273558" y="1672494"/>
                  </a:lnTo>
                  <a:lnTo>
                    <a:pt x="3241879" y="1700271"/>
                  </a:lnTo>
                  <a:lnTo>
                    <a:pt x="3201980" y="1713809"/>
                  </a:lnTo>
                  <a:lnTo>
                    <a:pt x="3194973" y="1714499"/>
                  </a:lnTo>
                  <a:lnTo>
                    <a:pt x="3187898" y="1714499"/>
                  </a:lnTo>
                  <a:lnTo>
                    <a:pt x="107752" y="1714499"/>
                  </a:lnTo>
                  <a:lnTo>
                    <a:pt x="100676" y="1714499"/>
                  </a:lnTo>
                  <a:lnTo>
                    <a:pt x="93669" y="1713809"/>
                  </a:lnTo>
                  <a:lnTo>
                    <a:pt x="86729" y="1712429"/>
                  </a:lnTo>
                  <a:lnTo>
                    <a:pt x="79790" y="1711048"/>
                  </a:lnTo>
                  <a:lnTo>
                    <a:pt x="73052" y="1709004"/>
                  </a:lnTo>
                  <a:lnTo>
                    <a:pt x="66516" y="1706297"/>
                  </a:lnTo>
                  <a:lnTo>
                    <a:pt x="59980" y="1703590"/>
                  </a:lnTo>
                  <a:lnTo>
                    <a:pt x="31559" y="1682940"/>
                  </a:lnTo>
                  <a:lnTo>
                    <a:pt x="26556" y="1677937"/>
                  </a:lnTo>
                  <a:lnTo>
                    <a:pt x="8201" y="1647982"/>
                  </a:lnTo>
                  <a:lnTo>
                    <a:pt x="5493" y="1641446"/>
                  </a:lnTo>
                  <a:lnTo>
                    <a:pt x="3449" y="1634708"/>
                  </a:lnTo>
                  <a:lnTo>
                    <a:pt x="2070" y="1627769"/>
                  </a:lnTo>
                  <a:lnTo>
                    <a:pt x="690" y="1620830"/>
                  </a:lnTo>
                  <a:lnTo>
                    <a:pt x="0" y="1613823"/>
                  </a:lnTo>
                  <a:lnTo>
                    <a:pt x="0" y="1606748"/>
                  </a:lnTo>
                  <a:close/>
                </a:path>
              </a:pathLst>
            </a:custGeom>
            <a:ln w="9524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77149" y="2085974"/>
              <a:ext cx="457200" cy="447675"/>
            </a:xfrm>
            <a:custGeom>
              <a:avLst/>
              <a:gdLst/>
              <a:ahLst/>
              <a:cxnLst/>
              <a:rect l="l" t="t" r="r" b="b"/>
              <a:pathLst>
                <a:path w="457200" h="447675">
                  <a:moveTo>
                    <a:pt x="240693" y="447674"/>
                  </a:moveTo>
                  <a:lnTo>
                    <a:pt x="216507" y="447674"/>
                  </a:lnTo>
                  <a:lnTo>
                    <a:pt x="209193" y="447315"/>
                  </a:lnTo>
                  <a:lnTo>
                    <a:pt x="165876" y="440164"/>
                  </a:lnTo>
                  <a:lnTo>
                    <a:pt x="124785" y="424700"/>
                  </a:lnTo>
                  <a:lnTo>
                    <a:pt x="87502" y="401516"/>
                  </a:lnTo>
                  <a:lnTo>
                    <a:pt x="55458" y="371505"/>
                  </a:lnTo>
                  <a:lnTo>
                    <a:pt x="29884" y="335818"/>
                  </a:lnTo>
                  <a:lnTo>
                    <a:pt x="11765" y="295829"/>
                  </a:lnTo>
                  <a:lnTo>
                    <a:pt x="1795" y="253073"/>
                  </a:lnTo>
                  <a:lnTo>
                    <a:pt x="0" y="231168"/>
                  </a:lnTo>
                  <a:lnTo>
                    <a:pt x="0" y="223837"/>
                  </a:lnTo>
                  <a:lnTo>
                    <a:pt x="0" y="216506"/>
                  </a:lnTo>
                  <a:lnTo>
                    <a:pt x="5729" y="172978"/>
                  </a:lnTo>
                  <a:lnTo>
                    <a:pt x="19842" y="131405"/>
                  </a:lnTo>
                  <a:lnTo>
                    <a:pt x="41794" y="93384"/>
                  </a:lnTo>
                  <a:lnTo>
                    <a:pt x="70743" y="60376"/>
                  </a:lnTo>
                  <a:lnTo>
                    <a:pt x="105574" y="33650"/>
                  </a:lnTo>
                  <a:lnTo>
                    <a:pt x="144951" y="14233"/>
                  </a:lnTo>
                  <a:lnTo>
                    <a:pt x="187359" y="2870"/>
                  </a:lnTo>
                  <a:lnTo>
                    <a:pt x="216507" y="0"/>
                  </a:lnTo>
                  <a:lnTo>
                    <a:pt x="240693" y="0"/>
                  </a:lnTo>
                  <a:lnTo>
                    <a:pt x="284220" y="5731"/>
                  </a:lnTo>
                  <a:lnTo>
                    <a:pt x="325793" y="19844"/>
                  </a:lnTo>
                  <a:lnTo>
                    <a:pt x="363814" y="41796"/>
                  </a:lnTo>
                  <a:lnTo>
                    <a:pt x="396822" y="70744"/>
                  </a:lnTo>
                  <a:lnTo>
                    <a:pt x="423548" y="105575"/>
                  </a:lnTo>
                  <a:lnTo>
                    <a:pt x="442965" y="144951"/>
                  </a:lnTo>
                  <a:lnTo>
                    <a:pt x="454328" y="187359"/>
                  </a:lnTo>
                  <a:lnTo>
                    <a:pt x="457199" y="216506"/>
                  </a:lnTo>
                  <a:lnTo>
                    <a:pt x="457199" y="231168"/>
                  </a:lnTo>
                  <a:lnTo>
                    <a:pt x="451468" y="274695"/>
                  </a:lnTo>
                  <a:lnTo>
                    <a:pt x="437355" y="316268"/>
                  </a:lnTo>
                  <a:lnTo>
                    <a:pt x="415403" y="354290"/>
                  </a:lnTo>
                  <a:lnTo>
                    <a:pt x="386454" y="387298"/>
                  </a:lnTo>
                  <a:lnTo>
                    <a:pt x="351623" y="414024"/>
                  </a:lnTo>
                  <a:lnTo>
                    <a:pt x="312247" y="433441"/>
                  </a:lnTo>
                  <a:lnTo>
                    <a:pt x="269840" y="444803"/>
                  </a:lnTo>
                  <a:lnTo>
                    <a:pt x="248006" y="447315"/>
                  </a:lnTo>
                  <a:lnTo>
                    <a:pt x="240693" y="447674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96416" y="2214491"/>
              <a:ext cx="211459" cy="19382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666831" y="2666873"/>
            <a:ext cx="2733040" cy="7956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545759"/>
                </a:solidFill>
                <a:latin typeface="Verdana"/>
                <a:cs typeface="Verdana"/>
              </a:rPr>
              <a:t>Reduce</a:t>
            </a:r>
            <a:r>
              <a:rPr sz="1450" spc="-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Overflow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540"/>
              </a:spcBef>
            </a:pP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Prevent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bins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50" dirty="0">
                <a:solidFill>
                  <a:srgbClr val="545759"/>
                </a:solidFill>
                <a:latin typeface="Lucida Sans Unicode"/>
                <a:cs typeface="Lucida Sans Unicode"/>
              </a:rPr>
              <a:t>from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overflowing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by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acting before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problems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arise.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0074" y="3800474"/>
            <a:ext cx="5038725" cy="1485900"/>
            <a:chOff x="600074" y="3800474"/>
            <a:chExt cx="5038725" cy="1485900"/>
          </a:xfrm>
        </p:grpSpPr>
        <p:sp>
          <p:nvSpPr>
            <p:cNvPr id="22" name="object 22"/>
            <p:cNvSpPr/>
            <p:nvPr/>
          </p:nvSpPr>
          <p:spPr>
            <a:xfrm>
              <a:off x="604837" y="3805237"/>
              <a:ext cx="5029200" cy="1476375"/>
            </a:xfrm>
            <a:custGeom>
              <a:avLst/>
              <a:gdLst/>
              <a:ahLst/>
              <a:cxnLst/>
              <a:rect l="l" t="t" r="r" b="b"/>
              <a:pathLst>
                <a:path w="5029200" h="1476375">
                  <a:moveTo>
                    <a:pt x="4928523" y="1476374"/>
                  </a:moveTo>
                  <a:lnTo>
                    <a:pt x="100676" y="1476374"/>
                  </a:lnTo>
                  <a:lnTo>
                    <a:pt x="93669" y="1475684"/>
                  </a:lnTo>
                  <a:lnTo>
                    <a:pt x="53770" y="1462145"/>
                  </a:lnTo>
                  <a:lnTo>
                    <a:pt x="22090" y="1434368"/>
                  </a:lnTo>
                  <a:lnTo>
                    <a:pt x="3450" y="1396583"/>
                  </a:lnTo>
                  <a:lnTo>
                    <a:pt x="0" y="1375698"/>
                  </a:lnTo>
                  <a:lnTo>
                    <a:pt x="0" y="1368623"/>
                  </a:lnTo>
                  <a:lnTo>
                    <a:pt x="0" y="100676"/>
                  </a:lnTo>
                  <a:lnTo>
                    <a:pt x="10909" y="59980"/>
                  </a:lnTo>
                  <a:lnTo>
                    <a:pt x="36562" y="26556"/>
                  </a:lnTo>
                  <a:lnTo>
                    <a:pt x="73053" y="5494"/>
                  </a:lnTo>
                  <a:lnTo>
                    <a:pt x="100676" y="0"/>
                  </a:lnTo>
                  <a:lnTo>
                    <a:pt x="4928523" y="0"/>
                  </a:lnTo>
                  <a:lnTo>
                    <a:pt x="4969218" y="10909"/>
                  </a:lnTo>
                  <a:lnTo>
                    <a:pt x="5002641" y="36562"/>
                  </a:lnTo>
                  <a:lnTo>
                    <a:pt x="5023703" y="73052"/>
                  </a:lnTo>
                  <a:lnTo>
                    <a:pt x="5029199" y="100676"/>
                  </a:lnTo>
                  <a:lnTo>
                    <a:pt x="5029199" y="1375698"/>
                  </a:lnTo>
                  <a:lnTo>
                    <a:pt x="5018289" y="1416393"/>
                  </a:lnTo>
                  <a:lnTo>
                    <a:pt x="4992636" y="1449817"/>
                  </a:lnTo>
                  <a:lnTo>
                    <a:pt x="4956145" y="1470879"/>
                  </a:lnTo>
                  <a:lnTo>
                    <a:pt x="4935530" y="1475684"/>
                  </a:lnTo>
                  <a:lnTo>
                    <a:pt x="4928523" y="1476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4837" y="3805237"/>
              <a:ext cx="5029200" cy="1476375"/>
            </a:xfrm>
            <a:custGeom>
              <a:avLst/>
              <a:gdLst/>
              <a:ahLst/>
              <a:cxnLst/>
              <a:rect l="l" t="t" r="r" b="b"/>
              <a:pathLst>
                <a:path w="5029200" h="1476375">
                  <a:moveTo>
                    <a:pt x="0" y="1368623"/>
                  </a:moveTo>
                  <a:lnTo>
                    <a:pt x="0" y="107751"/>
                  </a:lnTo>
                  <a:lnTo>
                    <a:pt x="0" y="100676"/>
                  </a:lnTo>
                  <a:lnTo>
                    <a:pt x="690" y="93668"/>
                  </a:lnTo>
                  <a:lnTo>
                    <a:pt x="2070" y="86729"/>
                  </a:lnTo>
                  <a:lnTo>
                    <a:pt x="3450" y="79790"/>
                  </a:lnTo>
                  <a:lnTo>
                    <a:pt x="5494" y="73052"/>
                  </a:lnTo>
                  <a:lnTo>
                    <a:pt x="8202" y="66516"/>
                  </a:lnTo>
                  <a:lnTo>
                    <a:pt x="10909" y="59980"/>
                  </a:lnTo>
                  <a:lnTo>
                    <a:pt x="14228" y="53770"/>
                  </a:lnTo>
                  <a:lnTo>
                    <a:pt x="18159" y="47887"/>
                  </a:lnTo>
                  <a:lnTo>
                    <a:pt x="22090" y="42004"/>
                  </a:lnTo>
                  <a:lnTo>
                    <a:pt x="26556" y="36562"/>
                  </a:lnTo>
                  <a:lnTo>
                    <a:pt x="31559" y="31559"/>
                  </a:lnTo>
                  <a:lnTo>
                    <a:pt x="36562" y="26556"/>
                  </a:lnTo>
                  <a:lnTo>
                    <a:pt x="42005" y="22089"/>
                  </a:lnTo>
                  <a:lnTo>
                    <a:pt x="47887" y="18159"/>
                  </a:lnTo>
                  <a:lnTo>
                    <a:pt x="53770" y="14228"/>
                  </a:lnTo>
                  <a:lnTo>
                    <a:pt x="93669" y="690"/>
                  </a:lnTo>
                  <a:lnTo>
                    <a:pt x="100676" y="0"/>
                  </a:lnTo>
                  <a:lnTo>
                    <a:pt x="107751" y="0"/>
                  </a:lnTo>
                  <a:lnTo>
                    <a:pt x="4921448" y="0"/>
                  </a:lnTo>
                  <a:lnTo>
                    <a:pt x="4928523" y="0"/>
                  </a:lnTo>
                  <a:lnTo>
                    <a:pt x="4935530" y="690"/>
                  </a:lnTo>
                  <a:lnTo>
                    <a:pt x="4975428" y="14228"/>
                  </a:lnTo>
                  <a:lnTo>
                    <a:pt x="5007108" y="42004"/>
                  </a:lnTo>
                  <a:lnTo>
                    <a:pt x="5011039" y="47887"/>
                  </a:lnTo>
                  <a:lnTo>
                    <a:pt x="5014969" y="53769"/>
                  </a:lnTo>
                  <a:lnTo>
                    <a:pt x="5018289" y="59979"/>
                  </a:lnTo>
                  <a:lnTo>
                    <a:pt x="5020996" y="66516"/>
                  </a:lnTo>
                  <a:lnTo>
                    <a:pt x="5023703" y="73052"/>
                  </a:lnTo>
                  <a:lnTo>
                    <a:pt x="5025748" y="79790"/>
                  </a:lnTo>
                  <a:lnTo>
                    <a:pt x="5027128" y="86729"/>
                  </a:lnTo>
                  <a:lnTo>
                    <a:pt x="5028509" y="93668"/>
                  </a:lnTo>
                  <a:lnTo>
                    <a:pt x="5029199" y="100676"/>
                  </a:lnTo>
                  <a:lnTo>
                    <a:pt x="5029199" y="107751"/>
                  </a:lnTo>
                  <a:lnTo>
                    <a:pt x="5029199" y="1368623"/>
                  </a:lnTo>
                  <a:lnTo>
                    <a:pt x="5029199" y="1375698"/>
                  </a:lnTo>
                  <a:lnTo>
                    <a:pt x="5028509" y="1382705"/>
                  </a:lnTo>
                  <a:lnTo>
                    <a:pt x="5027128" y="1389644"/>
                  </a:lnTo>
                  <a:lnTo>
                    <a:pt x="5025748" y="1396583"/>
                  </a:lnTo>
                  <a:lnTo>
                    <a:pt x="5023703" y="1403321"/>
                  </a:lnTo>
                  <a:lnTo>
                    <a:pt x="5020996" y="1409857"/>
                  </a:lnTo>
                  <a:lnTo>
                    <a:pt x="5018289" y="1416393"/>
                  </a:lnTo>
                  <a:lnTo>
                    <a:pt x="4992636" y="1449817"/>
                  </a:lnTo>
                  <a:lnTo>
                    <a:pt x="4962681" y="1468171"/>
                  </a:lnTo>
                  <a:lnTo>
                    <a:pt x="4956145" y="1470879"/>
                  </a:lnTo>
                  <a:lnTo>
                    <a:pt x="4949407" y="1472923"/>
                  </a:lnTo>
                  <a:lnTo>
                    <a:pt x="4942468" y="1474304"/>
                  </a:lnTo>
                  <a:lnTo>
                    <a:pt x="4935530" y="1475684"/>
                  </a:lnTo>
                  <a:lnTo>
                    <a:pt x="4928523" y="1476374"/>
                  </a:lnTo>
                  <a:lnTo>
                    <a:pt x="4921448" y="1476374"/>
                  </a:lnTo>
                  <a:lnTo>
                    <a:pt x="107751" y="1476374"/>
                  </a:lnTo>
                  <a:lnTo>
                    <a:pt x="100676" y="1476374"/>
                  </a:lnTo>
                  <a:lnTo>
                    <a:pt x="93669" y="1475684"/>
                  </a:lnTo>
                  <a:lnTo>
                    <a:pt x="53770" y="1462145"/>
                  </a:lnTo>
                  <a:lnTo>
                    <a:pt x="22090" y="1434368"/>
                  </a:lnTo>
                  <a:lnTo>
                    <a:pt x="3450" y="1396583"/>
                  </a:lnTo>
                  <a:lnTo>
                    <a:pt x="0" y="1375698"/>
                  </a:lnTo>
                  <a:lnTo>
                    <a:pt x="0" y="1368623"/>
                  </a:lnTo>
                  <a:close/>
                </a:path>
              </a:pathLst>
            </a:custGeom>
            <a:ln w="9524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2000" y="3962399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8" y="447674"/>
                  </a:moveTo>
                  <a:lnTo>
                    <a:pt x="216506" y="447674"/>
                  </a:lnTo>
                  <a:lnTo>
                    <a:pt x="209193" y="447315"/>
                  </a:lnTo>
                  <a:lnTo>
                    <a:pt x="165876" y="440164"/>
                  </a:lnTo>
                  <a:lnTo>
                    <a:pt x="124786" y="424700"/>
                  </a:lnTo>
                  <a:lnTo>
                    <a:pt x="87503" y="401516"/>
                  </a:lnTo>
                  <a:lnTo>
                    <a:pt x="55459" y="371504"/>
                  </a:lnTo>
                  <a:lnTo>
                    <a:pt x="29886" y="335818"/>
                  </a:lnTo>
                  <a:lnTo>
                    <a:pt x="11766" y="295828"/>
                  </a:lnTo>
                  <a:lnTo>
                    <a:pt x="1796" y="253072"/>
                  </a:lnTo>
                  <a:lnTo>
                    <a:pt x="0" y="231168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3" y="131405"/>
                  </a:lnTo>
                  <a:lnTo>
                    <a:pt x="41796" y="93383"/>
                  </a:lnTo>
                  <a:lnTo>
                    <a:pt x="70744" y="60375"/>
                  </a:lnTo>
                  <a:lnTo>
                    <a:pt x="105575" y="33650"/>
                  </a:lnTo>
                  <a:lnTo>
                    <a:pt x="144951" y="14232"/>
                  </a:lnTo>
                  <a:lnTo>
                    <a:pt x="187358" y="2870"/>
                  </a:lnTo>
                  <a:lnTo>
                    <a:pt x="216506" y="0"/>
                  </a:lnTo>
                  <a:lnTo>
                    <a:pt x="231168" y="0"/>
                  </a:lnTo>
                  <a:lnTo>
                    <a:pt x="274695" y="5730"/>
                  </a:lnTo>
                  <a:lnTo>
                    <a:pt x="316269" y="19843"/>
                  </a:lnTo>
                  <a:lnTo>
                    <a:pt x="354290" y="41795"/>
                  </a:lnTo>
                  <a:lnTo>
                    <a:pt x="387298" y="70743"/>
                  </a:lnTo>
                  <a:lnTo>
                    <a:pt x="414024" y="105574"/>
                  </a:lnTo>
                  <a:lnTo>
                    <a:pt x="433441" y="144950"/>
                  </a:lnTo>
                  <a:lnTo>
                    <a:pt x="444804" y="187358"/>
                  </a:lnTo>
                  <a:lnTo>
                    <a:pt x="447674" y="216506"/>
                  </a:lnTo>
                  <a:lnTo>
                    <a:pt x="447674" y="223837"/>
                  </a:lnTo>
                  <a:lnTo>
                    <a:pt x="447674" y="231168"/>
                  </a:lnTo>
                  <a:lnTo>
                    <a:pt x="441943" y="274695"/>
                  </a:lnTo>
                  <a:lnTo>
                    <a:pt x="427830" y="316268"/>
                  </a:lnTo>
                  <a:lnTo>
                    <a:pt x="405878" y="354289"/>
                  </a:lnTo>
                  <a:lnTo>
                    <a:pt x="376930" y="387297"/>
                  </a:lnTo>
                  <a:lnTo>
                    <a:pt x="342099" y="414024"/>
                  </a:lnTo>
                  <a:lnTo>
                    <a:pt x="302723" y="433441"/>
                  </a:lnTo>
                  <a:lnTo>
                    <a:pt x="260315" y="444803"/>
                  </a:lnTo>
                  <a:lnTo>
                    <a:pt x="238481" y="447315"/>
                  </a:lnTo>
                  <a:lnTo>
                    <a:pt x="231168" y="447674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5597" y="4081745"/>
              <a:ext cx="182860" cy="21134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46918" y="4543297"/>
            <a:ext cx="4248785" cy="557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30" dirty="0">
                <a:solidFill>
                  <a:srgbClr val="545759"/>
                </a:solidFill>
                <a:latin typeface="Verdana"/>
                <a:cs typeface="Verdana"/>
              </a:rPr>
              <a:t>Citizen</a:t>
            </a:r>
            <a:r>
              <a:rPr sz="1450" spc="-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Feedback</a:t>
            </a: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Incorporate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public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complaints</a:t>
            </a:r>
            <a:r>
              <a:rPr sz="1150" spc="-5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into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real-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time</a:t>
            </a:r>
            <a:r>
              <a:rPr sz="1150" spc="-5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decision-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making.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791199" y="3800474"/>
            <a:ext cx="5038725" cy="1485900"/>
            <a:chOff x="5791199" y="3800474"/>
            <a:chExt cx="5038725" cy="1485900"/>
          </a:xfrm>
        </p:grpSpPr>
        <p:sp>
          <p:nvSpPr>
            <p:cNvPr id="28" name="object 28"/>
            <p:cNvSpPr/>
            <p:nvPr/>
          </p:nvSpPr>
          <p:spPr>
            <a:xfrm>
              <a:off x="5795962" y="3805237"/>
              <a:ext cx="5029200" cy="1476375"/>
            </a:xfrm>
            <a:custGeom>
              <a:avLst/>
              <a:gdLst/>
              <a:ahLst/>
              <a:cxnLst/>
              <a:rect l="l" t="t" r="r" b="b"/>
              <a:pathLst>
                <a:path w="5029200" h="1476375">
                  <a:moveTo>
                    <a:pt x="4928523" y="1476374"/>
                  </a:moveTo>
                  <a:lnTo>
                    <a:pt x="100676" y="1476374"/>
                  </a:lnTo>
                  <a:lnTo>
                    <a:pt x="93669" y="1475684"/>
                  </a:lnTo>
                  <a:lnTo>
                    <a:pt x="53769" y="1462145"/>
                  </a:lnTo>
                  <a:lnTo>
                    <a:pt x="22089" y="1434368"/>
                  </a:lnTo>
                  <a:lnTo>
                    <a:pt x="3449" y="1396583"/>
                  </a:lnTo>
                  <a:lnTo>
                    <a:pt x="0" y="1375698"/>
                  </a:lnTo>
                  <a:lnTo>
                    <a:pt x="0" y="1368623"/>
                  </a:lnTo>
                  <a:lnTo>
                    <a:pt x="0" y="100676"/>
                  </a:lnTo>
                  <a:lnTo>
                    <a:pt x="10908" y="59980"/>
                  </a:lnTo>
                  <a:lnTo>
                    <a:pt x="36561" y="26556"/>
                  </a:lnTo>
                  <a:lnTo>
                    <a:pt x="73052" y="5494"/>
                  </a:lnTo>
                  <a:lnTo>
                    <a:pt x="100676" y="0"/>
                  </a:lnTo>
                  <a:lnTo>
                    <a:pt x="4928523" y="0"/>
                  </a:lnTo>
                  <a:lnTo>
                    <a:pt x="4969218" y="10909"/>
                  </a:lnTo>
                  <a:lnTo>
                    <a:pt x="5002641" y="36562"/>
                  </a:lnTo>
                  <a:lnTo>
                    <a:pt x="5023703" y="73052"/>
                  </a:lnTo>
                  <a:lnTo>
                    <a:pt x="5029198" y="100676"/>
                  </a:lnTo>
                  <a:lnTo>
                    <a:pt x="5029198" y="1375698"/>
                  </a:lnTo>
                  <a:lnTo>
                    <a:pt x="5018287" y="1416393"/>
                  </a:lnTo>
                  <a:lnTo>
                    <a:pt x="4992635" y="1449817"/>
                  </a:lnTo>
                  <a:lnTo>
                    <a:pt x="4956144" y="1470879"/>
                  </a:lnTo>
                  <a:lnTo>
                    <a:pt x="4935529" y="1475684"/>
                  </a:lnTo>
                  <a:lnTo>
                    <a:pt x="4928523" y="14763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95962" y="3805237"/>
              <a:ext cx="5029200" cy="1476375"/>
            </a:xfrm>
            <a:custGeom>
              <a:avLst/>
              <a:gdLst/>
              <a:ahLst/>
              <a:cxnLst/>
              <a:rect l="l" t="t" r="r" b="b"/>
              <a:pathLst>
                <a:path w="5029200" h="1476375">
                  <a:moveTo>
                    <a:pt x="0" y="1368623"/>
                  </a:moveTo>
                  <a:lnTo>
                    <a:pt x="0" y="107751"/>
                  </a:lnTo>
                  <a:lnTo>
                    <a:pt x="0" y="100676"/>
                  </a:lnTo>
                  <a:lnTo>
                    <a:pt x="690" y="93668"/>
                  </a:lnTo>
                  <a:lnTo>
                    <a:pt x="2069" y="86729"/>
                  </a:lnTo>
                  <a:lnTo>
                    <a:pt x="3449" y="79790"/>
                  </a:lnTo>
                  <a:lnTo>
                    <a:pt x="5493" y="73052"/>
                  </a:lnTo>
                  <a:lnTo>
                    <a:pt x="8201" y="66516"/>
                  </a:lnTo>
                  <a:lnTo>
                    <a:pt x="10908" y="59980"/>
                  </a:lnTo>
                  <a:lnTo>
                    <a:pt x="14227" y="53770"/>
                  </a:lnTo>
                  <a:lnTo>
                    <a:pt x="18158" y="47887"/>
                  </a:lnTo>
                  <a:lnTo>
                    <a:pt x="22088" y="42004"/>
                  </a:lnTo>
                  <a:lnTo>
                    <a:pt x="26555" y="36562"/>
                  </a:lnTo>
                  <a:lnTo>
                    <a:pt x="31559" y="31559"/>
                  </a:lnTo>
                  <a:lnTo>
                    <a:pt x="36561" y="26556"/>
                  </a:lnTo>
                  <a:lnTo>
                    <a:pt x="42004" y="22089"/>
                  </a:lnTo>
                  <a:lnTo>
                    <a:pt x="47887" y="18159"/>
                  </a:lnTo>
                  <a:lnTo>
                    <a:pt x="53769" y="14228"/>
                  </a:lnTo>
                  <a:lnTo>
                    <a:pt x="93669" y="690"/>
                  </a:lnTo>
                  <a:lnTo>
                    <a:pt x="100676" y="0"/>
                  </a:lnTo>
                  <a:lnTo>
                    <a:pt x="107751" y="0"/>
                  </a:lnTo>
                  <a:lnTo>
                    <a:pt x="4921448" y="0"/>
                  </a:lnTo>
                  <a:lnTo>
                    <a:pt x="4928523" y="0"/>
                  </a:lnTo>
                  <a:lnTo>
                    <a:pt x="4935529" y="690"/>
                  </a:lnTo>
                  <a:lnTo>
                    <a:pt x="4975428" y="14228"/>
                  </a:lnTo>
                  <a:lnTo>
                    <a:pt x="4981310" y="18159"/>
                  </a:lnTo>
                  <a:lnTo>
                    <a:pt x="4987192" y="22089"/>
                  </a:lnTo>
                  <a:lnTo>
                    <a:pt x="5011037" y="47887"/>
                  </a:lnTo>
                  <a:lnTo>
                    <a:pt x="5014969" y="53769"/>
                  </a:lnTo>
                  <a:lnTo>
                    <a:pt x="5018287" y="59979"/>
                  </a:lnTo>
                  <a:lnTo>
                    <a:pt x="5020995" y="66516"/>
                  </a:lnTo>
                  <a:lnTo>
                    <a:pt x="5023703" y="73052"/>
                  </a:lnTo>
                  <a:lnTo>
                    <a:pt x="5029199" y="107751"/>
                  </a:lnTo>
                  <a:lnTo>
                    <a:pt x="5029199" y="1368623"/>
                  </a:lnTo>
                  <a:lnTo>
                    <a:pt x="5029198" y="1375698"/>
                  </a:lnTo>
                  <a:lnTo>
                    <a:pt x="5028507" y="1382705"/>
                  </a:lnTo>
                  <a:lnTo>
                    <a:pt x="5027127" y="1389644"/>
                  </a:lnTo>
                  <a:lnTo>
                    <a:pt x="5025747" y="1396583"/>
                  </a:lnTo>
                  <a:lnTo>
                    <a:pt x="5023703" y="1403321"/>
                  </a:lnTo>
                  <a:lnTo>
                    <a:pt x="5020995" y="1409857"/>
                  </a:lnTo>
                  <a:lnTo>
                    <a:pt x="5018287" y="1416393"/>
                  </a:lnTo>
                  <a:lnTo>
                    <a:pt x="5014969" y="1422603"/>
                  </a:lnTo>
                  <a:lnTo>
                    <a:pt x="5011037" y="1428485"/>
                  </a:lnTo>
                  <a:lnTo>
                    <a:pt x="5007107" y="1434368"/>
                  </a:lnTo>
                  <a:lnTo>
                    <a:pt x="4981310" y="1458214"/>
                  </a:lnTo>
                  <a:lnTo>
                    <a:pt x="4975428" y="1462144"/>
                  </a:lnTo>
                  <a:lnTo>
                    <a:pt x="4969218" y="1465464"/>
                  </a:lnTo>
                  <a:lnTo>
                    <a:pt x="4962681" y="1468171"/>
                  </a:lnTo>
                  <a:lnTo>
                    <a:pt x="4956144" y="1470879"/>
                  </a:lnTo>
                  <a:lnTo>
                    <a:pt x="4949406" y="1472923"/>
                  </a:lnTo>
                  <a:lnTo>
                    <a:pt x="4942468" y="1474304"/>
                  </a:lnTo>
                  <a:lnTo>
                    <a:pt x="4935529" y="1475684"/>
                  </a:lnTo>
                  <a:lnTo>
                    <a:pt x="4928523" y="1476374"/>
                  </a:lnTo>
                  <a:lnTo>
                    <a:pt x="4921448" y="1476374"/>
                  </a:lnTo>
                  <a:lnTo>
                    <a:pt x="107751" y="1476374"/>
                  </a:lnTo>
                  <a:lnTo>
                    <a:pt x="100676" y="1476374"/>
                  </a:lnTo>
                  <a:lnTo>
                    <a:pt x="93669" y="1475684"/>
                  </a:lnTo>
                  <a:lnTo>
                    <a:pt x="86729" y="1474304"/>
                  </a:lnTo>
                  <a:lnTo>
                    <a:pt x="79790" y="1472923"/>
                  </a:lnTo>
                  <a:lnTo>
                    <a:pt x="73052" y="1470879"/>
                  </a:lnTo>
                  <a:lnTo>
                    <a:pt x="66516" y="1468171"/>
                  </a:lnTo>
                  <a:lnTo>
                    <a:pt x="59979" y="1465464"/>
                  </a:lnTo>
                  <a:lnTo>
                    <a:pt x="31559" y="1444814"/>
                  </a:lnTo>
                  <a:lnTo>
                    <a:pt x="26555" y="1439811"/>
                  </a:lnTo>
                  <a:lnTo>
                    <a:pt x="8201" y="1409857"/>
                  </a:lnTo>
                  <a:lnTo>
                    <a:pt x="5493" y="1403321"/>
                  </a:lnTo>
                  <a:lnTo>
                    <a:pt x="3449" y="1396583"/>
                  </a:lnTo>
                  <a:lnTo>
                    <a:pt x="2069" y="1389644"/>
                  </a:lnTo>
                  <a:lnTo>
                    <a:pt x="690" y="1382705"/>
                  </a:lnTo>
                  <a:lnTo>
                    <a:pt x="0" y="1375698"/>
                  </a:lnTo>
                  <a:lnTo>
                    <a:pt x="0" y="1368623"/>
                  </a:lnTo>
                  <a:close/>
                </a:path>
              </a:pathLst>
            </a:custGeom>
            <a:ln w="9524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53125" y="3962399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231167" y="447674"/>
                  </a:moveTo>
                  <a:lnTo>
                    <a:pt x="216505" y="447674"/>
                  </a:lnTo>
                  <a:lnTo>
                    <a:pt x="209192" y="447315"/>
                  </a:lnTo>
                  <a:lnTo>
                    <a:pt x="165875" y="440164"/>
                  </a:lnTo>
                  <a:lnTo>
                    <a:pt x="124785" y="424700"/>
                  </a:lnTo>
                  <a:lnTo>
                    <a:pt x="87502" y="401516"/>
                  </a:lnTo>
                  <a:lnTo>
                    <a:pt x="55458" y="371504"/>
                  </a:lnTo>
                  <a:lnTo>
                    <a:pt x="29886" y="335818"/>
                  </a:lnTo>
                  <a:lnTo>
                    <a:pt x="11765" y="295828"/>
                  </a:lnTo>
                  <a:lnTo>
                    <a:pt x="1796" y="253072"/>
                  </a:lnTo>
                  <a:lnTo>
                    <a:pt x="0" y="231168"/>
                  </a:lnTo>
                  <a:lnTo>
                    <a:pt x="0" y="216506"/>
                  </a:lnTo>
                  <a:lnTo>
                    <a:pt x="5730" y="172978"/>
                  </a:lnTo>
                  <a:lnTo>
                    <a:pt x="19843" y="131405"/>
                  </a:lnTo>
                  <a:lnTo>
                    <a:pt x="41795" y="93383"/>
                  </a:lnTo>
                  <a:lnTo>
                    <a:pt x="70743" y="60375"/>
                  </a:lnTo>
                  <a:lnTo>
                    <a:pt x="105574" y="33650"/>
                  </a:lnTo>
                  <a:lnTo>
                    <a:pt x="144950" y="14232"/>
                  </a:lnTo>
                  <a:lnTo>
                    <a:pt x="187358" y="2870"/>
                  </a:lnTo>
                  <a:lnTo>
                    <a:pt x="216505" y="0"/>
                  </a:lnTo>
                  <a:lnTo>
                    <a:pt x="231167" y="0"/>
                  </a:lnTo>
                  <a:lnTo>
                    <a:pt x="274695" y="5730"/>
                  </a:lnTo>
                  <a:lnTo>
                    <a:pt x="316268" y="19843"/>
                  </a:lnTo>
                  <a:lnTo>
                    <a:pt x="354289" y="41795"/>
                  </a:lnTo>
                  <a:lnTo>
                    <a:pt x="387297" y="70743"/>
                  </a:lnTo>
                  <a:lnTo>
                    <a:pt x="414024" y="105574"/>
                  </a:lnTo>
                  <a:lnTo>
                    <a:pt x="433440" y="144950"/>
                  </a:lnTo>
                  <a:lnTo>
                    <a:pt x="444803" y="187358"/>
                  </a:lnTo>
                  <a:lnTo>
                    <a:pt x="447674" y="216506"/>
                  </a:lnTo>
                  <a:lnTo>
                    <a:pt x="447674" y="223837"/>
                  </a:lnTo>
                  <a:lnTo>
                    <a:pt x="447674" y="231168"/>
                  </a:lnTo>
                  <a:lnTo>
                    <a:pt x="441943" y="274695"/>
                  </a:lnTo>
                  <a:lnTo>
                    <a:pt x="427830" y="316268"/>
                  </a:lnTo>
                  <a:lnTo>
                    <a:pt x="405878" y="354289"/>
                  </a:lnTo>
                  <a:lnTo>
                    <a:pt x="376930" y="387297"/>
                  </a:lnTo>
                  <a:lnTo>
                    <a:pt x="342098" y="414024"/>
                  </a:lnTo>
                  <a:lnTo>
                    <a:pt x="302723" y="433441"/>
                  </a:lnTo>
                  <a:lnTo>
                    <a:pt x="260315" y="444803"/>
                  </a:lnTo>
                  <a:lnTo>
                    <a:pt x="238481" y="447315"/>
                  </a:lnTo>
                  <a:lnTo>
                    <a:pt x="231167" y="447674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86469" y="4081742"/>
              <a:ext cx="183366" cy="211371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936852" y="4543297"/>
            <a:ext cx="4561205" cy="557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Scalability</a:t>
            </a: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Build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a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system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ready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for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real-</a:t>
            </a:r>
            <a:r>
              <a:rPr sz="115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world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smart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city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deployment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at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scale.</a:t>
            </a:r>
            <a:endParaRPr sz="11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spc="-114" dirty="0"/>
              <a:t>System</a:t>
            </a:r>
            <a:r>
              <a:rPr sz="2450" spc="-120" dirty="0"/>
              <a:t> </a:t>
            </a:r>
            <a:r>
              <a:rPr sz="2450" spc="-55" dirty="0"/>
              <a:t>Architecture</a:t>
            </a:r>
            <a:endParaRPr sz="24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926428"/>
            <a:ext cx="8533625" cy="47673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6800" y="5804954"/>
            <a:ext cx="779145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All</a:t>
            </a:r>
            <a:r>
              <a:rPr sz="9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five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modules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work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in</a:t>
            </a:r>
            <a:r>
              <a:rPr sz="9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concert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to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ensure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real-</a:t>
            </a:r>
            <a:r>
              <a:rPr sz="9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time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responsiveness,</a:t>
            </a:r>
            <a:r>
              <a:rPr sz="9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accurate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prediction,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and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efficient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collection</a:t>
            </a:r>
            <a:r>
              <a:rPr sz="9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routing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across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the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city.</a:t>
            </a:r>
            <a:endParaRPr sz="9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350" spc="-30" dirty="0"/>
              <a:t>Methodology</a:t>
            </a:r>
            <a:r>
              <a:rPr sz="2350" spc="-155" dirty="0"/>
              <a:t> </a:t>
            </a:r>
            <a:r>
              <a:rPr sz="2350" spc="-195" dirty="0"/>
              <a:t>&amp;</a:t>
            </a:r>
            <a:r>
              <a:rPr sz="2350" spc="-150" dirty="0"/>
              <a:t> </a:t>
            </a:r>
            <a:r>
              <a:rPr sz="2350" spc="-60" dirty="0"/>
              <a:t>Dataset</a:t>
            </a:r>
            <a:endParaRPr sz="2350"/>
          </a:p>
        </p:txBody>
      </p:sp>
      <p:sp>
        <p:nvSpPr>
          <p:cNvPr id="3" name="object 3"/>
          <p:cNvSpPr txBox="1"/>
          <p:nvPr/>
        </p:nvSpPr>
        <p:spPr>
          <a:xfrm>
            <a:off x="470331" y="994152"/>
            <a:ext cx="1684655" cy="499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0C0D0E"/>
                </a:solidFill>
                <a:latin typeface="Verdana"/>
                <a:cs typeface="Verdana"/>
              </a:rPr>
              <a:t>How</a:t>
            </a:r>
            <a:r>
              <a:rPr sz="1150" spc="-6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150" spc="-35" dirty="0">
                <a:solidFill>
                  <a:srgbClr val="0C0D0E"/>
                </a:solidFill>
                <a:latin typeface="Verdana"/>
                <a:cs typeface="Verdana"/>
              </a:rPr>
              <a:t>the</a:t>
            </a:r>
            <a:r>
              <a:rPr sz="1150" spc="-6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150" spc="-35" dirty="0">
                <a:solidFill>
                  <a:srgbClr val="0C0D0E"/>
                </a:solidFill>
                <a:latin typeface="Verdana"/>
                <a:cs typeface="Verdana"/>
              </a:rPr>
              <a:t>System</a:t>
            </a:r>
            <a:r>
              <a:rPr sz="1150" spc="-6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0C0D0E"/>
                </a:solidFill>
                <a:latin typeface="Verdana"/>
                <a:cs typeface="Verdana"/>
              </a:rPr>
              <a:t>Works</a:t>
            </a: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950" spc="-25" dirty="0">
                <a:solidFill>
                  <a:srgbClr val="545759"/>
                </a:solidFill>
                <a:latin typeface="Tahoma"/>
                <a:cs typeface="Tahoma"/>
              </a:rPr>
              <a:t>01</a:t>
            </a:r>
            <a:endParaRPr sz="9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3031" y="1525766"/>
            <a:ext cx="4393565" cy="15875"/>
          </a:xfrm>
          <a:custGeom>
            <a:avLst/>
            <a:gdLst/>
            <a:ahLst/>
            <a:cxnLst/>
            <a:rect l="l" t="t" r="r" b="b"/>
            <a:pathLst>
              <a:path w="4393565" h="15875">
                <a:moveTo>
                  <a:pt x="4393288" y="15334"/>
                </a:moveTo>
                <a:lnTo>
                  <a:pt x="0" y="15334"/>
                </a:lnTo>
                <a:lnTo>
                  <a:pt x="0" y="0"/>
                </a:lnTo>
                <a:lnTo>
                  <a:pt x="4393288" y="0"/>
                </a:lnTo>
                <a:lnTo>
                  <a:pt x="4393288" y="15334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0331" y="1599859"/>
            <a:ext cx="4192904" cy="699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45" dirty="0">
                <a:solidFill>
                  <a:srgbClr val="545759"/>
                </a:solidFill>
                <a:latin typeface="Verdana"/>
                <a:cs typeface="Verdana"/>
              </a:rPr>
              <a:t>Simulate</a:t>
            </a:r>
            <a:r>
              <a:rPr sz="1150" spc="-3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Verdana"/>
                <a:cs typeface="Verdana"/>
              </a:rPr>
              <a:t>Data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32400"/>
              </a:lnSpc>
              <a:spcBef>
                <a:spcPts val="865"/>
              </a:spcBef>
            </a:pPr>
            <a:r>
              <a:rPr sz="9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A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dataset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of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85" dirty="0">
                <a:solidFill>
                  <a:srgbClr val="545759"/>
                </a:solidFill>
                <a:latin typeface="Arial Black"/>
                <a:cs typeface="Arial Black"/>
              </a:rPr>
              <a:t>25</a:t>
            </a:r>
            <a:r>
              <a:rPr sz="950" spc="-9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950" spc="-60" dirty="0">
                <a:solidFill>
                  <a:srgbClr val="545759"/>
                </a:solidFill>
                <a:latin typeface="Arial Black"/>
                <a:cs typeface="Arial Black"/>
              </a:rPr>
              <a:t>bins</a:t>
            </a:r>
            <a:r>
              <a:rPr sz="950" spc="-9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across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markets,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hospitals,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residential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areas,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and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public </a:t>
            </a: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spaces</a:t>
            </a:r>
            <a:r>
              <a:rPr sz="9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is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loaded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with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current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50" dirty="0">
                <a:solidFill>
                  <a:srgbClr val="545759"/>
                </a:solidFill>
                <a:latin typeface="Lucida Sans Unicode"/>
                <a:cs typeface="Lucida Sans Unicode"/>
              </a:rPr>
              <a:t>fill</a:t>
            </a:r>
            <a:r>
              <a:rPr sz="9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percentages.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0331" y="2511716"/>
            <a:ext cx="17462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45" dirty="0">
                <a:solidFill>
                  <a:srgbClr val="545759"/>
                </a:solidFill>
                <a:latin typeface="Tahoma"/>
                <a:cs typeface="Tahoma"/>
              </a:rPr>
              <a:t>02</a:t>
            </a:r>
            <a:endParaRPr sz="9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3031" y="2714178"/>
            <a:ext cx="4393565" cy="15875"/>
          </a:xfrm>
          <a:custGeom>
            <a:avLst/>
            <a:gdLst/>
            <a:ahLst/>
            <a:cxnLst/>
            <a:rect l="l" t="t" r="r" b="b"/>
            <a:pathLst>
              <a:path w="4393565" h="15875">
                <a:moveTo>
                  <a:pt x="4393288" y="15334"/>
                </a:moveTo>
                <a:lnTo>
                  <a:pt x="0" y="15334"/>
                </a:lnTo>
                <a:lnTo>
                  <a:pt x="0" y="0"/>
                </a:lnTo>
                <a:lnTo>
                  <a:pt x="4393288" y="0"/>
                </a:lnTo>
                <a:lnTo>
                  <a:pt x="4393288" y="15334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0331" y="2788270"/>
            <a:ext cx="4298315" cy="699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545759"/>
                </a:solidFill>
                <a:latin typeface="Verdana"/>
                <a:cs typeface="Verdana"/>
              </a:rPr>
              <a:t>Predict</a:t>
            </a:r>
            <a:r>
              <a:rPr sz="1150" spc="-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Verdana"/>
                <a:cs typeface="Verdana"/>
              </a:rPr>
              <a:t>Fill</a:t>
            </a:r>
            <a:r>
              <a:rPr sz="1150" spc="-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Verdana"/>
                <a:cs typeface="Verdana"/>
              </a:rPr>
              <a:t>Levels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32400"/>
              </a:lnSpc>
              <a:spcBef>
                <a:spcPts val="865"/>
              </a:spcBef>
            </a:pP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Each</a:t>
            </a:r>
            <a:r>
              <a:rPr sz="9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bin's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50" dirty="0">
                <a:solidFill>
                  <a:srgbClr val="545759"/>
                </a:solidFill>
                <a:latin typeface="Lucida Sans Unicode"/>
                <a:cs typeface="Lucida Sans Unicode"/>
              </a:rPr>
              <a:t>fill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is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projected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forward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by</a:t>
            </a:r>
            <a:r>
              <a:rPr sz="9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14" dirty="0">
                <a:solidFill>
                  <a:srgbClr val="545759"/>
                </a:solidFill>
                <a:latin typeface="Arial Black"/>
                <a:cs typeface="Arial Black"/>
              </a:rPr>
              <a:t>+15%</a:t>
            </a:r>
            <a:r>
              <a:rPr sz="950" spc="-114" dirty="0">
                <a:solidFill>
                  <a:srgbClr val="545759"/>
                </a:solidFill>
                <a:latin typeface="Lucida Sans Unicode"/>
                <a:cs typeface="Lucida Sans Unicode"/>
              </a:rPr>
              <a:t>,</a:t>
            </a:r>
            <a:r>
              <a:rPr sz="9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capped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at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100%,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to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estimate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near-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future</a:t>
            </a:r>
            <a:r>
              <a:rPr sz="9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status.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331" y="3700127"/>
            <a:ext cx="17335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40" dirty="0">
                <a:solidFill>
                  <a:srgbClr val="545759"/>
                </a:solidFill>
                <a:latin typeface="Tahoma"/>
                <a:cs typeface="Tahoma"/>
              </a:rPr>
              <a:t>03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3031" y="3902589"/>
            <a:ext cx="4393565" cy="15875"/>
          </a:xfrm>
          <a:custGeom>
            <a:avLst/>
            <a:gdLst/>
            <a:ahLst/>
            <a:cxnLst/>
            <a:rect l="l" t="t" r="r" b="b"/>
            <a:pathLst>
              <a:path w="4393565" h="15875">
                <a:moveTo>
                  <a:pt x="4393288" y="15334"/>
                </a:moveTo>
                <a:lnTo>
                  <a:pt x="0" y="15334"/>
                </a:lnTo>
                <a:lnTo>
                  <a:pt x="0" y="0"/>
                </a:lnTo>
                <a:lnTo>
                  <a:pt x="4393288" y="0"/>
                </a:lnTo>
                <a:lnTo>
                  <a:pt x="4393288" y="15334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0331" y="3976682"/>
            <a:ext cx="4187825" cy="699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545759"/>
                </a:solidFill>
                <a:latin typeface="Verdana"/>
                <a:cs typeface="Verdana"/>
              </a:rPr>
              <a:t>Assign</a:t>
            </a:r>
            <a:r>
              <a:rPr sz="1150" spc="-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Verdana"/>
                <a:cs typeface="Verdana"/>
              </a:rPr>
              <a:t>Priority</a:t>
            </a: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Bins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with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complaints</a:t>
            </a:r>
            <a:r>
              <a:rPr sz="950" spc="-6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75" dirty="0">
                <a:solidFill>
                  <a:srgbClr val="545759"/>
                </a:solidFill>
                <a:latin typeface="Arial Black"/>
                <a:cs typeface="Arial Black"/>
              </a:rPr>
              <a:t>and</a:t>
            </a:r>
            <a:r>
              <a:rPr sz="950" spc="-8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predicted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50" dirty="0">
                <a:solidFill>
                  <a:srgbClr val="545759"/>
                </a:solidFill>
                <a:latin typeface="Lucida Sans Unicode"/>
                <a:cs typeface="Lucida Sans Unicode"/>
              </a:rPr>
              <a:t>fill</a:t>
            </a:r>
            <a:r>
              <a:rPr sz="9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≥80%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60" dirty="0">
                <a:solidFill>
                  <a:srgbClr val="545759"/>
                </a:solidFill>
                <a:latin typeface="Lucida Sans Unicode"/>
                <a:cs typeface="Lucida Sans Unicode"/>
              </a:rPr>
              <a:t>→</a:t>
            </a:r>
            <a:r>
              <a:rPr sz="9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0" dirty="0">
                <a:solidFill>
                  <a:srgbClr val="545759"/>
                </a:solidFill>
                <a:latin typeface="Arial Black"/>
                <a:cs typeface="Arial Black"/>
              </a:rPr>
              <a:t>Very</a:t>
            </a:r>
            <a:r>
              <a:rPr sz="950" spc="-9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950" spc="-60" dirty="0">
                <a:solidFill>
                  <a:srgbClr val="545759"/>
                </a:solidFill>
                <a:latin typeface="Arial Black"/>
                <a:cs typeface="Arial Black"/>
              </a:rPr>
              <a:t>High</a:t>
            </a:r>
            <a:r>
              <a:rPr sz="9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;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complaints</a:t>
            </a:r>
            <a:r>
              <a:rPr sz="9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or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fill</a:t>
            </a:r>
            <a:endParaRPr sz="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≥80%</a:t>
            </a:r>
            <a:r>
              <a:rPr sz="9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60" dirty="0">
                <a:solidFill>
                  <a:srgbClr val="545759"/>
                </a:solidFill>
                <a:latin typeface="Lucida Sans Unicode"/>
                <a:cs typeface="Lucida Sans Unicode"/>
              </a:rPr>
              <a:t>→</a:t>
            </a:r>
            <a:r>
              <a:rPr sz="9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60" dirty="0">
                <a:solidFill>
                  <a:srgbClr val="545759"/>
                </a:solidFill>
                <a:latin typeface="Arial Black"/>
                <a:cs typeface="Arial Black"/>
              </a:rPr>
              <a:t>High</a:t>
            </a:r>
            <a:r>
              <a:rPr sz="9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;</a:t>
            </a:r>
            <a:r>
              <a:rPr sz="9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otherwise</a:t>
            </a:r>
            <a:r>
              <a:rPr sz="9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60" dirty="0">
                <a:solidFill>
                  <a:srgbClr val="545759"/>
                </a:solidFill>
                <a:latin typeface="Lucida Sans Unicode"/>
                <a:cs typeface="Lucida Sans Unicode"/>
              </a:rPr>
              <a:t>→</a:t>
            </a:r>
            <a:r>
              <a:rPr sz="9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Arial Black"/>
                <a:cs typeface="Arial Black"/>
              </a:rPr>
              <a:t>Low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.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0331" y="4888539"/>
            <a:ext cx="17653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50" dirty="0">
                <a:solidFill>
                  <a:srgbClr val="545759"/>
                </a:solidFill>
                <a:latin typeface="Tahoma"/>
                <a:cs typeface="Tahoma"/>
              </a:rPr>
              <a:t>04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3031" y="5091001"/>
            <a:ext cx="4393565" cy="15875"/>
          </a:xfrm>
          <a:custGeom>
            <a:avLst/>
            <a:gdLst/>
            <a:ahLst/>
            <a:cxnLst/>
            <a:rect l="l" t="t" r="r" b="b"/>
            <a:pathLst>
              <a:path w="4393565" h="15875">
                <a:moveTo>
                  <a:pt x="4393288" y="15334"/>
                </a:moveTo>
                <a:lnTo>
                  <a:pt x="0" y="15334"/>
                </a:lnTo>
                <a:lnTo>
                  <a:pt x="0" y="0"/>
                </a:lnTo>
                <a:lnTo>
                  <a:pt x="4393288" y="0"/>
                </a:lnTo>
                <a:lnTo>
                  <a:pt x="4393288" y="15334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70331" y="5165094"/>
            <a:ext cx="4359275" cy="699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30" dirty="0">
                <a:solidFill>
                  <a:srgbClr val="545759"/>
                </a:solidFill>
                <a:latin typeface="Verdana"/>
                <a:cs typeface="Verdana"/>
              </a:rPr>
              <a:t>Generate</a:t>
            </a:r>
            <a:r>
              <a:rPr sz="1150" spc="-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Verdana"/>
                <a:cs typeface="Verdana"/>
              </a:rPr>
              <a:t>Route</a:t>
            </a:r>
            <a:endParaRPr sz="1150">
              <a:latin typeface="Verdana"/>
              <a:cs typeface="Verdana"/>
            </a:endParaRPr>
          </a:p>
          <a:p>
            <a:pPr marL="12700" marR="5080">
              <a:lnSpc>
                <a:spcPct val="137700"/>
              </a:lnSpc>
              <a:spcBef>
                <a:spcPts val="745"/>
              </a:spcBef>
            </a:pP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Bins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are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sorted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by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priority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and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an</a:t>
            </a:r>
            <a:r>
              <a:rPr sz="9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65" dirty="0">
                <a:solidFill>
                  <a:srgbClr val="545759"/>
                </a:solidFill>
                <a:latin typeface="Arial Black"/>
                <a:cs typeface="Arial Black"/>
              </a:rPr>
              <a:t>optimised</a:t>
            </a:r>
            <a:r>
              <a:rPr sz="950" spc="-9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950" spc="-65" dirty="0">
                <a:solidFill>
                  <a:srgbClr val="545759"/>
                </a:solidFill>
                <a:latin typeface="Arial Black"/>
                <a:cs typeface="Arial Black"/>
              </a:rPr>
              <a:t>collection</a:t>
            </a:r>
            <a:r>
              <a:rPr sz="950" spc="-9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950" spc="-75" dirty="0">
                <a:solidFill>
                  <a:srgbClr val="545759"/>
                </a:solidFill>
                <a:latin typeface="Arial Black"/>
                <a:cs typeface="Arial Black"/>
              </a:rPr>
              <a:t>sequence</a:t>
            </a:r>
            <a:r>
              <a:rPr sz="950" spc="-9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9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is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output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for </a:t>
            </a: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the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waste</a:t>
            </a:r>
            <a:r>
              <a:rPr sz="9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vehicle.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68870" y="994152"/>
            <a:ext cx="128460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30" dirty="0">
                <a:solidFill>
                  <a:srgbClr val="0C0D0E"/>
                </a:solidFill>
                <a:latin typeface="Verdana"/>
                <a:cs typeface="Verdana"/>
              </a:rPr>
              <a:t>Dataset</a:t>
            </a:r>
            <a:r>
              <a:rPr sz="1150" spc="-6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150" spc="-10" dirty="0">
                <a:solidFill>
                  <a:srgbClr val="0C0D0E"/>
                </a:solidFill>
                <a:latin typeface="Verdana"/>
                <a:cs typeface="Verdana"/>
              </a:rPr>
              <a:t>Snapshot</a:t>
            </a:r>
            <a:endParaRPr sz="11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83007" y="1341754"/>
            <a:ext cx="3542665" cy="3580765"/>
            <a:chOff x="5183007" y="1341754"/>
            <a:chExt cx="3542665" cy="3580765"/>
          </a:xfrm>
        </p:grpSpPr>
        <p:sp>
          <p:nvSpPr>
            <p:cNvPr id="17" name="object 17"/>
            <p:cNvSpPr/>
            <p:nvPr/>
          </p:nvSpPr>
          <p:spPr>
            <a:xfrm>
              <a:off x="5186840" y="1345588"/>
              <a:ext cx="3535045" cy="3573145"/>
            </a:xfrm>
            <a:custGeom>
              <a:avLst/>
              <a:gdLst/>
              <a:ahLst/>
              <a:cxnLst/>
              <a:rect l="l" t="t" r="r" b="b"/>
              <a:pathLst>
                <a:path w="3535045" h="3573145">
                  <a:moveTo>
                    <a:pt x="0" y="3486166"/>
                  </a:moveTo>
                  <a:lnTo>
                    <a:pt x="0" y="86734"/>
                  </a:lnTo>
                  <a:lnTo>
                    <a:pt x="0" y="81039"/>
                  </a:lnTo>
                  <a:lnTo>
                    <a:pt x="555" y="75399"/>
                  </a:lnTo>
                  <a:lnTo>
                    <a:pt x="1665" y="69813"/>
                  </a:lnTo>
                  <a:lnTo>
                    <a:pt x="2776" y="64227"/>
                  </a:lnTo>
                  <a:lnTo>
                    <a:pt x="4422" y="58804"/>
                  </a:lnTo>
                  <a:lnTo>
                    <a:pt x="6601" y="53542"/>
                  </a:lnTo>
                  <a:lnTo>
                    <a:pt x="8780" y="48281"/>
                  </a:lnTo>
                  <a:lnTo>
                    <a:pt x="11452" y="43282"/>
                  </a:lnTo>
                  <a:lnTo>
                    <a:pt x="14616" y="38547"/>
                  </a:lnTo>
                  <a:lnTo>
                    <a:pt x="17780" y="33812"/>
                  </a:lnTo>
                  <a:lnTo>
                    <a:pt x="38546" y="14617"/>
                  </a:lnTo>
                  <a:lnTo>
                    <a:pt x="43282" y="11453"/>
                  </a:lnTo>
                  <a:lnTo>
                    <a:pt x="48280" y="8781"/>
                  </a:lnTo>
                  <a:lnTo>
                    <a:pt x="53542" y="6602"/>
                  </a:lnTo>
                  <a:lnTo>
                    <a:pt x="58803" y="4422"/>
                  </a:lnTo>
                  <a:lnTo>
                    <a:pt x="64227" y="2777"/>
                  </a:lnTo>
                  <a:lnTo>
                    <a:pt x="69813" y="1666"/>
                  </a:lnTo>
                  <a:lnTo>
                    <a:pt x="75399" y="555"/>
                  </a:lnTo>
                  <a:lnTo>
                    <a:pt x="81039" y="0"/>
                  </a:lnTo>
                  <a:lnTo>
                    <a:pt x="86734" y="0"/>
                  </a:lnTo>
                  <a:lnTo>
                    <a:pt x="3447830" y="0"/>
                  </a:lnTo>
                  <a:lnTo>
                    <a:pt x="3453525" y="0"/>
                  </a:lnTo>
                  <a:lnTo>
                    <a:pt x="3459164" y="555"/>
                  </a:lnTo>
                  <a:lnTo>
                    <a:pt x="3496017" y="14617"/>
                  </a:lnTo>
                  <a:lnTo>
                    <a:pt x="3500753" y="17781"/>
                  </a:lnTo>
                  <a:lnTo>
                    <a:pt x="3519947" y="38547"/>
                  </a:lnTo>
                  <a:lnTo>
                    <a:pt x="3523111" y="43282"/>
                  </a:lnTo>
                  <a:lnTo>
                    <a:pt x="3525782" y="48281"/>
                  </a:lnTo>
                  <a:lnTo>
                    <a:pt x="3527962" y="53542"/>
                  </a:lnTo>
                  <a:lnTo>
                    <a:pt x="3530142" y="58804"/>
                  </a:lnTo>
                  <a:lnTo>
                    <a:pt x="3531787" y="64227"/>
                  </a:lnTo>
                  <a:lnTo>
                    <a:pt x="3532898" y="69813"/>
                  </a:lnTo>
                  <a:lnTo>
                    <a:pt x="3534009" y="75399"/>
                  </a:lnTo>
                  <a:lnTo>
                    <a:pt x="3534565" y="81039"/>
                  </a:lnTo>
                  <a:lnTo>
                    <a:pt x="3534565" y="86734"/>
                  </a:lnTo>
                  <a:lnTo>
                    <a:pt x="3534565" y="3486166"/>
                  </a:lnTo>
                  <a:lnTo>
                    <a:pt x="3534565" y="3491861"/>
                  </a:lnTo>
                  <a:lnTo>
                    <a:pt x="3534009" y="3497501"/>
                  </a:lnTo>
                  <a:lnTo>
                    <a:pt x="3532898" y="3503086"/>
                  </a:lnTo>
                  <a:lnTo>
                    <a:pt x="3531787" y="3508672"/>
                  </a:lnTo>
                  <a:lnTo>
                    <a:pt x="3530142" y="3514096"/>
                  </a:lnTo>
                  <a:lnTo>
                    <a:pt x="3527962" y="3519357"/>
                  </a:lnTo>
                  <a:lnTo>
                    <a:pt x="3525782" y="3524619"/>
                  </a:lnTo>
                  <a:lnTo>
                    <a:pt x="3523111" y="3529617"/>
                  </a:lnTo>
                  <a:lnTo>
                    <a:pt x="3519947" y="3534353"/>
                  </a:lnTo>
                  <a:lnTo>
                    <a:pt x="3516782" y="3539088"/>
                  </a:lnTo>
                  <a:lnTo>
                    <a:pt x="3486283" y="3564119"/>
                  </a:lnTo>
                  <a:lnTo>
                    <a:pt x="3481021" y="3566298"/>
                  </a:lnTo>
                  <a:lnTo>
                    <a:pt x="3475760" y="3568477"/>
                  </a:lnTo>
                  <a:lnTo>
                    <a:pt x="3447830" y="3572901"/>
                  </a:lnTo>
                  <a:lnTo>
                    <a:pt x="86734" y="3572901"/>
                  </a:lnTo>
                  <a:lnTo>
                    <a:pt x="53542" y="3566298"/>
                  </a:lnTo>
                  <a:lnTo>
                    <a:pt x="48280" y="3564119"/>
                  </a:lnTo>
                  <a:lnTo>
                    <a:pt x="43282" y="3561447"/>
                  </a:lnTo>
                  <a:lnTo>
                    <a:pt x="38546" y="3558283"/>
                  </a:lnTo>
                  <a:lnTo>
                    <a:pt x="33811" y="3555119"/>
                  </a:lnTo>
                  <a:lnTo>
                    <a:pt x="29430" y="3551523"/>
                  </a:lnTo>
                  <a:lnTo>
                    <a:pt x="25403" y="3547496"/>
                  </a:lnTo>
                  <a:lnTo>
                    <a:pt x="21376" y="3543470"/>
                  </a:lnTo>
                  <a:lnTo>
                    <a:pt x="17780" y="3539088"/>
                  </a:lnTo>
                  <a:lnTo>
                    <a:pt x="14616" y="3534352"/>
                  </a:lnTo>
                  <a:lnTo>
                    <a:pt x="11452" y="3529617"/>
                  </a:lnTo>
                  <a:lnTo>
                    <a:pt x="8780" y="3524619"/>
                  </a:lnTo>
                  <a:lnTo>
                    <a:pt x="6601" y="3519357"/>
                  </a:lnTo>
                  <a:lnTo>
                    <a:pt x="4422" y="3514096"/>
                  </a:lnTo>
                  <a:lnTo>
                    <a:pt x="2776" y="3508672"/>
                  </a:lnTo>
                  <a:lnTo>
                    <a:pt x="1665" y="3503086"/>
                  </a:lnTo>
                  <a:lnTo>
                    <a:pt x="555" y="3497501"/>
                  </a:lnTo>
                  <a:lnTo>
                    <a:pt x="0" y="3491861"/>
                  </a:lnTo>
                  <a:lnTo>
                    <a:pt x="0" y="3486166"/>
                  </a:lnTo>
                  <a:close/>
                </a:path>
              </a:pathLst>
            </a:custGeom>
            <a:ln w="76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90667" y="1349425"/>
              <a:ext cx="3527425" cy="544830"/>
            </a:xfrm>
            <a:custGeom>
              <a:avLst/>
              <a:gdLst/>
              <a:ahLst/>
              <a:cxnLst/>
              <a:rect l="l" t="t" r="r" b="b"/>
              <a:pathLst>
                <a:path w="3527425" h="544830">
                  <a:moveTo>
                    <a:pt x="628713" y="0"/>
                  </a:moveTo>
                  <a:lnTo>
                    <a:pt x="90563" y="0"/>
                  </a:lnTo>
                  <a:lnTo>
                    <a:pt x="81648" y="431"/>
                  </a:lnTo>
                  <a:lnTo>
                    <a:pt x="40246" y="15252"/>
                  </a:lnTo>
                  <a:lnTo>
                    <a:pt x="10706" y="47828"/>
                  </a:lnTo>
                  <a:lnTo>
                    <a:pt x="0" y="90576"/>
                  </a:lnTo>
                  <a:lnTo>
                    <a:pt x="0" y="544372"/>
                  </a:lnTo>
                  <a:lnTo>
                    <a:pt x="628713" y="544372"/>
                  </a:lnTo>
                  <a:lnTo>
                    <a:pt x="628713" y="0"/>
                  </a:lnTo>
                  <a:close/>
                </a:path>
                <a:path w="3527425" h="544830">
                  <a:moveTo>
                    <a:pt x="1832457" y="0"/>
                  </a:moveTo>
                  <a:lnTo>
                    <a:pt x="636371" y="0"/>
                  </a:lnTo>
                  <a:lnTo>
                    <a:pt x="636371" y="544372"/>
                  </a:lnTo>
                  <a:lnTo>
                    <a:pt x="1832457" y="544372"/>
                  </a:lnTo>
                  <a:lnTo>
                    <a:pt x="1832457" y="0"/>
                  </a:lnTo>
                  <a:close/>
                </a:path>
                <a:path w="3527425" h="544830">
                  <a:moveTo>
                    <a:pt x="2675839" y="0"/>
                  </a:moveTo>
                  <a:lnTo>
                    <a:pt x="1840115" y="0"/>
                  </a:lnTo>
                  <a:lnTo>
                    <a:pt x="1840115" y="544372"/>
                  </a:lnTo>
                  <a:lnTo>
                    <a:pt x="2675839" y="544372"/>
                  </a:lnTo>
                  <a:lnTo>
                    <a:pt x="2675839" y="0"/>
                  </a:lnTo>
                  <a:close/>
                </a:path>
                <a:path w="3527425" h="544830">
                  <a:moveTo>
                    <a:pt x="3526904" y="90576"/>
                  </a:moveTo>
                  <a:lnTo>
                    <a:pt x="3516185" y="47828"/>
                  </a:lnTo>
                  <a:lnTo>
                    <a:pt x="3486658" y="15252"/>
                  </a:lnTo>
                  <a:lnTo>
                    <a:pt x="3445256" y="431"/>
                  </a:lnTo>
                  <a:lnTo>
                    <a:pt x="3436328" y="0"/>
                  </a:lnTo>
                  <a:lnTo>
                    <a:pt x="2683510" y="0"/>
                  </a:lnTo>
                  <a:lnTo>
                    <a:pt x="2683510" y="544372"/>
                  </a:lnTo>
                  <a:lnTo>
                    <a:pt x="3526904" y="544372"/>
                  </a:lnTo>
                  <a:lnTo>
                    <a:pt x="3526904" y="90576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90667" y="1893798"/>
              <a:ext cx="3527425" cy="353060"/>
            </a:xfrm>
            <a:custGeom>
              <a:avLst/>
              <a:gdLst/>
              <a:ahLst/>
              <a:cxnLst/>
              <a:rect l="l" t="t" r="r" b="b"/>
              <a:pathLst>
                <a:path w="3527425" h="353060">
                  <a:moveTo>
                    <a:pt x="628713" y="0"/>
                  </a:moveTo>
                  <a:lnTo>
                    <a:pt x="0" y="0"/>
                  </a:lnTo>
                  <a:lnTo>
                    <a:pt x="0" y="352691"/>
                  </a:lnTo>
                  <a:lnTo>
                    <a:pt x="628713" y="352691"/>
                  </a:lnTo>
                  <a:lnTo>
                    <a:pt x="628713" y="0"/>
                  </a:lnTo>
                  <a:close/>
                </a:path>
                <a:path w="3527425" h="353060">
                  <a:moveTo>
                    <a:pt x="1832457" y="0"/>
                  </a:moveTo>
                  <a:lnTo>
                    <a:pt x="636371" y="0"/>
                  </a:lnTo>
                  <a:lnTo>
                    <a:pt x="636371" y="352691"/>
                  </a:lnTo>
                  <a:lnTo>
                    <a:pt x="1832457" y="352691"/>
                  </a:lnTo>
                  <a:lnTo>
                    <a:pt x="1832457" y="0"/>
                  </a:lnTo>
                  <a:close/>
                </a:path>
                <a:path w="3527425" h="353060">
                  <a:moveTo>
                    <a:pt x="2675839" y="0"/>
                  </a:moveTo>
                  <a:lnTo>
                    <a:pt x="1840115" y="0"/>
                  </a:lnTo>
                  <a:lnTo>
                    <a:pt x="1840115" y="352691"/>
                  </a:lnTo>
                  <a:lnTo>
                    <a:pt x="2675839" y="352691"/>
                  </a:lnTo>
                  <a:lnTo>
                    <a:pt x="2675839" y="0"/>
                  </a:lnTo>
                  <a:close/>
                </a:path>
                <a:path w="3527425" h="353060">
                  <a:moveTo>
                    <a:pt x="3526904" y="0"/>
                  </a:moveTo>
                  <a:lnTo>
                    <a:pt x="2683510" y="0"/>
                  </a:lnTo>
                  <a:lnTo>
                    <a:pt x="2683510" y="352691"/>
                  </a:lnTo>
                  <a:lnTo>
                    <a:pt x="3526904" y="352691"/>
                  </a:lnTo>
                  <a:lnTo>
                    <a:pt x="3526904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90667" y="2246490"/>
              <a:ext cx="3527425" cy="353060"/>
            </a:xfrm>
            <a:custGeom>
              <a:avLst/>
              <a:gdLst/>
              <a:ahLst/>
              <a:cxnLst/>
              <a:rect l="l" t="t" r="r" b="b"/>
              <a:pathLst>
                <a:path w="3527425" h="353060">
                  <a:moveTo>
                    <a:pt x="628713" y="0"/>
                  </a:moveTo>
                  <a:lnTo>
                    <a:pt x="0" y="0"/>
                  </a:lnTo>
                  <a:lnTo>
                    <a:pt x="0" y="352691"/>
                  </a:lnTo>
                  <a:lnTo>
                    <a:pt x="628713" y="352691"/>
                  </a:lnTo>
                  <a:lnTo>
                    <a:pt x="628713" y="0"/>
                  </a:lnTo>
                  <a:close/>
                </a:path>
                <a:path w="3527425" h="353060">
                  <a:moveTo>
                    <a:pt x="1832457" y="0"/>
                  </a:moveTo>
                  <a:lnTo>
                    <a:pt x="636371" y="0"/>
                  </a:lnTo>
                  <a:lnTo>
                    <a:pt x="636371" y="352691"/>
                  </a:lnTo>
                  <a:lnTo>
                    <a:pt x="1832457" y="352691"/>
                  </a:lnTo>
                  <a:lnTo>
                    <a:pt x="1832457" y="0"/>
                  </a:lnTo>
                  <a:close/>
                </a:path>
                <a:path w="3527425" h="353060">
                  <a:moveTo>
                    <a:pt x="2675839" y="0"/>
                  </a:moveTo>
                  <a:lnTo>
                    <a:pt x="1840115" y="0"/>
                  </a:lnTo>
                  <a:lnTo>
                    <a:pt x="1840115" y="352691"/>
                  </a:lnTo>
                  <a:lnTo>
                    <a:pt x="2675839" y="352691"/>
                  </a:lnTo>
                  <a:lnTo>
                    <a:pt x="2675839" y="0"/>
                  </a:lnTo>
                  <a:close/>
                </a:path>
                <a:path w="3527425" h="353060">
                  <a:moveTo>
                    <a:pt x="3526904" y="0"/>
                  </a:moveTo>
                  <a:lnTo>
                    <a:pt x="2683510" y="0"/>
                  </a:lnTo>
                  <a:lnTo>
                    <a:pt x="2683510" y="352691"/>
                  </a:lnTo>
                  <a:lnTo>
                    <a:pt x="3526904" y="352691"/>
                  </a:lnTo>
                  <a:lnTo>
                    <a:pt x="3526904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90667" y="2599181"/>
              <a:ext cx="3527425" cy="353060"/>
            </a:xfrm>
            <a:custGeom>
              <a:avLst/>
              <a:gdLst/>
              <a:ahLst/>
              <a:cxnLst/>
              <a:rect l="l" t="t" r="r" b="b"/>
              <a:pathLst>
                <a:path w="3527425" h="353060">
                  <a:moveTo>
                    <a:pt x="628713" y="0"/>
                  </a:moveTo>
                  <a:lnTo>
                    <a:pt x="0" y="0"/>
                  </a:lnTo>
                  <a:lnTo>
                    <a:pt x="0" y="352679"/>
                  </a:lnTo>
                  <a:lnTo>
                    <a:pt x="628713" y="352679"/>
                  </a:lnTo>
                  <a:lnTo>
                    <a:pt x="628713" y="0"/>
                  </a:lnTo>
                  <a:close/>
                </a:path>
                <a:path w="3527425" h="353060">
                  <a:moveTo>
                    <a:pt x="1832457" y="0"/>
                  </a:moveTo>
                  <a:lnTo>
                    <a:pt x="636371" y="0"/>
                  </a:lnTo>
                  <a:lnTo>
                    <a:pt x="636371" y="352679"/>
                  </a:lnTo>
                  <a:lnTo>
                    <a:pt x="1832457" y="352679"/>
                  </a:lnTo>
                  <a:lnTo>
                    <a:pt x="1832457" y="0"/>
                  </a:lnTo>
                  <a:close/>
                </a:path>
                <a:path w="3527425" h="353060">
                  <a:moveTo>
                    <a:pt x="2675839" y="0"/>
                  </a:moveTo>
                  <a:lnTo>
                    <a:pt x="1840115" y="0"/>
                  </a:lnTo>
                  <a:lnTo>
                    <a:pt x="1840115" y="352679"/>
                  </a:lnTo>
                  <a:lnTo>
                    <a:pt x="2675839" y="352679"/>
                  </a:lnTo>
                  <a:lnTo>
                    <a:pt x="2675839" y="0"/>
                  </a:lnTo>
                  <a:close/>
                </a:path>
                <a:path w="3527425" h="353060">
                  <a:moveTo>
                    <a:pt x="3526904" y="0"/>
                  </a:moveTo>
                  <a:lnTo>
                    <a:pt x="2683510" y="0"/>
                  </a:lnTo>
                  <a:lnTo>
                    <a:pt x="2683510" y="352679"/>
                  </a:lnTo>
                  <a:lnTo>
                    <a:pt x="3526904" y="352679"/>
                  </a:lnTo>
                  <a:lnTo>
                    <a:pt x="3526904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90667" y="2951860"/>
              <a:ext cx="3527425" cy="353060"/>
            </a:xfrm>
            <a:custGeom>
              <a:avLst/>
              <a:gdLst/>
              <a:ahLst/>
              <a:cxnLst/>
              <a:rect l="l" t="t" r="r" b="b"/>
              <a:pathLst>
                <a:path w="3527425" h="353060">
                  <a:moveTo>
                    <a:pt x="628713" y="0"/>
                  </a:moveTo>
                  <a:lnTo>
                    <a:pt x="0" y="0"/>
                  </a:lnTo>
                  <a:lnTo>
                    <a:pt x="0" y="352691"/>
                  </a:lnTo>
                  <a:lnTo>
                    <a:pt x="628713" y="352691"/>
                  </a:lnTo>
                  <a:lnTo>
                    <a:pt x="628713" y="0"/>
                  </a:lnTo>
                  <a:close/>
                </a:path>
                <a:path w="3527425" h="353060">
                  <a:moveTo>
                    <a:pt x="1832457" y="0"/>
                  </a:moveTo>
                  <a:lnTo>
                    <a:pt x="636371" y="0"/>
                  </a:lnTo>
                  <a:lnTo>
                    <a:pt x="636371" y="352691"/>
                  </a:lnTo>
                  <a:lnTo>
                    <a:pt x="1832457" y="352691"/>
                  </a:lnTo>
                  <a:lnTo>
                    <a:pt x="1832457" y="0"/>
                  </a:lnTo>
                  <a:close/>
                </a:path>
                <a:path w="3527425" h="353060">
                  <a:moveTo>
                    <a:pt x="2675839" y="0"/>
                  </a:moveTo>
                  <a:lnTo>
                    <a:pt x="1840115" y="0"/>
                  </a:lnTo>
                  <a:lnTo>
                    <a:pt x="1840115" y="352691"/>
                  </a:lnTo>
                  <a:lnTo>
                    <a:pt x="2675839" y="352691"/>
                  </a:lnTo>
                  <a:lnTo>
                    <a:pt x="2675839" y="0"/>
                  </a:lnTo>
                  <a:close/>
                </a:path>
                <a:path w="3527425" h="353060">
                  <a:moveTo>
                    <a:pt x="3526904" y="0"/>
                  </a:moveTo>
                  <a:lnTo>
                    <a:pt x="2683510" y="0"/>
                  </a:lnTo>
                  <a:lnTo>
                    <a:pt x="2683510" y="352691"/>
                  </a:lnTo>
                  <a:lnTo>
                    <a:pt x="3526904" y="352691"/>
                  </a:lnTo>
                  <a:lnTo>
                    <a:pt x="3526904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90667" y="3304552"/>
              <a:ext cx="3527425" cy="544830"/>
            </a:xfrm>
            <a:custGeom>
              <a:avLst/>
              <a:gdLst/>
              <a:ahLst/>
              <a:cxnLst/>
              <a:rect l="l" t="t" r="r" b="b"/>
              <a:pathLst>
                <a:path w="3527425" h="544829">
                  <a:moveTo>
                    <a:pt x="628713" y="0"/>
                  </a:moveTo>
                  <a:lnTo>
                    <a:pt x="0" y="0"/>
                  </a:lnTo>
                  <a:lnTo>
                    <a:pt x="0" y="544372"/>
                  </a:lnTo>
                  <a:lnTo>
                    <a:pt x="628713" y="544372"/>
                  </a:lnTo>
                  <a:lnTo>
                    <a:pt x="628713" y="0"/>
                  </a:lnTo>
                  <a:close/>
                </a:path>
                <a:path w="3527425" h="544829">
                  <a:moveTo>
                    <a:pt x="1832457" y="0"/>
                  </a:moveTo>
                  <a:lnTo>
                    <a:pt x="636371" y="0"/>
                  </a:lnTo>
                  <a:lnTo>
                    <a:pt x="636371" y="544372"/>
                  </a:lnTo>
                  <a:lnTo>
                    <a:pt x="1832457" y="544372"/>
                  </a:lnTo>
                  <a:lnTo>
                    <a:pt x="1832457" y="0"/>
                  </a:lnTo>
                  <a:close/>
                </a:path>
                <a:path w="3527425" h="544829">
                  <a:moveTo>
                    <a:pt x="2675839" y="0"/>
                  </a:moveTo>
                  <a:lnTo>
                    <a:pt x="1840115" y="0"/>
                  </a:lnTo>
                  <a:lnTo>
                    <a:pt x="1840115" y="544372"/>
                  </a:lnTo>
                  <a:lnTo>
                    <a:pt x="2675839" y="544372"/>
                  </a:lnTo>
                  <a:lnTo>
                    <a:pt x="2675839" y="0"/>
                  </a:lnTo>
                  <a:close/>
                </a:path>
                <a:path w="3527425" h="544829">
                  <a:moveTo>
                    <a:pt x="3526904" y="0"/>
                  </a:moveTo>
                  <a:lnTo>
                    <a:pt x="2683510" y="0"/>
                  </a:lnTo>
                  <a:lnTo>
                    <a:pt x="2683510" y="544372"/>
                  </a:lnTo>
                  <a:lnTo>
                    <a:pt x="3526904" y="544372"/>
                  </a:lnTo>
                  <a:lnTo>
                    <a:pt x="3526904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90667" y="3848925"/>
              <a:ext cx="3527425" cy="353060"/>
            </a:xfrm>
            <a:custGeom>
              <a:avLst/>
              <a:gdLst/>
              <a:ahLst/>
              <a:cxnLst/>
              <a:rect l="l" t="t" r="r" b="b"/>
              <a:pathLst>
                <a:path w="3527425" h="353060">
                  <a:moveTo>
                    <a:pt x="628713" y="0"/>
                  </a:moveTo>
                  <a:lnTo>
                    <a:pt x="0" y="0"/>
                  </a:lnTo>
                  <a:lnTo>
                    <a:pt x="0" y="352691"/>
                  </a:lnTo>
                  <a:lnTo>
                    <a:pt x="628713" y="352691"/>
                  </a:lnTo>
                  <a:lnTo>
                    <a:pt x="628713" y="0"/>
                  </a:lnTo>
                  <a:close/>
                </a:path>
                <a:path w="3527425" h="353060">
                  <a:moveTo>
                    <a:pt x="1832457" y="0"/>
                  </a:moveTo>
                  <a:lnTo>
                    <a:pt x="636371" y="0"/>
                  </a:lnTo>
                  <a:lnTo>
                    <a:pt x="636371" y="352691"/>
                  </a:lnTo>
                  <a:lnTo>
                    <a:pt x="1832457" y="352691"/>
                  </a:lnTo>
                  <a:lnTo>
                    <a:pt x="1832457" y="0"/>
                  </a:lnTo>
                  <a:close/>
                </a:path>
                <a:path w="3527425" h="353060">
                  <a:moveTo>
                    <a:pt x="2675839" y="0"/>
                  </a:moveTo>
                  <a:lnTo>
                    <a:pt x="1840115" y="0"/>
                  </a:lnTo>
                  <a:lnTo>
                    <a:pt x="1840115" y="352691"/>
                  </a:lnTo>
                  <a:lnTo>
                    <a:pt x="2675839" y="352691"/>
                  </a:lnTo>
                  <a:lnTo>
                    <a:pt x="2675839" y="0"/>
                  </a:lnTo>
                  <a:close/>
                </a:path>
                <a:path w="3527425" h="353060">
                  <a:moveTo>
                    <a:pt x="3526904" y="0"/>
                  </a:moveTo>
                  <a:lnTo>
                    <a:pt x="2683510" y="0"/>
                  </a:lnTo>
                  <a:lnTo>
                    <a:pt x="2683510" y="352691"/>
                  </a:lnTo>
                  <a:lnTo>
                    <a:pt x="3526904" y="352691"/>
                  </a:lnTo>
                  <a:lnTo>
                    <a:pt x="3526904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90667" y="4201616"/>
              <a:ext cx="3527425" cy="353060"/>
            </a:xfrm>
            <a:custGeom>
              <a:avLst/>
              <a:gdLst/>
              <a:ahLst/>
              <a:cxnLst/>
              <a:rect l="l" t="t" r="r" b="b"/>
              <a:pathLst>
                <a:path w="3527425" h="353060">
                  <a:moveTo>
                    <a:pt x="628713" y="0"/>
                  </a:moveTo>
                  <a:lnTo>
                    <a:pt x="0" y="0"/>
                  </a:lnTo>
                  <a:lnTo>
                    <a:pt x="0" y="352691"/>
                  </a:lnTo>
                  <a:lnTo>
                    <a:pt x="628713" y="352691"/>
                  </a:lnTo>
                  <a:lnTo>
                    <a:pt x="628713" y="0"/>
                  </a:lnTo>
                  <a:close/>
                </a:path>
                <a:path w="3527425" h="353060">
                  <a:moveTo>
                    <a:pt x="1832457" y="0"/>
                  </a:moveTo>
                  <a:lnTo>
                    <a:pt x="636371" y="0"/>
                  </a:lnTo>
                  <a:lnTo>
                    <a:pt x="636371" y="352691"/>
                  </a:lnTo>
                  <a:lnTo>
                    <a:pt x="1832457" y="352691"/>
                  </a:lnTo>
                  <a:lnTo>
                    <a:pt x="1832457" y="0"/>
                  </a:lnTo>
                  <a:close/>
                </a:path>
                <a:path w="3527425" h="353060">
                  <a:moveTo>
                    <a:pt x="2675839" y="0"/>
                  </a:moveTo>
                  <a:lnTo>
                    <a:pt x="1840115" y="0"/>
                  </a:lnTo>
                  <a:lnTo>
                    <a:pt x="1840115" y="352691"/>
                  </a:lnTo>
                  <a:lnTo>
                    <a:pt x="2675839" y="352691"/>
                  </a:lnTo>
                  <a:lnTo>
                    <a:pt x="2675839" y="0"/>
                  </a:lnTo>
                  <a:close/>
                </a:path>
                <a:path w="3527425" h="353060">
                  <a:moveTo>
                    <a:pt x="3526904" y="0"/>
                  </a:moveTo>
                  <a:lnTo>
                    <a:pt x="2683510" y="0"/>
                  </a:lnTo>
                  <a:lnTo>
                    <a:pt x="2683510" y="352691"/>
                  </a:lnTo>
                  <a:lnTo>
                    <a:pt x="3526904" y="352691"/>
                  </a:lnTo>
                  <a:lnTo>
                    <a:pt x="3526904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90667" y="4554308"/>
              <a:ext cx="3527425" cy="360680"/>
            </a:xfrm>
            <a:custGeom>
              <a:avLst/>
              <a:gdLst/>
              <a:ahLst/>
              <a:cxnLst/>
              <a:rect l="l" t="t" r="r" b="b"/>
              <a:pathLst>
                <a:path w="3527425" h="360679">
                  <a:moveTo>
                    <a:pt x="628713" y="0"/>
                  </a:moveTo>
                  <a:lnTo>
                    <a:pt x="0" y="0"/>
                  </a:lnTo>
                  <a:lnTo>
                    <a:pt x="0" y="269786"/>
                  </a:lnTo>
                  <a:lnTo>
                    <a:pt x="10706" y="312521"/>
                  </a:lnTo>
                  <a:lnTo>
                    <a:pt x="40246" y="345109"/>
                  </a:lnTo>
                  <a:lnTo>
                    <a:pt x="81648" y="359918"/>
                  </a:lnTo>
                  <a:lnTo>
                    <a:pt x="90563" y="360349"/>
                  </a:lnTo>
                  <a:lnTo>
                    <a:pt x="628713" y="360349"/>
                  </a:lnTo>
                  <a:lnTo>
                    <a:pt x="628713" y="0"/>
                  </a:lnTo>
                  <a:close/>
                </a:path>
                <a:path w="3527425" h="360679">
                  <a:moveTo>
                    <a:pt x="1832457" y="0"/>
                  </a:moveTo>
                  <a:lnTo>
                    <a:pt x="636371" y="0"/>
                  </a:lnTo>
                  <a:lnTo>
                    <a:pt x="636371" y="360349"/>
                  </a:lnTo>
                  <a:lnTo>
                    <a:pt x="1832457" y="360349"/>
                  </a:lnTo>
                  <a:lnTo>
                    <a:pt x="1832457" y="0"/>
                  </a:lnTo>
                  <a:close/>
                </a:path>
                <a:path w="3527425" h="360679">
                  <a:moveTo>
                    <a:pt x="2675839" y="0"/>
                  </a:moveTo>
                  <a:lnTo>
                    <a:pt x="1840115" y="0"/>
                  </a:lnTo>
                  <a:lnTo>
                    <a:pt x="1840115" y="360349"/>
                  </a:lnTo>
                  <a:lnTo>
                    <a:pt x="2675839" y="360349"/>
                  </a:lnTo>
                  <a:lnTo>
                    <a:pt x="2675839" y="0"/>
                  </a:lnTo>
                  <a:close/>
                </a:path>
                <a:path w="3527425" h="360679">
                  <a:moveTo>
                    <a:pt x="3526904" y="0"/>
                  </a:moveTo>
                  <a:lnTo>
                    <a:pt x="2683510" y="0"/>
                  </a:lnTo>
                  <a:lnTo>
                    <a:pt x="2683510" y="360349"/>
                  </a:lnTo>
                  <a:lnTo>
                    <a:pt x="3436328" y="360349"/>
                  </a:lnTo>
                  <a:lnTo>
                    <a:pt x="3445256" y="359918"/>
                  </a:lnTo>
                  <a:lnTo>
                    <a:pt x="3486658" y="345109"/>
                  </a:lnTo>
                  <a:lnTo>
                    <a:pt x="3516185" y="312521"/>
                  </a:lnTo>
                  <a:lnTo>
                    <a:pt x="3526904" y="269786"/>
                  </a:lnTo>
                  <a:lnTo>
                    <a:pt x="3526904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297415" y="1430645"/>
            <a:ext cx="35369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85" dirty="0">
                <a:solidFill>
                  <a:srgbClr val="545759"/>
                </a:solidFill>
                <a:latin typeface="Arial Black"/>
                <a:cs typeface="Arial Black"/>
              </a:rPr>
              <a:t>Bin</a:t>
            </a:r>
            <a:r>
              <a:rPr sz="950" spc="-11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950" spc="-65" dirty="0">
                <a:solidFill>
                  <a:srgbClr val="545759"/>
                </a:solidFill>
                <a:latin typeface="Arial Black"/>
                <a:cs typeface="Arial Black"/>
              </a:rPr>
              <a:t>ID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936305" y="1430645"/>
            <a:ext cx="53911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65" dirty="0">
                <a:solidFill>
                  <a:srgbClr val="545759"/>
                </a:solidFill>
                <a:latin typeface="Arial Black"/>
                <a:cs typeface="Arial Black"/>
              </a:rPr>
              <a:t>Location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35859" y="1383875"/>
            <a:ext cx="484505" cy="408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100"/>
              </a:spcBef>
            </a:pPr>
            <a:r>
              <a:rPr sz="950" spc="-50" dirty="0">
                <a:solidFill>
                  <a:srgbClr val="545759"/>
                </a:solidFill>
                <a:latin typeface="Arial Black"/>
                <a:cs typeface="Arial Black"/>
              </a:rPr>
              <a:t>Current </a:t>
            </a:r>
            <a:r>
              <a:rPr sz="950" spc="-80" dirty="0">
                <a:solidFill>
                  <a:srgbClr val="545759"/>
                </a:solidFill>
                <a:latin typeface="Arial Black"/>
                <a:cs typeface="Arial Black"/>
              </a:rPr>
              <a:t>Fill</a:t>
            </a:r>
            <a:r>
              <a:rPr sz="950" spc="-9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950" spc="-25" dirty="0">
                <a:solidFill>
                  <a:srgbClr val="545759"/>
                </a:solidFill>
                <a:latin typeface="Arial Black"/>
                <a:cs typeface="Arial Black"/>
              </a:rPr>
              <a:t>(%)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82601" y="1383875"/>
            <a:ext cx="418465" cy="408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100"/>
              </a:spcBef>
            </a:pPr>
            <a:r>
              <a:rPr sz="950" spc="-20" dirty="0">
                <a:solidFill>
                  <a:srgbClr val="545759"/>
                </a:solidFill>
                <a:latin typeface="Arial Black"/>
                <a:cs typeface="Arial Black"/>
              </a:rPr>
              <a:t>Time </a:t>
            </a:r>
            <a:r>
              <a:rPr sz="950" spc="-40" dirty="0">
                <a:solidFill>
                  <a:srgbClr val="545759"/>
                </a:solidFill>
                <a:latin typeface="Arial Black"/>
                <a:cs typeface="Arial Black"/>
              </a:rPr>
              <a:t>(Hour)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97415" y="1975014"/>
            <a:ext cx="7302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75" dirty="0">
                <a:solidFill>
                  <a:srgbClr val="545759"/>
                </a:solidFill>
                <a:latin typeface="Lucida Sans Unicode"/>
                <a:cs typeface="Lucida Sans Unicode"/>
              </a:rPr>
              <a:t>1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36305" y="1975014"/>
            <a:ext cx="69469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Market</a:t>
            </a:r>
            <a:r>
              <a:rPr sz="9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Area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35859" y="1975014"/>
            <a:ext cx="26543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78%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82601" y="1975014"/>
            <a:ext cx="33020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50" dirty="0">
                <a:solidFill>
                  <a:srgbClr val="545759"/>
                </a:solidFill>
                <a:latin typeface="Lucida Sans Unicode"/>
                <a:cs typeface="Lucida Sans Unicode"/>
              </a:rPr>
              <a:t>10:00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97415" y="2327703"/>
            <a:ext cx="9715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50" dirty="0">
                <a:solidFill>
                  <a:srgbClr val="545759"/>
                </a:solidFill>
                <a:latin typeface="Lucida Sans Unicode"/>
                <a:cs typeface="Lucida Sans Unicode"/>
              </a:rPr>
              <a:t>4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36305" y="2327703"/>
            <a:ext cx="59182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545759"/>
                </a:solidFill>
                <a:latin typeface="Lucida Sans Unicode"/>
                <a:cs typeface="Lucida Sans Unicode"/>
              </a:rPr>
              <a:t>Bus</a:t>
            </a:r>
            <a:r>
              <a:rPr sz="950" spc="-10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Stand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35859" y="2327703"/>
            <a:ext cx="25654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91%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82601" y="2327703"/>
            <a:ext cx="32512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65" dirty="0">
                <a:solidFill>
                  <a:srgbClr val="545759"/>
                </a:solidFill>
                <a:latin typeface="Lucida Sans Unicode"/>
                <a:cs typeface="Lucida Sans Unicode"/>
              </a:rPr>
              <a:t>12:00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297415" y="2680393"/>
            <a:ext cx="9525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50" dirty="0">
                <a:solidFill>
                  <a:srgbClr val="545759"/>
                </a:solidFill>
                <a:latin typeface="Lucida Sans Unicode"/>
                <a:cs typeface="Lucida Sans Unicode"/>
              </a:rPr>
              <a:t>5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936305" y="2680393"/>
            <a:ext cx="87503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Railway</a:t>
            </a:r>
            <a:r>
              <a:rPr sz="950" spc="-6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Station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35859" y="2680393"/>
            <a:ext cx="27940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25" dirty="0">
                <a:solidFill>
                  <a:srgbClr val="545759"/>
                </a:solidFill>
                <a:latin typeface="Lucida Sans Unicode"/>
                <a:cs typeface="Lucida Sans Unicode"/>
              </a:rPr>
              <a:t>95%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982601" y="2680393"/>
            <a:ext cx="32321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13:00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297415" y="3033083"/>
            <a:ext cx="8636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7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936305" y="3033083"/>
            <a:ext cx="76517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Hospital</a:t>
            </a:r>
            <a:r>
              <a:rPr sz="95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Area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135859" y="3033083"/>
            <a:ext cx="27495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88%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982601" y="3033083"/>
            <a:ext cx="30353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0" dirty="0">
                <a:solidFill>
                  <a:srgbClr val="545759"/>
                </a:solidFill>
                <a:latin typeface="Lucida Sans Unicode"/>
                <a:cs typeface="Lucida Sans Unicode"/>
              </a:rPr>
              <a:t>11:00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297415" y="3393440"/>
            <a:ext cx="14414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14" dirty="0">
                <a:solidFill>
                  <a:srgbClr val="545759"/>
                </a:solidFill>
                <a:latin typeface="Lucida Sans Unicode"/>
                <a:cs typeface="Lucida Sans Unicode"/>
              </a:rPr>
              <a:t>14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936305" y="3346670"/>
            <a:ext cx="557530" cy="408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100"/>
              </a:spcBef>
            </a:pPr>
            <a:r>
              <a:rPr sz="9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Shopping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Complex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135859" y="3393440"/>
            <a:ext cx="27813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92%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982601" y="3393440"/>
            <a:ext cx="35179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20:00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297415" y="3937809"/>
            <a:ext cx="14795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0" dirty="0">
                <a:solidFill>
                  <a:srgbClr val="545759"/>
                </a:solidFill>
                <a:latin typeface="Lucida Sans Unicode"/>
                <a:cs typeface="Lucida Sans Unicode"/>
              </a:rPr>
              <a:t>16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936305" y="3937809"/>
            <a:ext cx="67818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Food</a:t>
            </a:r>
            <a:r>
              <a:rPr sz="9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Street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135859" y="3937809"/>
            <a:ext cx="26860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97%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982601" y="3937809"/>
            <a:ext cx="32512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65" dirty="0">
                <a:solidFill>
                  <a:srgbClr val="545759"/>
                </a:solidFill>
                <a:latin typeface="Lucida Sans Unicode"/>
                <a:cs typeface="Lucida Sans Unicode"/>
              </a:rPr>
              <a:t>21:00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297415" y="4290499"/>
            <a:ext cx="16827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20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936305" y="4290499"/>
            <a:ext cx="70485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Tourist</a:t>
            </a:r>
            <a:r>
              <a:rPr sz="9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Spot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135859" y="4290499"/>
            <a:ext cx="27940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25" dirty="0">
                <a:solidFill>
                  <a:srgbClr val="545759"/>
                </a:solidFill>
                <a:latin typeface="Lucida Sans Unicode"/>
                <a:cs typeface="Lucida Sans Unicode"/>
              </a:rPr>
              <a:t>89%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982601" y="4290499"/>
            <a:ext cx="32766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14:00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297415" y="4643189"/>
            <a:ext cx="16319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22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936305" y="4643189"/>
            <a:ext cx="58166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Slum</a:t>
            </a:r>
            <a:r>
              <a:rPr sz="9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9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Area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135859" y="4643189"/>
            <a:ext cx="27114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83%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982601" y="4643189"/>
            <a:ext cx="33147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16:00</a:t>
            </a:r>
            <a:endParaRPr sz="950">
              <a:latin typeface="Lucida Sans Unicode"/>
              <a:cs typeface="Lucida Sans Unicode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5183006" y="5052665"/>
            <a:ext cx="3542665" cy="513715"/>
            <a:chOff x="5183006" y="5052665"/>
            <a:chExt cx="3542665" cy="513715"/>
          </a:xfrm>
        </p:grpSpPr>
        <p:sp>
          <p:nvSpPr>
            <p:cNvPr id="64" name="object 64"/>
            <p:cNvSpPr/>
            <p:nvPr/>
          </p:nvSpPr>
          <p:spPr>
            <a:xfrm>
              <a:off x="5183006" y="5052665"/>
              <a:ext cx="3542665" cy="513715"/>
            </a:xfrm>
            <a:custGeom>
              <a:avLst/>
              <a:gdLst/>
              <a:ahLst/>
              <a:cxnLst/>
              <a:rect l="l" t="t" r="r" b="b"/>
              <a:pathLst>
                <a:path w="3542665" h="513714">
                  <a:moveTo>
                    <a:pt x="3457610" y="513699"/>
                  </a:moveTo>
                  <a:lnTo>
                    <a:pt x="84621" y="513699"/>
                  </a:lnTo>
                  <a:lnTo>
                    <a:pt x="78731" y="513120"/>
                  </a:lnTo>
                  <a:lnTo>
                    <a:pt x="35306" y="495132"/>
                  </a:lnTo>
                  <a:lnTo>
                    <a:pt x="9169" y="463284"/>
                  </a:lnTo>
                  <a:lnTo>
                    <a:pt x="0" y="429078"/>
                  </a:lnTo>
                  <a:lnTo>
                    <a:pt x="0" y="423131"/>
                  </a:lnTo>
                  <a:lnTo>
                    <a:pt x="0" y="84621"/>
                  </a:lnTo>
                  <a:lnTo>
                    <a:pt x="11959" y="45195"/>
                  </a:lnTo>
                  <a:lnTo>
                    <a:pt x="45195" y="11959"/>
                  </a:lnTo>
                  <a:lnTo>
                    <a:pt x="84621" y="0"/>
                  </a:lnTo>
                  <a:lnTo>
                    <a:pt x="3457610" y="0"/>
                  </a:lnTo>
                  <a:lnTo>
                    <a:pt x="3497036" y="11959"/>
                  </a:lnTo>
                  <a:lnTo>
                    <a:pt x="3530272" y="45195"/>
                  </a:lnTo>
                  <a:lnTo>
                    <a:pt x="3542233" y="84621"/>
                  </a:lnTo>
                  <a:lnTo>
                    <a:pt x="3542233" y="429078"/>
                  </a:lnTo>
                  <a:lnTo>
                    <a:pt x="3530272" y="468504"/>
                  </a:lnTo>
                  <a:lnTo>
                    <a:pt x="3497037" y="501740"/>
                  </a:lnTo>
                  <a:lnTo>
                    <a:pt x="3463500" y="513120"/>
                  </a:lnTo>
                  <a:lnTo>
                    <a:pt x="3457610" y="513699"/>
                  </a:lnTo>
                  <a:close/>
                </a:path>
              </a:pathLst>
            </a:custGeom>
            <a:solidFill>
              <a:srgbClr val="B5D5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0776" y="5236677"/>
              <a:ext cx="120757" cy="120757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5561333" y="5210560"/>
            <a:ext cx="2732405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65" dirty="0">
                <a:latin typeface="Lucida Sans Unicode"/>
                <a:cs typeface="Lucida Sans Unicode"/>
              </a:rPr>
              <a:t>25</a:t>
            </a:r>
            <a:r>
              <a:rPr sz="950" spc="-85" dirty="0">
                <a:latin typeface="Lucida Sans Unicode"/>
                <a:cs typeface="Lucida Sans Unicode"/>
              </a:rPr>
              <a:t> </a:t>
            </a:r>
            <a:r>
              <a:rPr sz="950" spc="-35" dirty="0">
                <a:latin typeface="Lucida Sans Unicode"/>
                <a:cs typeface="Lucida Sans Unicode"/>
              </a:rPr>
              <a:t>bins</a:t>
            </a:r>
            <a:r>
              <a:rPr sz="950" spc="-85" dirty="0">
                <a:latin typeface="Lucida Sans Unicode"/>
                <a:cs typeface="Lucida Sans Unicode"/>
              </a:rPr>
              <a:t> </a:t>
            </a:r>
            <a:r>
              <a:rPr sz="950" spc="-10" dirty="0">
                <a:latin typeface="Lucida Sans Unicode"/>
                <a:cs typeface="Lucida Sans Unicode"/>
              </a:rPr>
              <a:t>total</a:t>
            </a:r>
            <a:r>
              <a:rPr sz="950" spc="-85" dirty="0">
                <a:latin typeface="Lucida Sans Unicode"/>
                <a:cs typeface="Lucida Sans Unicode"/>
              </a:rPr>
              <a:t> </a:t>
            </a:r>
            <a:r>
              <a:rPr sz="950" spc="-10" dirty="0">
                <a:latin typeface="Lucida Sans Unicode"/>
                <a:cs typeface="Lucida Sans Unicode"/>
              </a:rPr>
              <a:t>across</a:t>
            </a:r>
            <a:r>
              <a:rPr sz="950" spc="-85" dirty="0">
                <a:latin typeface="Lucida Sans Unicode"/>
                <a:cs typeface="Lucida Sans Unicode"/>
              </a:rPr>
              <a:t> </a:t>
            </a:r>
            <a:r>
              <a:rPr sz="950" spc="-25" dirty="0">
                <a:latin typeface="Lucida Sans Unicode"/>
                <a:cs typeface="Lucida Sans Unicode"/>
              </a:rPr>
              <a:t>diverse</a:t>
            </a:r>
            <a:r>
              <a:rPr sz="950" spc="-80" dirty="0">
                <a:latin typeface="Lucida Sans Unicode"/>
                <a:cs typeface="Lucida Sans Unicode"/>
              </a:rPr>
              <a:t> </a:t>
            </a:r>
            <a:r>
              <a:rPr sz="950" spc="-35" dirty="0">
                <a:latin typeface="Lucida Sans Unicode"/>
                <a:cs typeface="Lucida Sans Unicode"/>
              </a:rPr>
              <a:t>urban</a:t>
            </a:r>
            <a:r>
              <a:rPr sz="950" spc="-85" dirty="0">
                <a:latin typeface="Lucida Sans Unicode"/>
                <a:cs typeface="Lucida Sans Unicode"/>
              </a:rPr>
              <a:t> </a:t>
            </a:r>
            <a:r>
              <a:rPr sz="950" spc="-25" dirty="0">
                <a:latin typeface="Lucida Sans Unicode"/>
                <a:cs typeface="Lucida Sans Unicode"/>
              </a:rPr>
              <a:t>location</a:t>
            </a:r>
            <a:r>
              <a:rPr sz="950" spc="-85" dirty="0">
                <a:latin typeface="Lucida Sans Unicode"/>
                <a:cs typeface="Lucida Sans Unicode"/>
              </a:rPr>
              <a:t> </a:t>
            </a:r>
            <a:r>
              <a:rPr sz="950" spc="-10" dirty="0">
                <a:latin typeface="Lucida Sans Unicode"/>
                <a:cs typeface="Lucida Sans Unicode"/>
              </a:rPr>
              <a:t>types.</a:t>
            </a:r>
            <a:endParaRPr sz="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1374425"/>
            <a:ext cx="3245485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spc="-95" dirty="0"/>
              <a:t>Results</a:t>
            </a:r>
            <a:r>
              <a:rPr sz="2950" spc="-210" dirty="0"/>
              <a:t> </a:t>
            </a:r>
            <a:r>
              <a:rPr sz="2950" spc="-260" dirty="0"/>
              <a:t>&amp;</a:t>
            </a:r>
            <a:r>
              <a:rPr sz="2950" spc="-204" dirty="0"/>
              <a:t> </a:t>
            </a:r>
            <a:r>
              <a:rPr sz="2950" spc="-45" dirty="0"/>
              <a:t>Analysis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815528" y="2149760"/>
            <a:ext cx="2854325" cy="1312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900" spc="-25" dirty="0">
                <a:solidFill>
                  <a:srgbClr val="545759"/>
                </a:solidFill>
                <a:latin typeface="Verdana"/>
                <a:cs typeface="Verdana"/>
              </a:rPr>
              <a:t>25</a:t>
            </a:r>
            <a:endParaRPr sz="3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295"/>
              </a:spcBef>
            </a:pPr>
            <a:r>
              <a:rPr sz="1450" spc="-50" dirty="0">
                <a:solidFill>
                  <a:srgbClr val="545759"/>
                </a:solidFill>
                <a:latin typeface="Verdana"/>
                <a:cs typeface="Verdana"/>
              </a:rPr>
              <a:t>Total</a:t>
            </a:r>
            <a:r>
              <a:rPr sz="1450" spc="-9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20" dirty="0">
                <a:solidFill>
                  <a:srgbClr val="545759"/>
                </a:solidFill>
                <a:latin typeface="Verdana"/>
                <a:cs typeface="Verdana"/>
              </a:rPr>
              <a:t>Bins</a:t>
            </a:r>
            <a:endParaRPr sz="1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35"/>
              </a:spcBef>
            </a:pP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Simulated</a:t>
            </a:r>
            <a:r>
              <a:rPr sz="1150" spc="-10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across</a:t>
            </a:r>
            <a:r>
              <a:rPr sz="1150" spc="-10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diverse</a:t>
            </a:r>
            <a:r>
              <a:rPr sz="1150" spc="-10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urban</a:t>
            </a:r>
            <a:r>
              <a:rPr sz="1150" spc="-10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locations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41092" y="2149760"/>
            <a:ext cx="3148330" cy="1312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900" spc="-50" dirty="0">
                <a:solidFill>
                  <a:srgbClr val="545759"/>
                </a:solidFill>
                <a:latin typeface="Verdana"/>
                <a:cs typeface="Verdana"/>
              </a:rPr>
              <a:t>3</a:t>
            </a:r>
            <a:endParaRPr sz="3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295"/>
              </a:spcBef>
            </a:pPr>
            <a:r>
              <a:rPr sz="1450" spc="-30" dirty="0">
                <a:solidFill>
                  <a:srgbClr val="545759"/>
                </a:solidFill>
                <a:latin typeface="Verdana"/>
                <a:cs typeface="Verdana"/>
              </a:rPr>
              <a:t>Citizen</a:t>
            </a:r>
            <a:r>
              <a:rPr sz="1450" spc="-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Complaints</a:t>
            </a:r>
            <a:endParaRPr sz="1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35"/>
              </a:spcBef>
            </a:pP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Bins</a:t>
            </a:r>
            <a:r>
              <a:rPr sz="1150" spc="-11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2,</a:t>
            </a:r>
            <a:r>
              <a:rPr sz="1150" spc="-11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14" dirty="0">
                <a:solidFill>
                  <a:srgbClr val="545759"/>
                </a:solidFill>
                <a:latin typeface="Lucida Sans Unicode"/>
                <a:cs typeface="Lucida Sans Unicode"/>
              </a:rPr>
              <a:t>10,</a:t>
            </a:r>
            <a:r>
              <a:rPr sz="1150" spc="-11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and</a:t>
            </a:r>
            <a:r>
              <a:rPr sz="1150" spc="-10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65" dirty="0">
                <a:solidFill>
                  <a:srgbClr val="545759"/>
                </a:solidFill>
                <a:latin typeface="Lucida Sans Unicode"/>
                <a:cs typeface="Lucida Sans Unicode"/>
              </a:rPr>
              <a:t>18</a:t>
            </a:r>
            <a:r>
              <a:rPr sz="1150" spc="-11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flagged</a:t>
            </a:r>
            <a:r>
              <a:rPr sz="1150" spc="-11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for</a:t>
            </a:r>
            <a:r>
              <a:rPr sz="1150" spc="-11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priority</a:t>
            </a:r>
            <a:r>
              <a:rPr sz="1150" spc="-10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response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33680" y="2149760"/>
            <a:ext cx="2507615" cy="1312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900" spc="-545" dirty="0">
                <a:solidFill>
                  <a:srgbClr val="545759"/>
                </a:solidFill>
                <a:latin typeface="Verdana"/>
                <a:cs typeface="Verdana"/>
              </a:rPr>
              <a:t>+15%</a:t>
            </a:r>
            <a:endParaRPr sz="3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295"/>
              </a:spcBef>
            </a:pPr>
            <a:r>
              <a:rPr sz="1450" spc="-25" dirty="0">
                <a:solidFill>
                  <a:srgbClr val="545759"/>
                </a:solidFill>
                <a:latin typeface="Verdana"/>
                <a:cs typeface="Verdana"/>
              </a:rPr>
              <a:t>Prediction</a:t>
            </a:r>
            <a:r>
              <a:rPr sz="1450" spc="-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Buffer</a:t>
            </a:r>
            <a:endParaRPr sz="1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35"/>
              </a:spcBef>
            </a:pP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Applied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to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each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bin's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current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fill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level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5299" y="3657599"/>
            <a:ext cx="5143500" cy="1390650"/>
          </a:xfrm>
          <a:custGeom>
            <a:avLst/>
            <a:gdLst/>
            <a:ahLst/>
            <a:cxnLst/>
            <a:rect l="l" t="t" r="r" b="b"/>
            <a:pathLst>
              <a:path w="5143500" h="1390650">
                <a:moveTo>
                  <a:pt x="4963476" y="1390649"/>
                </a:moveTo>
                <a:lnTo>
                  <a:pt x="180022" y="1390649"/>
                </a:lnTo>
                <a:lnTo>
                  <a:pt x="171178" y="1390433"/>
                </a:lnTo>
                <a:lnTo>
                  <a:pt x="127764" y="1382899"/>
                </a:lnTo>
                <a:lnTo>
                  <a:pt x="87480" y="1365044"/>
                </a:lnTo>
                <a:lnTo>
                  <a:pt x="52727" y="1337922"/>
                </a:lnTo>
                <a:lnTo>
                  <a:pt x="25605" y="1303168"/>
                </a:lnTo>
                <a:lnTo>
                  <a:pt x="7749" y="1262884"/>
                </a:lnTo>
                <a:lnTo>
                  <a:pt x="216" y="1219471"/>
                </a:lnTo>
                <a:lnTo>
                  <a:pt x="0" y="1210627"/>
                </a:lnTo>
                <a:lnTo>
                  <a:pt x="0" y="180022"/>
                </a:lnTo>
                <a:lnTo>
                  <a:pt x="5396" y="136269"/>
                </a:lnTo>
                <a:lnTo>
                  <a:pt x="21254" y="95158"/>
                </a:lnTo>
                <a:lnTo>
                  <a:pt x="46626" y="59133"/>
                </a:lnTo>
                <a:lnTo>
                  <a:pt x="80007" y="30339"/>
                </a:lnTo>
                <a:lnTo>
                  <a:pt x="119384" y="10518"/>
                </a:lnTo>
                <a:lnTo>
                  <a:pt x="162377" y="864"/>
                </a:lnTo>
                <a:lnTo>
                  <a:pt x="180022" y="0"/>
                </a:lnTo>
                <a:lnTo>
                  <a:pt x="4963476" y="0"/>
                </a:lnTo>
                <a:lnTo>
                  <a:pt x="5007229" y="5396"/>
                </a:lnTo>
                <a:lnTo>
                  <a:pt x="5048339" y="21254"/>
                </a:lnTo>
                <a:lnTo>
                  <a:pt x="5084365" y="46626"/>
                </a:lnTo>
                <a:lnTo>
                  <a:pt x="5113159" y="80007"/>
                </a:lnTo>
                <a:lnTo>
                  <a:pt x="5132980" y="119383"/>
                </a:lnTo>
                <a:lnTo>
                  <a:pt x="5142634" y="162376"/>
                </a:lnTo>
                <a:lnTo>
                  <a:pt x="5143499" y="180022"/>
                </a:lnTo>
                <a:lnTo>
                  <a:pt x="5143499" y="1210627"/>
                </a:lnTo>
                <a:lnTo>
                  <a:pt x="5138102" y="1254379"/>
                </a:lnTo>
                <a:lnTo>
                  <a:pt x="5122243" y="1295490"/>
                </a:lnTo>
                <a:lnTo>
                  <a:pt x="5096872" y="1331515"/>
                </a:lnTo>
                <a:lnTo>
                  <a:pt x="5063491" y="1360310"/>
                </a:lnTo>
                <a:lnTo>
                  <a:pt x="5024114" y="1380130"/>
                </a:lnTo>
                <a:lnTo>
                  <a:pt x="4981122" y="1389784"/>
                </a:lnTo>
                <a:lnTo>
                  <a:pt x="4963476" y="1390649"/>
                </a:lnTo>
                <a:close/>
              </a:path>
            </a:pathLst>
          </a:custGeom>
          <a:solidFill>
            <a:srgbClr val="FFE1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9493" y="3781297"/>
            <a:ext cx="4707255" cy="1100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50" dirty="0">
                <a:solidFill>
                  <a:srgbClr val="0C0D0E"/>
                </a:solidFill>
                <a:latin typeface="Verdana"/>
                <a:cs typeface="Verdana"/>
              </a:rPr>
              <a:t>Traditional</a:t>
            </a:r>
            <a:r>
              <a:rPr sz="1450" spc="-6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0C0D0E"/>
                </a:solidFill>
                <a:latin typeface="Verdana"/>
                <a:cs typeface="Verdana"/>
              </a:rPr>
              <a:t>Method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1065"/>
              </a:spcBef>
            </a:pPr>
            <a:r>
              <a:rPr sz="1150" spc="-40" dirty="0">
                <a:latin typeface="Lucida Sans Unicode"/>
                <a:cs typeface="Lucida Sans Unicode"/>
              </a:rPr>
              <a:t>Fixed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schedules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spc="-20" dirty="0">
                <a:latin typeface="Lucida Sans Unicode"/>
                <a:cs typeface="Lucida Sans Unicode"/>
              </a:rPr>
              <a:t>led</a:t>
            </a:r>
            <a:r>
              <a:rPr sz="1150" spc="-80" dirty="0">
                <a:latin typeface="Lucida Sans Unicode"/>
                <a:cs typeface="Lucida Sans Unicode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to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spc="-55" dirty="0">
                <a:latin typeface="Arial Black"/>
                <a:cs typeface="Arial Black"/>
              </a:rPr>
              <a:t>multiple</a:t>
            </a:r>
            <a:r>
              <a:rPr sz="1150" spc="-100" dirty="0">
                <a:latin typeface="Arial Black"/>
                <a:cs typeface="Arial Black"/>
              </a:rPr>
              <a:t> </a:t>
            </a:r>
            <a:r>
              <a:rPr sz="1150" spc="-70" dirty="0">
                <a:latin typeface="Arial Black"/>
                <a:cs typeface="Arial Black"/>
              </a:rPr>
              <a:t>overflow</a:t>
            </a:r>
            <a:r>
              <a:rPr sz="1150" spc="-100" dirty="0">
                <a:latin typeface="Arial Black"/>
                <a:cs typeface="Arial Black"/>
              </a:rPr>
              <a:t> </a:t>
            </a:r>
            <a:r>
              <a:rPr sz="1150" spc="-80" dirty="0">
                <a:latin typeface="Arial Black"/>
                <a:cs typeface="Arial Black"/>
              </a:rPr>
              <a:t>cases</a:t>
            </a:r>
            <a:r>
              <a:rPr sz="1150" spc="-105" dirty="0">
                <a:latin typeface="Arial Black"/>
                <a:cs typeface="Arial Black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as</a:t>
            </a:r>
            <a:r>
              <a:rPr sz="1150" spc="-80" dirty="0">
                <a:latin typeface="Lucida Sans Unicode"/>
                <a:cs typeface="Lucida Sans Unicode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the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system</a:t>
            </a:r>
            <a:r>
              <a:rPr sz="1150" spc="-80" dirty="0">
                <a:latin typeface="Lucida Sans Unicode"/>
                <a:cs typeface="Lucida Sans Unicode"/>
              </a:rPr>
              <a:t> </a:t>
            </a:r>
            <a:r>
              <a:rPr sz="1150" spc="-10" dirty="0">
                <a:latin typeface="Lucida Sans Unicode"/>
                <a:cs typeface="Lucida Sans Unicode"/>
              </a:rPr>
              <a:t>could </a:t>
            </a:r>
            <a:r>
              <a:rPr sz="1150" dirty="0">
                <a:latin typeface="Lucida Sans Unicode"/>
                <a:cs typeface="Lucida Sans Unicode"/>
              </a:rPr>
              <a:t>not</a:t>
            </a:r>
            <a:r>
              <a:rPr sz="1150" spc="-80" dirty="0">
                <a:latin typeface="Lucida Sans Unicode"/>
                <a:cs typeface="Lucida Sans Unicode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account</a:t>
            </a:r>
            <a:r>
              <a:rPr sz="1150" spc="-80" dirty="0">
                <a:latin typeface="Lucida Sans Unicode"/>
                <a:cs typeface="Lucida Sans Unicode"/>
              </a:rPr>
              <a:t> </a:t>
            </a:r>
            <a:r>
              <a:rPr sz="1150" spc="-40" dirty="0">
                <a:latin typeface="Lucida Sans Unicode"/>
                <a:cs typeface="Lucida Sans Unicode"/>
              </a:rPr>
              <a:t>for</a:t>
            </a:r>
            <a:r>
              <a:rPr sz="1150" spc="-80" dirty="0">
                <a:latin typeface="Lucida Sans Unicode"/>
                <a:cs typeface="Lucida Sans Unicode"/>
              </a:rPr>
              <a:t> </a:t>
            </a:r>
            <a:r>
              <a:rPr sz="1150" spc="-10" dirty="0">
                <a:latin typeface="Lucida Sans Unicode"/>
                <a:cs typeface="Lucida Sans Unicode"/>
              </a:rPr>
              <a:t>changing</a:t>
            </a:r>
            <a:r>
              <a:rPr sz="1150" spc="-75" dirty="0">
                <a:latin typeface="Lucida Sans Unicode"/>
                <a:cs typeface="Lucida Sans Unicode"/>
              </a:rPr>
              <a:t> </a:t>
            </a:r>
            <a:r>
              <a:rPr sz="1150" spc="-60" dirty="0">
                <a:latin typeface="Lucida Sans Unicode"/>
                <a:cs typeface="Lucida Sans Unicode"/>
              </a:rPr>
              <a:t>real-</a:t>
            </a:r>
            <a:r>
              <a:rPr sz="1150" spc="-40" dirty="0">
                <a:latin typeface="Lucida Sans Unicode"/>
                <a:cs typeface="Lucida Sans Unicode"/>
              </a:rPr>
              <a:t>world</a:t>
            </a:r>
            <a:r>
              <a:rPr sz="1150" spc="-80" dirty="0">
                <a:latin typeface="Lucida Sans Unicode"/>
                <a:cs typeface="Lucida Sans Unicode"/>
              </a:rPr>
              <a:t> </a:t>
            </a:r>
            <a:r>
              <a:rPr sz="1150" spc="-20" dirty="0">
                <a:latin typeface="Lucida Sans Unicode"/>
                <a:cs typeface="Lucida Sans Unicode"/>
              </a:rPr>
              <a:t>conditions.</a:t>
            </a:r>
            <a:r>
              <a:rPr sz="1150" spc="-80" dirty="0">
                <a:latin typeface="Lucida Sans Unicode"/>
                <a:cs typeface="Lucida Sans Unicode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Bins</a:t>
            </a:r>
            <a:r>
              <a:rPr sz="1150" spc="-75" dirty="0">
                <a:latin typeface="Lucida Sans Unicode"/>
                <a:cs typeface="Lucida Sans Unicode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at</a:t>
            </a:r>
            <a:r>
              <a:rPr sz="1150" spc="-80" dirty="0">
                <a:latin typeface="Lucida Sans Unicode"/>
                <a:cs typeface="Lucida Sans Unicode"/>
              </a:rPr>
              <a:t> </a:t>
            </a:r>
            <a:r>
              <a:rPr sz="1150" spc="-65" dirty="0">
                <a:latin typeface="Lucida Sans Unicode"/>
                <a:cs typeface="Lucida Sans Unicode"/>
              </a:rPr>
              <a:t>high-</a:t>
            </a:r>
            <a:r>
              <a:rPr sz="1150" spc="-10" dirty="0">
                <a:latin typeface="Lucida Sans Unicode"/>
                <a:cs typeface="Lucida Sans Unicode"/>
              </a:rPr>
              <a:t>traffic locations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were</a:t>
            </a:r>
            <a:r>
              <a:rPr sz="1150" spc="-80" dirty="0">
                <a:latin typeface="Lucida Sans Unicode"/>
                <a:cs typeface="Lucida Sans Unicode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consistently</a:t>
            </a:r>
            <a:r>
              <a:rPr sz="1150" spc="-85" dirty="0">
                <a:latin typeface="Lucida Sans Unicode"/>
                <a:cs typeface="Lucida Sans Unicode"/>
              </a:rPr>
              <a:t> </a:t>
            </a:r>
            <a:r>
              <a:rPr sz="1150" spc="-10" dirty="0">
                <a:latin typeface="Lucida Sans Unicode"/>
                <a:cs typeface="Lucida Sans Unicode"/>
              </a:rPr>
              <a:t>neglected.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94734" y="3781297"/>
            <a:ext cx="4923790" cy="1100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70" dirty="0">
                <a:solidFill>
                  <a:srgbClr val="0C0D0E"/>
                </a:solidFill>
                <a:latin typeface="Verdana"/>
                <a:cs typeface="Verdana"/>
              </a:rPr>
              <a:t>AI-</a:t>
            </a:r>
            <a:r>
              <a:rPr sz="1450" spc="-20" dirty="0">
                <a:solidFill>
                  <a:srgbClr val="0C0D0E"/>
                </a:solidFill>
                <a:latin typeface="Verdana"/>
                <a:cs typeface="Verdana"/>
              </a:rPr>
              <a:t>Based</a:t>
            </a:r>
            <a:r>
              <a:rPr sz="1450" spc="-8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0C0D0E"/>
                </a:solidFill>
                <a:latin typeface="Verdana"/>
                <a:cs typeface="Verdana"/>
              </a:rPr>
              <a:t>Method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1065"/>
              </a:spcBef>
            </a:pP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The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predictive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system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60" dirty="0">
                <a:solidFill>
                  <a:srgbClr val="545759"/>
                </a:solidFill>
                <a:latin typeface="Arial Black"/>
                <a:cs typeface="Arial Black"/>
              </a:rPr>
              <a:t>prevented</a:t>
            </a:r>
            <a:r>
              <a:rPr sz="1150" spc="-10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70" dirty="0">
                <a:solidFill>
                  <a:srgbClr val="545759"/>
                </a:solidFill>
                <a:latin typeface="Arial Black"/>
                <a:cs typeface="Arial Black"/>
              </a:rPr>
              <a:t>overflow</a:t>
            </a:r>
            <a:r>
              <a:rPr sz="1150" spc="-10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by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prioritising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65" dirty="0">
                <a:solidFill>
                  <a:srgbClr val="545759"/>
                </a:solidFill>
                <a:latin typeface="Lucida Sans Unicode"/>
                <a:cs typeface="Lucida Sans Unicode"/>
              </a:rPr>
              <a:t>high-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fill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bins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proactively.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Dynamic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routing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ensured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collection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vehicles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addressed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the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most</a:t>
            </a:r>
            <a:r>
              <a:rPr sz="1150" spc="-10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urgent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bins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first,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50" dirty="0">
                <a:solidFill>
                  <a:srgbClr val="545759"/>
                </a:solidFill>
                <a:latin typeface="Lucida Sans Unicode"/>
                <a:cs typeface="Lucida Sans Unicode"/>
              </a:rPr>
              <a:t>improving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efficiency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significantly.</a:t>
            </a:r>
            <a:endParaRPr sz="11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755300"/>
            <a:ext cx="582930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spc="-114" dirty="0"/>
              <a:t>Testing,</a:t>
            </a:r>
            <a:r>
              <a:rPr sz="2950" spc="-204" dirty="0"/>
              <a:t> </a:t>
            </a:r>
            <a:r>
              <a:rPr sz="2950" spc="-110" dirty="0"/>
              <a:t>Validation</a:t>
            </a:r>
            <a:r>
              <a:rPr sz="2950" spc="-200" dirty="0"/>
              <a:t> </a:t>
            </a:r>
            <a:r>
              <a:rPr sz="2950" spc="-260" dirty="0"/>
              <a:t>&amp;</a:t>
            </a:r>
            <a:r>
              <a:rPr sz="2950" spc="-200" dirty="0"/>
              <a:t> </a:t>
            </a:r>
            <a:r>
              <a:rPr sz="2950" spc="-50" dirty="0"/>
              <a:t>Advantages</a:t>
            </a:r>
            <a:endParaRPr sz="2950"/>
          </a:p>
        </p:txBody>
      </p:sp>
      <p:sp>
        <p:nvSpPr>
          <p:cNvPr id="3" name="object 3"/>
          <p:cNvSpPr/>
          <p:nvPr/>
        </p:nvSpPr>
        <p:spPr>
          <a:xfrm>
            <a:off x="609599" y="2095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9599" y="2390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9599" y="26860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9599" y="29717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9599" y="3267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7374" y="1600072"/>
            <a:ext cx="4597400" cy="17862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50" dirty="0">
                <a:solidFill>
                  <a:srgbClr val="0C0D0E"/>
                </a:solidFill>
                <a:latin typeface="Verdana"/>
                <a:cs typeface="Verdana"/>
              </a:rPr>
              <a:t>Validation</a:t>
            </a:r>
            <a:r>
              <a:rPr sz="1450" spc="-6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0C0D0E"/>
                </a:solidFill>
                <a:latin typeface="Verdana"/>
                <a:cs typeface="Verdana"/>
              </a:rPr>
              <a:t>Approach</a:t>
            </a:r>
            <a:endParaRPr sz="1450">
              <a:latin typeface="Verdana"/>
              <a:cs typeface="Verdana"/>
            </a:endParaRPr>
          </a:p>
          <a:p>
            <a:pPr marL="252095" marR="788035">
              <a:lnSpc>
                <a:spcPct val="166700"/>
              </a:lnSpc>
              <a:spcBef>
                <a:spcPts val="565"/>
              </a:spcBef>
            </a:pP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Each</a:t>
            </a:r>
            <a:r>
              <a:rPr sz="11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module</a:t>
            </a:r>
            <a:r>
              <a:rPr sz="11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tested</a:t>
            </a:r>
            <a:r>
              <a:rPr sz="11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independently</a:t>
            </a:r>
            <a:r>
              <a:rPr sz="11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for</a:t>
            </a:r>
            <a:r>
              <a:rPr sz="11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correctness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Predictions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verified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to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stay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within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0–100%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bounds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Priority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assignment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checked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against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known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cases Routing</a:t>
            </a:r>
            <a:r>
              <a:rPr sz="1150" spc="-11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confirmed</a:t>
            </a:r>
            <a:r>
              <a:rPr sz="1150" spc="-10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bins</a:t>
            </a:r>
            <a:r>
              <a:rPr sz="1150" spc="-10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5" dirty="0">
                <a:solidFill>
                  <a:srgbClr val="545759"/>
                </a:solidFill>
                <a:latin typeface="Lucida Sans Unicode"/>
                <a:cs typeface="Lucida Sans Unicode"/>
              </a:rPr>
              <a:t>ordered</a:t>
            </a:r>
            <a:r>
              <a:rPr sz="1150" spc="-10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correctly</a:t>
            </a:r>
            <a:r>
              <a:rPr sz="1150" spc="-10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by</a:t>
            </a:r>
            <a:r>
              <a:rPr sz="1150" spc="-10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priority</a:t>
            </a:r>
            <a:endParaRPr sz="1150">
              <a:latin typeface="Lucida Sans Unicode"/>
              <a:cs typeface="Lucida Sans Unicode"/>
            </a:endParaRPr>
          </a:p>
          <a:p>
            <a:pPr marL="252095">
              <a:lnSpc>
                <a:spcPct val="100000"/>
              </a:lnSpc>
              <a:spcBef>
                <a:spcPts val="944"/>
              </a:spcBef>
            </a:pPr>
            <a:r>
              <a:rPr sz="1150" spc="-50" dirty="0">
                <a:solidFill>
                  <a:srgbClr val="545759"/>
                </a:solidFill>
                <a:latin typeface="Lucida Sans Unicode"/>
                <a:cs typeface="Lucida Sans Unicode"/>
              </a:rPr>
              <a:t>Full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dataset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tested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with</a:t>
            </a:r>
            <a:r>
              <a:rPr sz="11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consistent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results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across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multiple</a:t>
            </a:r>
            <a:r>
              <a:rPr sz="11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runs</a:t>
            </a:r>
            <a:endParaRPr sz="1150">
              <a:latin typeface="Lucida Sans Unicode"/>
              <a:cs typeface="Lucida Sans Unicode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2649" y="2037287"/>
            <a:ext cx="225806" cy="19440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2649" y="2799287"/>
            <a:ext cx="225806" cy="19440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2649" y="3551763"/>
            <a:ext cx="225806" cy="19440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2649" y="4304238"/>
            <a:ext cx="225806" cy="19440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2649" y="5056712"/>
            <a:ext cx="225806" cy="194409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Key</a:t>
            </a:r>
            <a:r>
              <a:rPr spc="-80" dirty="0"/>
              <a:t> </a:t>
            </a:r>
            <a:r>
              <a:rPr spc="-10" dirty="0"/>
              <a:t>Advantages</a:t>
            </a:r>
          </a:p>
          <a:p>
            <a:pPr marL="499745">
              <a:lnSpc>
                <a:spcPct val="100000"/>
              </a:lnSpc>
              <a:spcBef>
                <a:spcPts val="1410"/>
              </a:spcBef>
            </a:pPr>
            <a:r>
              <a:rPr spc="-10" dirty="0">
                <a:solidFill>
                  <a:srgbClr val="545759"/>
                </a:solidFill>
              </a:rPr>
              <a:t>Reduces</a:t>
            </a:r>
            <a:r>
              <a:rPr spc="-95" dirty="0">
                <a:solidFill>
                  <a:srgbClr val="545759"/>
                </a:solidFill>
              </a:rPr>
              <a:t> </a:t>
            </a:r>
            <a:r>
              <a:rPr spc="-40" dirty="0">
                <a:solidFill>
                  <a:srgbClr val="545759"/>
                </a:solidFill>
              </a:rPr>
              <a:t>bin</a:t>
            </a:r>
            <a:r>
              <a:rPr spc="-90" dirty="0">
                <a:solidFill>
                  <a:srgbClr val="545759"/>
                </a:solidFill>
              </a:rPr>
              <a:t> </a:t>
            </a:r>
            <a:r>
              <a:rPr spc="-10" dirty="0">
                <a:solidFill>
                  <a:srgbClr val="545759"/>
                </a:solidFill>
              </a:rPr>
              <a:t>overflow</a:t>
            </a:r>
          </a:p>
          <a:p>
            <a:pPr marL="499745" marR="299085">
              <a:lnSpc>
                <a:spcPct val="340500"/>
              </a:lnSpc>
              <a:spcBef>
                <a:spcPts val="75"/>
              </a:spcBef>
            </a:pPr>
            <a:r>
              <a:rPr spc="-40" dirty="0">
                <a:solidFill>
                  <a:srgbClr val="545759"/>
                </a:solidFill>
              </a:rPr>
              <a:t>Saves</a:t>
            </a:r>
            <a:r>
              <a:rPr spc="-85" dirty="0">
                <a:solidFill>
                  <a:srgbClr val="545759"/>
                </a:solidFill>
              </a:rPr>
              <a:t> </a:t>
            </a:r>
            <a:r>
              <a:rPr spc="-20" dirty="0">
                <a:solidFill>
                  <a:srgbClr val="545759"/>
                </a:solidFill>
              </a:rPr>
              <a:t>fuel</a:t>
            </a:r>
            <a:r>
              <a:rPr spc="-80" dirty="0">
                <a:solidFill>
                  <a:srgbClr val="545759"/>
                </a:solidFill>
              </a:rPr>
              <a:t> </a:t>
            </a:r>
            <a:r>
              <a:rPr spc="-55" dirty="0">
                <a:solidFill>
                  <a:srgbClr val="545759"/>
                </a:solidFill>
              </a:rPr>
              <a:t>via</a:t>
            </a:r>
            <a:r>
              <a:rPr spc="-85" dirty="0">
                <a:solidFill>
                  <a:srgbClr val="545759"/>
                </a:solidFill>
              </a:rPr>
              <a:t> </a:t>
            </a:r>
            <a:r>
              <a:rPr spc="-40" dirty="0">
                <a:solidFill>
                  <a:srgbClr val="545759"/>
                </a:solidFill>
              </a:rPr>
              <a:t>optimised</a:t>
            </a:r>
            <a:r>
              <a:rPr spc="-85" dirty="0">
                <a:solidFill>
                  <a:srgbClr val="545759"/>
                </a:solidFill>
              </a:rPr>
              <a:t> </a:t>
            </a:r>
            <a:r>
              <a:rPr spc="-30" dirty="0">
                <a:solidFill>
                  <a:srgbClr val="545759"/>
                </a:solidFill>
              </a:rPr>
              <a:t>routing </a:t>
            </a:r>
            <a:r>
              <a:rPr spc="-20" dirty="0">
                <a:solidFill>
                  <a:srgbClr val="545759"/>
                </a:solidFill>
              </a:rPr>
              <a:t>Responds</a:t>
            </a:r>
            <a:r>
              <a:rPr spc="-75" dirty="0">
                <a:solidFill>
                  <a:srgbClr val="545759"/>
                </a:solidFill>
              </a:rPr>
              <a:t> </a:t>
            </a:r>
            <a:r>
              <a:rPr spc="-60" dirty="0">
                <a:solidFill>
                  <a:srgbClr val="545759"/>
                </a:solidFill>
              </a:rPr>
              <a:t>to</a:t>
            </a:r>
            <a:r>
              <a:rPr spc="-70" dirty="0">
                <a:solidFill>
                  <a:srgbClr val="545759"/>
                </a:solidFill>
              </a:rPr>
              <a:t> </a:t>
            </a:r>
            <a:r>
              <a:rPr spc="-45" dirty="0">
                <a:solidFill>
                  <a:srgbClr val="545759"/>
                </a:solidFill>
              </a:rPr>
              <a:t>real-</a:t>
            </a:r>
            <a:r>
              <a:rPr spc="-25" dirty="0">
                <a:solidFill>
                  <a:srgbClr val="545759"/>
                </a:solidFill>
              </a:rPr>
              <a:t>world</a:t>
            </a:r>
            <a:r>
              <a:rPr spc="-75" dirty="0">
                <a:solidFill>
                  <a:srgbClr val="545759"/>
                </a:solidFill>
              </a:rPr>
              <a:t> </a:t>
            </a:r>
            <a:r>
              <a:rPr spc="-10" dirty="0">
                <a:solidFill>
                  <a:srgbClr val="545759"/>
                </a:solidFill>
              </a:rPr>
              <a:t>issues </a:t>
            </a:r>
            <a:r>
              <a:rPr spc="-25" dirty="0">
                <a:solidFill>
                  <a:srgbClr val="545759"/>
                </a:solidFill>
              </a:rPr>
              <a:t>Scalable</a:t>
            </a:r>
            <a:r>
              <a:rPr spc="-70" dirty="0">
                <a:solidFill>
                  <a:srgbClr val="545759"/>
                </a:solidFill>
              </a:rPr>
              <a:t> </a:t>
            </a:r>
            <a:r>
              <a:rPr spc="-35" dirty="0">
                <a:solidFill>
                  <a:srgbClr val="545759"/>
                </a:solidFill>
              </a:rPr>
              <a:t>for</a:t>
            </a:r>
            <a:r>
              <a:rPr spc="-60" dirty="0">
                <a:solidFill>
                  <a:srgbClr val="545759"/>
                </a:solidFill>
              </a:rPr>
              <a:t> larger</a:t>
            </a:r>
            <a:r>
              <a:rPr spc="-65" dirty="0">
                <a:solidFill>
                  <a:srgbClr val="545759"/>
                </a:solidFill>
              </a:rPr>
              <a:t> </a:t>
            </a:r>
            <a:r>
              <a:rPr spc="-10" dirty="0">
                <a:solidFill>
                  <a:srgbClr val="545759"/>
                </a:solidFill>
              </a:rPr>
              <a:t>cities</a:t>
            </a:r>
          </a:p>
          <a:p>
            <a:pPr>
              <a:lnSpc>
                <a:spcPct val="100000"/>
              </a:lnSpc>
            </a:pPr>
            <a:endParaRPr spc="-10" dirty="0">
              <a:solidFill>
                <a:srgbClr val="545759"/>
              </a:solidFill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pc="-10" dirty="0">
              <a:solidFill>
                <a:srgbClr val="545759"/>
              </a:solidFill>
            </a:endParaRPr>
          </a:p>
          <a:p>
            <a:pPr marL="499745">
              <a:lnSpc>
                <a:spcPct val="100000"/>
              </a:lnSpc>
            </a:pPr>
            <a:r>
              <a:rPr spc="-35" dirty="0">
                <a:solidFill>
                  <a:srgbClr val="545759"/>
                </a:solidFill>
              </a:rPr>
              <a:t>Supports</a:t>
            </a:r>
            <a:r>
              <a:rPr spc="-65" dirty="0">
                <a:solidFill>
                  <a:srgbClr val="545759"/>
                </a:solidFill>
              </a:rPr>
              <a:t> </a:t>
            </a:r>
            <a:r>
              <a:rPr spc="-40" dirty="0">
                <a:solidFill>
                  <a:srgbClr val="545759"/>
                </a:solidFill>
              </a:rPr>
              <a:t>sustainable</a:t>
            </a:r>
            <a:r>
              <a:rPr spc="-60" dirty="0">
                <a:solidFill>
                  <a:srgbClr val="545759"/>
                </a:solidFill>
              </a:rPr>
              <a:t> </a:t>
            </a:r>
            <a:r>
              <a:rPr spc="-30" dirty="0">
                <a:solidFill>
                  <a:srgbClr val="545759"/>
                </a:solidFill>
              </a:rPr>
              <a:t>environments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574325"/>
            <a:ext cx="4753610" cy="475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50" spc="-120" dirty="0"/>
              <a:t>Limitations</a:t>
            </a:r>
            <a:r>
              <a:rPr sz="2950" spc="-190" dirty="0"/>
              <a:t> </a:t>
            </a:r>
            <a:r>
              <a:rPr sz="2950" spc="-260" dirty="0"/>
              <a:t>&amp;</a:t>
            </a:r>
            <a:r>
              <a:rPr sz="2950" spc="-180" dirty="0"/>
              <a:t> </a:t>
            </a:r>
            <a:r>
              <a:rPr sz="2950" spc="-140" dirty="0"/>
              <a:t>Future</a:t>
            </a:r>
            <a:r>
              <a:rPr sz="2950" spc="-180" dirty="0"/>
              <a:t> </a:t>
            </a:r>
            <a:r>
              <a:rPr sz="2950" spc="-10" dirty="0"/>
              <a:t>Scope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587374" y="1419097"/>
            <a:ext cx="170497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45" dirty="0">
                <a:solidFill>
                  <a:srgbClr val="0C0D0E"/>
                </a:solidFill>
                <a:latin typeface="Verdana"/>
                <a:cs typeface="Verdana"/>
              </a:rPr>
              <a:t>Current</a:t>
            </a:r>
            <a:r>
              <a:rPr sz="1450" spc="-9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450" spc="-40" dirty="0">
                <a:solidFill>
                  <a:srgbClr val="0C0D0E"/>
                </a:solidFill>
                <a:latin typeface="Verdana"/>
                <a:cs typeface="Verdana"/>
              </a:rPr>
              <a:t>Limitations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4" y="1838324"/>
            <a:ext cx="2390775" cy="1200150"/>
            <a:chOff x="600074" y="1838324"/>
            <a:chExt cx="2390775" cy="1200150"/>
          </a:xfrm>
        </p:grpSpPr>
        <p:sp>
          <p:nvSpPr>
            <p:cNvPr id="5" name="object 5"/>
            <p:cNvSpPr/>
            <p:nvPr/>
          </p:nvSpPr>
          <p:spPr>
            <a:xfrm>
              <a:off x="609599" y="1847849"/>
              <a:ext cx="2371725" cy="1181100"/>
            </a:xfrm>
            <a:custGeom>
              <a:avLst/>
              <a:gdLst/>
              <a:ahLst/>
              <a:cxnLst/>
              <a:rect l="l" t="t" r="r" b="b"/>
              <a:pathLst>
                <a:path w="2371725" h="1181100">
                  <a:moveTo>
                    <a:pt x="2275498" y="1181099"/>
                  </a:moveTo>
                  <a:lnTo>
                    <a:pt x="96226" y="1181099"/>
                  </a:lnTo>
                  <a:lnTo>
                    <a:pt x="89529" y="1180440"/>
                  </a:lnTo>
                  <a:lnTo>
                    <a:pt x="51394" y="1167499"/>
                  </a:lnTo>
                  <a:lnTo>
                    <a:pt x="21113" y="1140951"/>
                  </a:lnTo>
                  <a:lnTo>
                    <a:pt x="3298" y="1104835"/>
                  </a:lnTo>
                  <a:lnTo>
                    <a:pt x="0" y="1084873"/>
                  </a:lnTo>
                  <a:lnTo>
                    <a:pt x="0" y="1078110"/>
                  </a:lnTo>
                  <a:lnTo>
                    <a:pt x="0" y="96226"/>
                  </a:lnTo>
                  <a:lnTo>
                    <a:pt x="10427" y="57329"/>
                  </a:lnTo>
                  <a:lnTo>
                    <a:pt x="34946" y="25382"/>
                  </a:lnTo>
                  <a:lnTo>
                    <a:pt x="69824" y="5251"/>
                  </a:lnTo>
                  <a:lnTo>
                    <a:pt x="96226" y="0"/>
                  </a:lnTo>
                  <a:lnTo>
                    <a:pt x="2275498" y="0"/>
                  </a:lnTo>
                  <a:lnTo>
                    <a:pt x="2314395" y="10427"/>
                  </a:lnTo>
                  <a:lnTo>
                    <a:pt x="2346341" y="34946"/>
                  </a:lnTo>
                  <a:lnTo>
                    <a:pt x="2366472" y="69824"/>
                  </a:lnTo>
                  <a:lnTo>
                    <a:pt x="2371725" y="96226"/>
                  </a:lnTo>
                  <a:lnTo>
                    <a:pt x="2371725" y="1084873"/>
                  </a:lnTo>
                  <a:lnTo>
                    <a:pt x="2361296" y="1123770"/>
                  </a:lnTo>
                  <a:lnTo>
                    <a:pt x="2336778" y="1155716"/>
                  </a:lnTo>
                  <a:lnTo>
                    <a:pt x="2301900" y="1175848"/>
                  </a:lnTo>
                  <a:lnTo>
                    <a:pt x="2282195" y="1180440"/>
                  </a:lnTo>
                  <a:lnTo>
                    <a:pt x="2275498" y="1181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599" y="1847849"/>
              <a:ext cx="2371725" cy="1181100"/>
            </a:xfrm>
            <a:custGeom>
              <a:avLst/>
              <a:gdLst/>
              <a:ahLst/>
              <a:cxnLst/>
              <a:rect l="l" t="t" r="r" b="b"/>
              <a:pathLst>
                <a:path w="2371725" h="1181100">
                  <a:moveTo>
                    <a:pt x="0" y="1078110"/>
                  </a:moveTo>
                  <a:lnTo>
                    <a:pt x="0" y="102989"/>
                  </a:lnTo>
                  <a:lnTo>
                    <a:pt x="0" y="96226"/>
                  </a:lnTo>
                  <a:lnTo>
                    <a:pt x="659" y="89529"/>
                  </a:lnTo>
                  <a:lnTo>
                    <a:pt x="1978" y="82896"/>
                  </a:lnTo>
                  <a:lnTo>
                    <a:pt x="3298" y="76264"/>
                  </a:lnTo>
                  <a:lnTo>
                    <a:pt x="5251" y="69824"/>
                  </a:lnTo>
                  <a:lnTo>
                    <a:pt x="25383" y="34946"/>
                  </a:lnTo>
                  <a:lnTo>
                    <a:pt x="30164" y="30164"/>
                  </a:lnTo>
                  <a:lnTo>
                    <a:pt x="34946" y="25382"/>
                  </a:lnTo>
                  <a:lnTo>
                    <a:pt x="40148" y="21113"/>
                  </a:lnTo>
                  <a:lnTo>
                    <a:pt x="45771" y="17356"/>
                  </a:lnTo>
                  <a:lnTo>
                    <a:pt x="51393" y="13599"/>
                  </a:lnTo>
                  <a:lnTo>
                    <a:pt x="82896" y="1978"/>
                  </a:lnTo>
                  <a:lnTo>
                    <a:pt x="89529" y="659"/>
                  </a:lnTo>
                  <a:lnTo>
                    <a:pt x="96226" y="0"/>
                  </a:lnTo>
                  <a:lnTo>
                    <a:pt x="102989" y="0"/>
                  </a:lnTo>
                  <a:lnTo>
                    <a:pt x="2268735" y="0"/>
                  </a:lnTo>
                  <a:lnTo>
                    <a:pt x="2275498" y="0"/>
                  </a:lnTo>
                  <a:lnTo>
                    <a:pt x="2282195" y="659"/>
                  </a:lnTo>
                  <a:lnTo>
                    <a:pt x="2288827" y="1978"/>
                  </a:lnTo>
                  <a:lnTo>
                    <a:pt x="2295460" y="3298"/>
                  </a:lnTo>
                  <a:lnTo>
                    <a:pt x="2331575" y="21113"/>
                  </a:lnTo>
                  <a:lnTo>
                    <a:pt x="2341559" y="30164"/>
                  </a:lnTo>
                  <a:lnTo>
                    <a:pt x="2346341" y="34946"/>
                  </a:lnTo>
                  <a:lnTo>
                    <a:pt x="2350610" y="40148"/>
                  </a:lnTo>
                  <a:lnTo>
                    <a:pt x="2354367" y="45771"/>
                  </a:lnTo>
                  <a:lnTo>
                    <a:pt x="2358124" y="51393"/>
                  </a:lnTo>
                  <a:lnTo>
                    <a:pt x="2371065" y="89529"/>
                  </a:lnTo>
                  <a:lnTo>
                    <a:pt x="2371725" y="96226"/>
                  </a:lnTo>
                  <a:lnTo>
                    <a:pt x="2371724" y="102989"/>
                  </a:lnTo>
                  <a:lnTo>
                    <a:pt x="2371724" y="1078110"/>
                  </a:lnTo>
                  <a:lnTo>
                    <a:pt x="2371725" y="1084873"/>
                  </a:lnTo>
                  <a:lnTo>
                    <a:pt x="2371065" y="1091570"/>
                  </a:lnTo>
                  <a:lnTo>
                    <a:pt x="2369745" y="1098202"/>
                  </a:lnTo>
                  <a:lnTo>
                    <a:pt x="2368426" y="1104835"/>
                  </a:lnTo>
                  <a:lnTo>
                    <a:pt x="2354367" y="1135328"/>
                  </a:lnTo>
                  <a:lnTo>
                    <a:pt x="2350610" y="1140951"/>
                  </a:lnTo>
                  <a:lnTo>
                    <a:pt x="2325952" y="1163743"/>
                  </a:lnTo>
                  <a:lnTo>
                    <a:pt x="2320330" y="1167499"/>
                  </a:lnTo>
                  <a:lnTo>
                    <a:pt x="2288827" y="1179120"/>
                  </a:lnTo>
                  <a:lnTo>
                    <a:pt x="2282195" y="1180440"/>
                  </a:lnTo>
                  <a:lnTo>
                    <a:pt x="2275498" y="1181099"/>
                  </a:lnTo>
                  <a:lnTo>
                    <a:pt x="2268735" y="1181099"/>
                  </a:lnTo>
                  <a:lnTo>
                    <a:pt x="102989" y="1181099"/>
                  </a:lnTo>
                  <a:lnTo>
                    <a:pt x="96226" y="1181099"/>
                  </a:lnTo>
                  <a:lnTo>
                    <a:pt x="89529" y="1180440"/>
                  </a:lnTo>
                  <a:lnTo>
                    <a:pt x="82896" y="1179120"/>
                  </a:lnTo>
                  <a:lnTo>
                    <a:pt x="76264" y="1177801"/>
                  </a:lnTo>
                  <a:lnTo>
                    <a:pt x="69824" y="1175848"/>
                  </a:lnTo>
                  <a:lnTo>
                    <a:pt x="63576" y="1173260"/>
                  </a:lnTo>
                  <a:lnTo>
                    <a:pt x="57329" y="1170672"/>
                  </a:lnTo>
                  <a:lnTo>
                    <a:pt x="30164" y="1150935"/>
                  </a:lnTo>
                  <a:lnTo>
                    <a:pt x="25383" y="1146153"/>
                  </a:lnTo>
                  <a:lnTo>
                    <a:pt x="21113" y="1140951"/>
                  </a:lnTo>
                  <a:lnTo>
                    <a:pt x="17356" y="1135328"/>
                  </a:lnTo>
                  <a:lnTo>
                    <a:pt x="13599" y="1129705"/>
                  </a:lnTo>
                  <a:lnTo>
                    <a:pt x="1978" y="1098202"/>
                  </a:lnTo>
                  <a:lnTo>
                    <a:pt x="659" y="1091570"/>
                  </a:lnTo>
                  <a:lnTo>
                    <a:pt x="0" y="1084873"/>
                  </a:lnTo>
                  <a:lnTo>
                    <a:pt x="0" y="1078110"/>
                  </a:lnTo>
                  <a:close/>
                </a:path>
              </a:pathLst>
            </a:custGeom>
            <a:ln w="19049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56443" y="1990598"/>
            <a:ext cx="2018664" cy="852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60" dirty="0">
                <a:solidFill>
                  <a:srgbClr val="545759"/>
                </a:solidFill>
                <a:latin typeface="Verdana"/>
                <a:cs typeface="Verdana"/>
              </a:rPr>
              <a:t>Simulated</a:t>
            </a:r>
            <a:r>
              <a:rPr sz="1450" spc="-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20" dirty="0">
                <a:solidFill>
                  <a:srgbClr val="545759"/>
                </a:solidFill>
                <a:latin typeface="Verdana"/>
                <a:cs typeface="Verdana"/>
              </a:rPr>
              <a:t>Data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990"/>
              </a:spcBef>
            </a:pP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Uses</a:t>
            </a:r>
            <a:r>
              <a:rPr sz="1150" spc="-6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generated</a:t>
            </a:r>
            <a:r>
              <a:rPr sz="11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data</a:t>
            </a:r>
            <a:r>
              <a:rPr sz="1150" spc="-6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instead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of</a:t>
            </a:r>
            <a:r>
              <a:rPr sz="1150" spc="-10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real</a:t>
            </a:r>
            <a:r>
              <a:rPr sz="1150" spc="-10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65" dirty="0">
                <a:solidFill>
                  <a:srgbClr val="545759"/>
                </a:solidFill>
                <a:latin typeface="Lucida Sans Unicode"/>
                <a:cs typeface="Lucida Sans Unicode"/>
              </a:rPr>
              <a:t>IoT</a:t>
            </a:r>
            <a:r>
              <a:rPr sz="1150" spc="-14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sensors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43249" y="1838324"/>
            <a:ext cx="2390775" cy="1200150"/>
            <a:chOff x="3143249" y="1838324"/>
            <a:chExt cx="2390775" cy="1200150"/>
          </a:xfrm>
        </p:grpSpPr>
        <p:sp>
          <p:nvSpPr>
            <p:cNvPr id="9" name="object 9"/>
            <p:cNvSpPr/>
            <p:nvPr/>
          </p:nvSpPr>
          <p:spPr>
            <a:xfrm>
              <a:off x="3152774" y="1847849"/>
              <a:ext cx="2371725" cy="1181100"/>
            </a:xfrm>
            <a:custGeom>
              <a:avLst/>
              <a:gdLst/>
              <a:ahLst/>
              <a:cxnLst/>
              <a:rect l="l" t="t" r="r" b="b"/>
              <a:pathLst>
                <a:path w="2371725" h="1181100">
                  <a:moveTo>
                    <a:pt x="2275498" y="1181099"/>
                  </a:moveTo>
                  <a:lnTo>
                    <a:pt x="96226" y="1181099"/>
                  </a:lnTo>
                  <a:lnTo>
                    <a:pt x="89529" y="1180440"/>
                  </a:lnTo>
                  <a:lnTo>
                    <a:pt x="51393" y="1167499"/>
                  </a:lnTo>
                  <a:lnTo>
                    <a:pt x="21113" y="1140951"/>
                  </a:lnTo>
                  <a:lnTo>
                    <a:pt x="3298" y="1104835"/>
                  </a:lnTo>
                  <a:lnTo>
                    <a:pt x="0" y="1084873"/>
                  </a:lnTo>
                  <a:lnTo>
                    <a:pt x="0" y="1078110"/>
                  </a:lnTo>
                  <a:lnTo>
                    <a:pt x="0" y="96226"/>
                  </a:lnTo>
                  <a:lnTo>
                    <a:pt x="10427" y="57329"/>
                  </a:lnTo>
                  <a:lnTo>
                    <a:pt x="34946" y="25382"/>
                  </a:lnTo>
                  <a:lnTo>
                    <a:pt x="69824" y="5251"/>
                  </a:lnTo>
                  <a:lnTo>
                    <a:pt x="96226" y="0"/>
                  </a:lnTo>
                  <a:lnTo>
                    <a:pt x="2275498" y="0"/>
                  </a:lnTo>
                  <a:lnTo>
                    <a:pt x="2314395" y="10427"/>
                  </a:lnTo>
                  <a:lnTo>
                    <a:pt x="2346341" y="34946"/>
                  </a:lnTo>
                  <a:lnTo>
                    <a:pt x="2366473" y="69824"/>
                  </a:lnTo>
                  <a:lnTo>
                    <a:pt x="2371725" y="96226"/>
                  </a:lnTo>
                  <a:lnTo>
                    <a:pt x="2371725" y="1084873"/>
                  </a:lnTo>
                  <a:lnTo>
                    <a:pt x="2361297" y="1123770"/>
                  </a:lnTo>
                  <a:lnTo>
                    <a:pt x="2336778" y="1155716"/>
                  </a:lnTo>
                  <a:lnTo>
                    <a:pt x="2301899" y="1175848"/>
                  </a:lnTo>
                  <a:lnTo>
                    <a:pt x="2282195" y="1180440"/>
                  </a:lnTo>
                  <a:lnTo>
                    <a:pt x="2275498" y="1181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52774" y="1847849"/>
              <a:ext cx="2371725" cy="1181100"/>
            </a:xfrm>
            <a:custGeom>
              <a:avLst/>
              <a:gdLst/>
              <a:ahLst/>
              <a:cxnLst/>
              <a:rect l="l" t="t" r="r" b="b"/>
              <a:pathLst>
                <a:path w="2371725" h="1181100">
                  <a:moveTo>
                    <a:pt x="0" y="1078110"/>
                  </a:moveTo>
                  <a:lnTo>
                    <a:pt x="0" y="102989"/>
                  </a:lnTo>
                  <a:lnTo>
                    <a:pt x="0" y="96226"/>
                  </a:lnTo>
                  <a:lnTo>
                    <a:pt x="659" y="89529"/>
                  </a:lnTo>
                  <a:lnTo>
                    <a:pt x="1978" y="82896"/>
                  </a:lnTo>
                  <a:lnTo>
                    <a:pt x="3298" y="76264"/>
                  </a:lnTo>
                  <a:lnTo>
                    <a:pt x="5251" y="69824"/>
                  </a:lnTo>
                  <a:lnTo>
                    <a:pt x="25383" y="34946"/>
                  </a:lnTo>
                  <a:lnTo>
                    <a:pt x="30165" y="30164"/>
                  </a:lnTo>
                  <a:lnTo>
                    <a:pt x="34946" y="25382"/>
                  </a:lnTo>
                  <a:lnTo>
                    <a:pt x="40148" y="21113"/>
                  </a:lnTo>
                  <a:lnTo>
                    <a:pt x="45771" y="17356"/>
                  </a:lnTo>
                  <a:lnTo>
                    <a:pt x="51393" y="13599"/>
                  </a:lnTo>
                  <a:lnTo>
                    <a:pt x="82896" y="1978"/>
                  </a:lnTo>
                  <a:lnTo>
                    <a:pt x="89529" y="659"/>
                  </a:lnTo>
                  <a:lnTo>
                    <a:pt x="96226" y="0"/>
                  </a:lnTo>
                  <a:lnTo>
                    <a:pt x="102989" y="0"/>
                  </a:lnTo>
                  <a:lnTo>
                    <a:pt x="2268736" y="0"/>
                  </a:lnTo>
                  <a:lnTo>
                    <a:pt x="2275498" y="0"/>
                  </a:lnTo>
                  <a:lnTo>
                    <a:pt x="2282195" y="659"/>
                  </a:lnTo>
                  <a:lnTo>
                    <a:pt x="2288827" y="1978"/>
                  </a:lnTo>
                  <a:lnTo>
                    <a:pt x="2295459" y="3298"/>
                  </a:lnTo>
                  <a:lnTo>
                    <a:pt x="2325952" y="17356"/>
                  </a:lnTo>
                  <a:lnTo>
                    <a:pt x="2331575" y="21113"/>
                  </a:lnTo>
                  <a:lnTo>
                    <a:pt x="2336778" y="25382"/>
                  </a:lnTo>
                  <a:lnTo>
                    <a:pt x="2341560" y="30164"/>
                  </a:lnTo>
                  <a:lnTo>
                    <a:pt x="2346341" y="34946"/>
                  </a:lnTo>
                  <a:lnTo>
                    <a:pt x="2366473" y="69824"/>
                  </a:lnTo>
                  <a:lnTo>
                    <a:pt x="2369745" y="82896"/>
                  </a:lnTo>
                  <a:lnTo>
                    <a:pt x="2371065" y="89529"/>
                  </a:lnTo>
                  <a:lnTo>
                    <a:pt x="2371725" y="96226"/>
                  </a:lnTo>
                  <a:lnTo>
                    <a:pt x="2371725" y="102989"/>
                  </a:lnTo>
                  <a:lnTo>
                    <a:pt x="2371725" y="1078110"/>
                  </a:lnTo>
                  <a:lnTo>
                    <a:pt x="2371725" y="1084873"/>
                  </a:lnTo>
                  <a:lnTo>
                    <a:pt x="2371065" y="1091570"/>
                  </a:lnTo>
                  <a:lnTo>
                    <a:pt x="2369745" y="1098202"/>
                  </a:lnTo>
                  <a:lnTo>
                    <a:pt x="2368426" y="1104835"/>
                  </a:lnTo>
                  <a:lnTo>
                    <a:pt x="2354367" y="1135328"/>
                  </a:lnTo>
                  <a:lnTo>
                    <a:pt x="2350610" y="1140951"/>
                  </a:lnTo>
                  <a:lnTo>
                    <a:pt x="2325952" y="1163743"/>
                  </a:lnTo>
                  <a:lnTo>
                    <a:pt x="2320330" y="1167499"/>
                  </a:lnTo>
                  <a:lnTo>
                    <a:pt x="2288827" y="1179120"/>
                  </a:lnTo>
                  <a:lnTo>
                    <a:pt x="2282195" y="1180440"/>
                  </a:lnTo>
                  <a:lnTo>
                    <a:pt x="2275498" y="1181099"/>
                  </a:lnTo>
                  <a:lnTo>
                    <a:pt x="2268736" y="1181099"/>
                  </a:lnTo>
                  <a:lnTo>
                    <a:pt x="102989" y="1181099"/>
                  </a:lnTo>
                  <a:lnTo>
                    <a:pt x="96226" y="1181099"/>
                  </a:lnTo>
                  <a:lnTo>
                    <a:pt x="89529" y="1180440"/>
                  </a:lnTo>
                  <a:lnTo>
                    <a:pt x="82896" y="1179120"/>
                  </a:lnTo>
                  <a:lnTo>
                    <a:pt x="76264" y="1177801"/>
                  </a:lnTo>
                  <a:lnTo>
                    <a:pt x="40148" y="1159986"/>
                  </a:lnTo>
                  <a:lnTo>
                    <a:pt x="30165" y="1150935"/>
                  </a:lnTo>
                  <a:lnTo>
                    <a:pt x="25383" y="1146153"/>
                  </a:lnTo>
                  <a:lnTo>
                    <a:pt x="21113" y="1140951"/>
                  </a:lnTo>
                  <a:lnTo>
                    <a:pt x="17356" y="1135328"/>
                  </a:lnTo>
                  <a:lnTo>
                    <a:pt x="13599" y="1129705"/>
                  </a:lnTo>
                  <a:lnTo>
                    <a:pt x="1978" y="1098202"/>
                  </a:lnTo>
                  <a:lnTo>
                    <a:pt x="659" y="1091570"/>
                  </a:lnTo>
                  <a:lnTo>
                    <a:pt x="0" y="1084873"/>
                  </a:lnTo>
                  <a:lnTo>
                    <a:pt x="0" y="1078110"/>
                  </a:lnTo>
                  <a:close/>
                </a:path>
              </a:pathLst>
            </a:custGeom>
            <a:ln w="19049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297386" y="1990598"/>
            <a:ext cx="145097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Basic</a:t>
            </a:r>
            <a:r>
              <a:rPr sz="1450" spc="-9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Prediction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7386" y="2341403"/>
            <a:ext cx="1694180" cy="50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Simple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+15%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model;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no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advanced</a:t>
            </a:r>
            <a:r>
              <a:rPr sz="1150" spc="-12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ML</a:t>
            </a:r>
            <a:r>
              <a:rPr sz="1150" spc="-1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algorithms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0074" y="3190874"/>
            <a:ext cx="4933950" cy="962025"/>
            <a:chOff x="600074" y="3190874"/>
            <a:chExt cx="4933950" cy="962025"/>
          </a:xfrm>
        </p:grpSpPr>
        <p:sp>
          <p:nvSpPr>
            <p:cNvPr id="14" name="object 14"/>
            <p:cNvSpPr/>
            <p:nvPr/>
          </p:nvSpPr>
          <p:spPr>
            <a:xfrm>
              <a:off x="609599" y="3200399"/>
              <a:ext cx="4914900" cy="942975"/>
            </a:xfrm>
            <a:custGeom>
              <a:avLst/>
              <a:gdLst/>
              <a:ahLst/>
              <a:cxnLst/>
              <a:rect l="l" t="t" r="r" b="b"/>
              <a:pathLst>
                <a:path w="4914900" h="942975">
                  <a:moveTo>
                    <a:pt x="4818672" y="942974"/>
                  </a:moveTo>
                  <a:lnTo>
                    <a:pt x="96226" y="942974"/>
                  </a:lnTo>
                  <a:lnTo>
                    <a:pt x="89529" y="942314"/>
                  </a:lnTo>
                  <a:lnTo>
                    <a:pt x="51394" y="929374"/>
                  </a:lnTo>
                  <a:lnTo>
                    <a:pt x="21113" y="902825"/>
                  </a:lnTo>
                  <a:lnTo>
                    <a:pt x="3298" y="866710"/>
                  </a:lnTo>
                  <a:lnTo>
                    <a:pt x="0" y="846747"/>
                  </a:lnTo>
                  <a:lnTo>
                    <a:pt x="0" y="839985"/>
                  </a:lnTo>
                  <a:lnTo>
                    <a:pt x="0" y="96226"/>
                  </a:lnTo>
                  <a:lnTo>
                    <a:pt x="10427" y="57328"/>
                  </a:lnTo>
                  <a:lnTo>
                    <a:pt x="34946" y="25382"/>
                  </a:lnTo>
                  <a:lnTo>
                    <a:pt x="69824" y="5251"/>
                  </a:lnTo>
                  <a:lnTo>
                    <a:pt x="96226" y="0"/>
                  </a:lnTo>
                  <a:lnTo>
                    <a:pt x="4818672" y="0"/>
                  </a:lnTo>
                  <a:lnTo>
                    <a:pt x="4857570" y="10427"/>
                  </a:lnTo>
                  <a:lnTo>
                    <a:pt x="4889516" y="34946"/>
                  </a:lnTo>
                  <a:lnTo>
                    <a:pt x="4909647" y="69823"/>
                  </a:lnTo>
                  <a:lnTo>
                    <a:pt x="4914899" y="96226"/>
                  </a:lnTo>
                  <a:lnTo>
                    <a:pt x="4914899" y="846747"/>
                  </a:lnTo>
                  <a:lnTo>
                    <a:pt x="4904471" y="885645"/>
                  </a:lnTo>
                  <a:lnTo>
                    <a:pt x="4879952" y="917591"/>
                  </a:lnTo>
                  <a:lnTo>
                    <a:pt x="4845074" y="937722"/>
                  </a:lnTo>
                  <a:lnTo>
                    <a:pt x="4825370" y="942314"/>
                  </a:lnTo>
                  <a:lnTo>
                    <a:pt x="4818672" y="9429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9599" y="3200399"/>
              <a:ext cx="4914900" cy="942975"/>
            </a:xfrm>
            <a:custGeom>
              <a:avLst/>
              <a:gdLst/>
              <a:ahLst/>
              <a:cxnLst/>
              <a:rect l="l" t="t" r="r" b="b"/>
              <a:pathLst>
                <a:path w="4914900" h="942975">
                  <a:moveTo>
                    <a:pt x="0" y="839985"/>
                  </a:moveTo>
                  <a:lnTo>
                    <a:pt x="0" y="102989"/>
                  </a:lnTo>
                  <a:lnTo>
                    <a:pt x="0" y="96226"/>
                  </a:lnTo>
                  <a:lnTo>
                    <a:pt x="659" y="89529"/>
                  </a:lnTo>
                  <a:lnTo>
                    <a:pt x="1978" y="82896"/>
                  </a:lnTo>
                  <a:lnTo>
                    <a:pt x="3298" y="76264"/>
                  </a:lnTo>
                  <a:lnTo>
                    <a:pt x="5251" y="69823"/>
                  </a:lnTo>
                  <a:lnTo>
                    <a:pt x="25383" y="34946"/>
                  </a:lnTo>
                  <a:lnTo>
                    <a:pt x="30164" y="30164"/>
                  </a:lnTo>
                  <a:lnTo>
                    <a:pt x="34946" y="25382"/>
                  </a:lnTo>
                  <a:lnTo>
                    <a:pt x="40148" y="21113"/>
                  </a:lnTo>
                  <a:lnTo>
                    <a:pt x="45771" y="17356"/>
                  </a:lnTo>
                  <a:lnTo>
                    <a:pt x="51393" y="13599"/>
                  </a:lnTo>
                  <a:lnTo>
                    <a:pt x="57329" y="10427"/>
                  </a:lnTo>
                  <a:lnTo>
                    <a:pt x="63576" y="7839"/>
                  </a:lnTo>
                  <a:lnTo>
                    <a:pt x="69824" y="5251"/>
                  </a:lnTo>
                  <a:lnTo>
                    <a:pt x="76264" y="3298"/>
                  </a:lnTo>
                  <a:lnTo>
                    <a:pt x="82896" y="1978"/>
                  </a:lnTo>
                  <a:lnTo>
                    <a:pt x="89529" y="659"/>
                  </a:lnTo>
                  <a:lnTo>
                    <a:pt x="96226" y="0"/>
                  </a:lnTo>
                  <a:lnTo>
                    <a:pt x="102989" y="0"/>
                  </a:lnTo>
                  <a:lnTo>
                    <a:pt x="4811910" y="0"/>
                  </a:lnTo>
                  <a:lnTo>
                    <a:pt x="4818672" y="0"/>
                  </a:lnTo>
                  <a:lnTo>
                    <a:pt x="4825370" y="659"/>
                  </a:lnTo>
                  <a:lnTo>
                    <a:pt x="4832002" y="1978"/>
                  </a:lnTo>
                  <a:lnTo>
                    <a:pt x="4838634" y="3298"/>
                  </a:lnTo>
                  <a:lnTo>
                    <a:pt x="4869127" y="17356"/>
                  </a:lnTo>
                  <a:lnTo>
                    <a:pt x="4874750" y="21113"/>
                  </a:lnTo>
                  <a:lnTo>
                    <a:pt x="4879952" y="25382"/>
                  </a:lnTo>
                  <a:lnTo>
                    <a:pt x="4884734" y="30164"/>
                  </a:lnTo>
                  <a:lnTo>
                    <a:pt x="4889516" y="34946"/>
                  </a:lnTo>
                  <a:lnTo>
                    <a:pt x="4909647" y="69823"/>
                  </a:lnTo>
                  <a:lnTo>
                    <a:pt x="4912920" y="82896"/>
                  </a:lnTo>
                  <a:lnTo>
                    <a:pt x="4914239" y="89529"/>
                  </a:lnTo>
                  <a:lnTo>
                    <a:pt x="4914899" y="96226"/>
                  </a:lnTo>
                  <a:lnTo>
                    <a:pt x="4914899" y="102989"/>
                  </a:lnTo>
                  <a:lnTo>
                    <a:pt x="4914899" y="839985"/>
                  </a:lnTo>
                  <a:lnTo>
                    <a:pt x="4914899" y="846747"/>
                  </a:lnTo>
                  <a:lnTo>
                    <a:pt x="4914239" y="853445"/>
                  </a:lnTo>
                  <a:lnTo>
                    <a:pt x="4912920" y="860077"/>
                  </a:lnTo>
                  <a:lnTo>
                    <a:pt x="4911601" y="866710"/>
                  </a:lnTo>
                  <a:lnTo>
                    <a:pt x="4897541" y="897203"/>
                  </a:lnTo>
                  <a:lnTo>
                    <a:pt x="4893785" y="902825"/>
                  </a:lnTo>
                  <a:lnTo>
                    <a:pt x="4869127" y="925617"/>
                  </a:lnTo>
                  <a:lnTo>
                    <a:pt x="4863505" y="929374"/>
                  </a:lnTo>
                  <a:lnTo>
                    <a:pt x="4825370" y="942314"/>
                  </a:lnTo>
                  <a:lnTo>
                    <a:pt x="4811910" y="942974"/>
                  </a:lnTo>
                  <a:lnTo>
                    <a:pt x="102989" y="942974"/>
                  </a:lnTo>
                  <a:lnTo>
                    <a:pt x="63576" y="935134"/>
                  </a:lnTo>
                  <a:lnTo>
                    <a:pt x="57329" y="932546"/>
                  </a:lnTo>
                  <a:lnTo>
                    <a:pt x="51394" y="929374"/>
                  </a:lnTo>
                  <a:lnTo>
                    <a:pt x="45771" y="925617"/>
                  </a:lnTo>
                  <a:lnTo>
                    <a:pt x="40148" y="921860"/>
                  </a:lnTo>
                  <a:lnTo>
                    <a:pt x="17356" y="897203"/>
                  </a:lnTo>
                  <a:lnTo>
                    <a:pt x="13599" y="891580"/>
                  </a:lnTo>
                  <a:lnTo>
                    <a:pt x="1978" y="860077"/>
                  </a:lnTo>
                  <a:lnTo>
                    <a:pt x="659" y="853445"/>
                  </a:lnTo>
                  <a:lnTo>
                    <a:pt x="0" y="846747"/>
                  </a:lnTo>
                  <a:lnTo>
                    <a:pt x="0" y="839985"/>
                  </a:lnTo>
                  <a:close/>
                </a:path>
              </a:pathLst>
            </a:custGeom>
            <a:ln w="19049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56443" y="3343147"/>
            <a:ext cx="3257550" cy="6146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545759"/>
                </a:solidFill>
                <a:latin typeface="Verdana"/>
                <a:cs typeface="Verdana"/>
              </a:rPr>
              <a:t>No</a:t>
            </a:r>
            <a:r>
              <a:rPr sz="1450" spc="-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55" dirty="0">
                <a:solidFill>
                  <a:srgbClr val="545759"/>
                </a:solidFill>
                <a:latin typeface="Verdana"/>
                <a:cs typeface="Verdana"/>
              </a:rPr>
              <a:t>External</a:t>
            </a:r>
            <a:r>
              <a:rPr sz="1450" spc="-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Factors</a:t>
            </a:r>
            <a:endParaRPr sz="14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Traffic,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weather,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and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events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are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not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considered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94734" y="1419097"/>
            <a:ext cx="195135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60" dirty="0">
                <a:solidFill>
                  <a:srgbClr val="0C0D0E"/>
                </a:solidFill>
                <a:latin typeface="Verdana"/>
                <a:cs typeface="Verdana"/>
              </a:rPr>
              <a:t>Future</a:t>
            </a:r>
            <a:r>
              <a:rPr sz="1450" spc="-7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0C0D0E"/>
                </a:solidFill>
                <a:latin typeface="Verdana"/>
                <a:cs typeface="Verdana"/>
              </a:rPr>
              <a:t>Enhancements</a:t>
            </a:r>
            <a:endParaRPr sz="145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05499" y="2060971"/>
            <a:ext cx="2390775" cy="447675"/>
            <a:chOff x="5905499" y="2060971"/>
            <a:chExt cx="2390775" cy="447675"/>
          </a:xfrm>
        </p:grpSpPr>
        <p:sp>
          <p:nvSpPr>
            <p:cNvPr id="19" name="object 19"/>
            <p:cNvSpPr/>
            <p:nvPr/>
          </p:nvSpPr>
          <p:spPr>
            <a:xfrm>
              <a:off x="6138861" y="2214562"/>
              <a:ext cx="2152650" cy="142875"/>
            </a:xfrm>
            <a:custGeom>
              <a:avLst/>
              <a:gdLst/>
              <a:ahLst/>
              <a:cxnLst/>
              <a:rect l="l" t="t" r="r" b="b"/>
              <a:pathLst>
                <a:path w="2152650" h="142875">
                  <a:moveTo>
                    <a:pt x="2085902" y="142874"/>
                  </a:moveTo>
                  <a:lnTo>
                    <a:pt x="66746" y="142874"/>
                  </a:lnTo>
                  <a:lnTo>
                    <a:pt x="62100" y="142417"/>
                  </a:lnTo>
                  <a:lnTo>
                    <a:pt x="24239" y="125267"/>
                  </a:lnTo>
                  <a:lnTo>
                    <a:pt x="2287" y="89974"/>
                  </a:lnTo>
                  <a:lnTo>
                    <a:pt x="0" y="714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2085902" y="0"/>
                  </a:lnTo>
                  <a:lnTo>
                    <a:pt x="2124800" y="14645"/>
                  </a:lnTo>
                  <a:lnTo>
                    <a:pt x="2149005" y="48432"/>
                  </a:lnTo>
                  <a:lnTo>
                    <a:pt x="2152649" y="66746"/>
                  </a:lnTo>
                  <a:lnTo>
                    <a:pt x="2152649" y="76128"/>
                  </a:lnTo>
                  <a:lnTo>
                    <a:pt x="2138003" y="115025"/>
                  </a:lnTo>
                  <a:lnTo>
                    <a:pt x="2104215" y="139231"/>
                  </a:lnTo>
                  <a:lnTo>
                    <a:pt x="2085902" y="142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38861" y="2214562"/>
              <a:ext cx="2152650" cy="142875"/>
            </a:xfrm>
            <a:custGeom>
              <a:avLst/>
              <a:gdLst/>
              <a:ahLst/>
              <a:cxnLst/>
              <a:rect l="l" t="t" r="r" b="b"/>
              <a:pathLst>
                <a:path w="2152650" h="142875">
                  <a:moveTo>
                    <a:pt x="0" y="71437"/>
                  </a:moveTo>
                  <a:lnTo>
                    <a:pt x="12038" y="31748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62100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2081212" y="0"/>
                  </a:lnTo>
                  <a:lnTo>
                    <a:pt x="2085902" y="0"/>
                  </a:lnTo>
                  <a:lnTo>
                    <a:pt x="2090548" y="457"/>
                  </a:lnTo>
                  <a:lnTo>
                    <a:pt x="2095148" y="1372"/>
                  </a:lnTo>
                  <a:lnTo>
                    <a:pt x="2099748" y="2287"/>
                  </a:lnTo>
                  <a:lnTo>
                    <a:pt x="2120900" y="12039"/>
                  </a:lnTo>
                  <a:lnTo>
                    <a:pt x="2124800" y="14645"/>
                  </a:lnTo>
                  <a:lnTo>
                    <a:pt x="2128408" y="17606"/>
                  </a:lnTo>
                  <a:lnTo>
                    <a:pt x="2131725" y="20923"/>
                  </a:lnTo>
                  <a:lnTo>
                    <a:pt x="2135042" y="24240"/>
                  </a:lnTo>
                  <a:lnTo>
                    <a:pt x="2152191" y="62101"/>
                  </a:lnTo>
                  <a:lnTo>
                    <a:pt x="2152649" y="71437"/>
                  </a:lnTo>
                  <a:lnTo>
                    <a:pt x="2152649" y="76128"/>
                  </a:lnTo>
                  <a:lnTo>
                    <a:pt x="2138003" y="115025"/>
                  </a:lnTo>
                  <a:lnTo>
                    <a:pt x="2131725" y="121951"/>
                  </a:lnTo>
                  <a:lnTo>
                    <a:pt x="2128408" y="125267"/>
                  </a:lnTo>
                  <a:lnTo>
                    <a:pt x="2090547" y="142417"/>
                  </a:lnTo>
                  <a:lnTo>
                    <a:pt x="2081212" y="142874"/>
                  </a:lnTo>
                  <a:lnTo>
                    <a:pt x="71437" y="142874"/>
                  </a:lnTo>
                  <a:lnTo>
                    <a:pt x="31748" y="130835"/>
                  </a:lnTo>
                  <a:lnTo>
                    <a:pt x="20923" y="121951"/>
                  </a:lnTo>
                  <a:lnTo>
                    <a:pt x="17606" y="118634"/>
                  </a:lnTo>
                  <a:lnTo>
                    <a:pt x="458" y="80773"/>
                  </a:lnTo>
                  <a:lnTo>
                    <a:pt x="0" y="76128"/>
                  </a:lnTo>
                  <a:lnTo>
                    <a:pt x="0" y="71437"/>
                  </a:lnTo>
                  <a:close/>
                </a:path>
              </a:pathLst>
            </a:custGeom>
            <a:ln w="9524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10262" y="2065734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226249" y="438149"/>
                  </a:moveTo>
                  <a:lnTo>
                    <a:pt x="211900" y="438149"/>
                  </a:lnTo>
                  <a:lnTo>
                    <a:pt x="204742" y="437798"/>
                  </a:lnTo>
                  <a:lnTo>
                    <a:pt x="162346" y="430799"/>
                  </a:lnTo>
                  <a:lnTo>
                    <a:pt x="122131" y="415664"/>
                  </a:lnTo>
                  <a:lnTo>
                    <a:pt x="85641" y="392973"/>
                  </a:lnTo>
                  <a:lnTo>
                    <a:pt x="54279" y="363600"/>
                  </a:lnTo>
                  <a:lnTo>
                    <a:pt x="29250" y="328673"/>
                  </a:lnTo>
                  <a:lnTo>
                    <a:pt x="11516" y="289535"/>
                  </a:lnTo>
                  <a:lnTo>
                    <a:pt x="1758" y="247688"/>
                  </a:lnTo>
                  <a:lnTo>
                    <a:pt x="0" y="226249"/>
                  </a:lnTo>
                  <a:lnTo>
                    <a:pt x="0" y="211900"/>
                  </a:lnTo>
                  <a:lnTo>
                    <a:pt x="5609" y="169298"/>
                  </a:lnTo>
                  <a:lnTo>
                    <a:pt x="19421" y="128609"/>
                  </a:lnTo>
                  <a:lnTo>
                    <a:pt x="40906" y="91397"/>
                  </a:lnTo>
                  <a:lnTo>
                    <a:pt x="69239" y="59092"/>
                  </a:lnTo>
                  <a:lnTo>
                    <a:pt x="103329" y="32934"/>
                  </a:lnTo>
                  <a:lnTo>
                    <a:pt x="141867" y="13930"/>
                  </a:lnTo>
                  <a:lnTo>
                    <a:pt x="183372" y="2809"/>
                  </a:lnTo>
                  <a:lnTo>
                    <a:pt x="211900" y="0"/>
                  </a:lnTo>
                  <a:lnTo>
                    <a:pt x="226249" y="0"/>
                  </a:lnTo>
                  <a:lnTo>
                    <a:pt x="268851" y="5609"/>
                  </a:lnTo>
                  <a:lnTo>
                    <a:pt x="309540" y="19421"/>
                  </a:lnTo>
                  <a:lnTo>
                    <a:pt x="346752" y="40906"/>
                  </a:lnTo>
                  <a:lnTo>
                    <a:pt x="379057" y="69239"/>
                  </a:lnTo>
                  <a:lnTo>
                    <a:pt x="405215" y="103329"/>
                  </a:lnTo>
                  <a:lnTo>
                    <a:pt x="424219" y="141867"/>
                  </a:lnTo>
                  <a:lnTo>
                    <a:pt x="435340" y="183372"/>
                  </a:lnTo>
                  <a:lnTo>
                    <a:pt x="438150" y="211900"/>
                  </a:lnTo>
                  <a:lnTo>
                    <a:pt x="438149" y="219074"/>
                  </a:lnTo>
                  <a:lnTo>
                    <a:pt x="438150" y="226249"/>
                  </a:lnTo>
                  <a:lnTo>
                    <a:pt x="432540" y="268851"/>
                  </a:lnTo>
                  <a:lnTo>
                    <a:pt x="418728" y="309540"/>
                  </a:lnTo>
                  <a:lnTo>
                    <a:pt x="397242" y="346752"/>
                  </a:lnTo>
                  <a:lnTo>
                    <a:pt x="368910" y="379057"/>
                  </a:lnTo>
                  <a:lnTo>
                    <a:pt x="334820" y="405215"/>
                  </a:lnTo>
                  <a:lnTo>
                    <a:pt x="296282" y="424219"/>
                  </a:lnTo>
                  <a:lnTo>
                    <a:pt x="254777" y="435340"/>
                  </a:lnTo>
                  <a:lnTo>
                    <a:pt x="233407" y="437798"/>
                  </a:lnTo>
                  <a:lnTo>
                    <a:pt x="226249" y="438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10262" y="2065734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438149" y="219074"/>
                  </a:moveTo>
                  <a:lnTo>
                    <a:pt x="433940" y="261814"/>
                  </a:lnTo>
                  <a:lnTo>
                    <a:pt x="432540" y="268851"/>
                  </a:lnTo>
                  <a:lnTo>
                    <a:pt x="430799" y="275803"/>
                  </a:lnTo>
                  <a:lnTo>
                    <a:pt x="428716" y="282669"/>
                  </a:lnTo>
                  <a:lnTo>
                    <a:pt x="426633" y="289535"/>
                  </a:lnTo>
                  <a:lnTo>
                    <a:pt x="424219" y="296282"/>
                  </a:lnTo>
                  <a:lnTo>
                    <a:pt x="421473" y="302911"/>
                  </a:lnTo>
                  <a:lnTo>
                    <a:pt x="418728" y="309540"/>
                  </a:lnTo>
                  <a:lnTo>
                    <a:pt x="397242" y="346752"/>
                  </a:lnTo>
                  <a:lnTo>
                    <a:pt x="388422" y="358054"/>
                  </a:lnTo>
                  <a:lnTo>
                    <a:pt x="383870" y="363600"/>
                  </a:lnTo>
                  <a:lnTo>
                    <a:pt x="379057" y="368910"/>
                  </a:lnTo>
                  <a:lnTo>
                    <a:pt x="373984" y="373984"/>
                  </a:lnTo>
                  <a:lnTo>
                    <a:pt x="368910" y="379057"/>
                  </a:lnTo>
                  <a:lnTo>
                    <a:pt x="363600" y="383870"/>
                  </a:lnTo>
                  <a:lnTo>
                    <a:pt x="358054" y="388422"/>
                  </a:lnTo>
                  <a:lnTo>
                    <a:pt x="352508" y="392973"/>
                  </a:lnTo>
                  <a:lnTo>
                    <a:pt x="316018" y="415664"/>
                  </a:lnTo>
                  <a:lnTo>
                    <a:pt x="302911" y="421473"/>
                  </a:lnTo>
                  <a:lnTo>
                    <a:pt x="296282" y="424219"/>
                  </a:lnTo>
                  <a:lnTo>
                    <a:pt x="289535" y="426633"/>
                  </a:lnTo>
                  <a:lnTo>
                    <a:pt x="282669" y="428716"/>
                  </a:lnTo>
                  <a:lnTo>
                    <a:pt x="275803" y="430799"/>
                  </a:lnTo>
                  <a:lnTo>
                    <a:pt x="268851" y="432540"/>
                  </a:lnTo>
                  <a:lnTo>
                    <a:pt x="261814" y="433940"/>
                  </a:lnTo>
                  <a:lnTo>
                    <a:pt x="254777" y="435340"/>
                  </a:lnTo>
                  <a:lnTo>
                    <a:pt x="247688" y="436391"/>
                  </a:lnTo>
                  <a:lnTo>
                    <a:pt x="240548" y="437095"/>
                  </a:lnTo>
                  <a:lnTo>
                    <a:pt x="233407" y="437798"/>
                  </a:lnTo>
                  <a:lnTo>
                    <a:pt x="226249" y="438149"/>
                  </a:lnTo>
                  <a:lnTo>
                    <a:pt x="219074" y="438149"/>
                  </a:lnTo>
                  <a:lnTo>
                    <a:pt x="211900" y="438149"/>
                  </a:lnTo>
                  <a:lnTo>
                    <a:pt x="176335" y="433940"/>
                  </a:lnTo>
                  <a:lnTo>
                    <a:pt x="169298" y="432540"/>
                  </a:lnTo>
                  <a:lnTo>
                    <a:pt x="162346" y="430799"/>
                  </a:lnTo>
                  <a:lnTo>
                    <a:pt x="155480" y="428716"/>
                  </a:lnTo>
                  <a:lnTo>
                    <a:pt x="148614" y="426633"/>
                  </a:lnTo>
                  <a:lnTo>
                    <a:pt x="141867" y="424219"/>
                  </a:lnTo>
                  <a:lnTo>
                    <a:pt x="135238" y="421473"/>
                  </a:lnTo>
                  <a:lnTo>
                    <a:pt x="128609" y="418728"/>
                  </a:lnTo>
                  <a:lnTo>
                    <a:pt x="91397" y="397242"/>
                  </a:lnTo>
                  <a:lnTo>
                    <a:pt x="80095" y="388422"/>
                  </a:lnTo>
                  <a:lnTo>
                    <a:pt x="74548" y="383870"/>
                  </a:lnTo>
                  <a:lnTo>
                    <a:pt x="69239" y="379057"/>
                  </a:lnTo>
                  <a:lnTo>
                    <a:pt x="64165" y="373984"/>
                  </a:lnTo>
                  <a:lnTo>
                    <a:pt x="59092" y="368910"/>
                  </a:lnTo>
                  <a:lnTo>
                    <a:pt x="32934" y="334820"/>
                  </a:lnTo>
                  <a:lnTo>
                    <a:pt x="16676" y="302911"/>
                  </a:lnTo>
                  <a:lnTo>
                    <a:pt x="13930" y="296282"/>
                  </a:lnTo>
                  <a:lnTo>
                    <a:pt x="4209" y="261814"/>
                  </a:lnTo>
                  <a:lnTo>
                    <a:pt x="2809" y="254777"/>
                  </a:lnTo>
                  <a:lnTo>
                    <a:pt x="1758" y="247688"/>
                  </a:lnTo>
                  <a:lnTo>
                    <a:pt x="1054" y="240548"/>
                  </a:lnTo>
                  <a:lnTo>
                    <a:pt x="351" y="233407"/>
                  </a:lnTo>
                  <a:lnTo>
                    <a:pt x="0" y="226249"/>
                  </a:lnTo>
                  <a:lnTo>
                    <a:pt x="0" y="219074"/>
                  </a:lnTo>
                  <a:lnTo>
                    <a:pt x="0" y="211900"/>
                  </a:lnTo>
                  <a:lnTo>
                    <a:pt x="351" y="204742"/>
                  </a:lnTo>
                  <a:lnTo>
                    <a:pt x="1054" y="197601"/>
                  </a:lnTo>
                  <a:lnTo>
                    <a:pt x="1758" y="190461"/>
                  </a:lnTo>
                  <a:lnTo>
                    <a:pt x="9433" y="155480"/>
                  </a:lnTo>
                  <a:lnTo>
                    <a:pt x="11516" y="148614"/>
                  </a:lnTo>
                  <a:lnTo>
                    <a:pt x="25868" y="115803"/>
                  </a:lnTo>
                  <a:lnTo>
                    <a:pt x="29250" y="109475"/>
                  </a:lnTo>
                  <a:lnTo>
                    <a:pt x="49727" y="80095"/>
                  </a:lnTo>
                  <a:lnTo>
                    <a:pt x="54279" y="74548"/>
                  </a:lnTo>
                  <a:lnTo>
                    <a:pt x="59092" y="69239"/>
                  </a:lnTo>
                  <a:lnTo>
                    <a:pt x="64165" y="64165"/>
                  </a:lnTo>
                  <a:lnTo>
                    <a:pt x="69239" y="59092"/>
                  </a:lnTo>
                  <a:lnTo>
                    <a:pt x="74548" y="54279"/>
                  </a:lnTo>
                  <a:lnTo>
                    <a:pt x="80095" y="49727"/>
                  </a:lnTo>
                  <a:lnTo>
                    <a:pt x="85641" y="45175"/>
                  </a:lnTo>
                  <a:lnTo>
                    <a:pt x="91397" y="40906"/>
                  </a:lnTo>
                  <a:lnTo>
                    <a:pt x="97363" y="36920"/>
                  </a:lnTo>
                  <a:lnTo>
                    <a:pt x="103329" y="32934"/>
                  </a:lnTo>
                  <a:lnTo>
                    <a:pt x="109475" y="29250"/>
                  </a:lnTo>
                  <a:lnTo>
                    <a:pt x="115803" y="25868"/>
                  </a:lnTo>
                  <a:lnTo>
                    <a:pt x="122131" y="22485"/>
                  </a:lnTo>
                  <a:lnTo>
                    <a:pt x="162346" y="7350"/>
                  </a:lnTo>
                  <a:lnTo>
                    <a:pt x="197601" y="1054"/>
                  </a:lnTo>
                  <a:lnTo>
                    <a:pt x="204742" y="351"/>
                  </a:lnTo>
                  <a:lnTo>
                    <a:pt x="211900" y="0"/>
                  </a:lnTo>
                  <a:lnTo>
                    <a:pt x="219074" y="0"/>
                  </a:lnTo>
                  <a:lnTo>
                    <a:pt x="226249" y="0"/>
                  </a:lnTo>
                  <a:lnTo>
                    <a:pt x="261814" y="4209"/>
                  </a:lnTo>
                  <a:lnTo>
                    <a:pt x="268851" y="5609"/>
                  </a:lnTo>
                  <a:lnTo>
                    <a:pt x="275803" y="7350"/>
                  </a:lnTo>
                  <a:lnTo>
                    <a:pt x="282669" y="9433"/>
                  </a:lnTo>
                  <a:lnTo>
                    <a:pt x="289535" y="11516"/>
                  </a:lnTo>
                  <a:lnTo>
                    <a:pt x="296282" y="13930"/>
                  </a:lnTo>
                  <a:lnTo>
                    <a:pt x="302911" y="16676"/>
                  </a:lnTo>
                  <a:lnTo>
                    <a:pt x="309540" y="19421"/>
                  </a:lnTo>
                  <a:lnTo>
                    <a:pt x="346752" y="40906"/>
                  </a:lnTo>
                  <a:lnTo>
                    <a:pt x="373984" y="64165"/>
                  </a:lnTo>
                  <a:lnTo>
                    <a:pt x="379057" y="69239"/>
                  </a:lnTo>
                  <a:lnTo>
                    <a:pt x="383870" y="74548"/>
                  </a:lnTo>
                  <a:lnTo>
                    <a:pt x="388422" y="80095"/>
                  </a:lnTo>
                  <a:lnTo>
                    <a:pt x="392973" y="85641"/>
                  </a:lnTo>
                  <a:lnTo>
                    <a:pt x="397242" y="91397"/>
                  </a:lnTo>
                  <a:lnTo>
                    <a:pt x="401229" y="97363"/>
                  </a:lnTo>
                  <a:lnTo>
                    <a:pt x="405215" y="103329"/>
                  </a:lnTo>
                  <a:lnTo>
                    <a:pt x="421473" y="135238"/>
                  </a:lnTo>
                  <a:lnTo>
                    <a:pt x="424219" y="141867"/>
                  </a:lnTo>
                  <a:lnTo>
                    <a:pt x="426633" y="148614"/>
                  </a:lnTo>
                  <a:lnTo>
                    <a:pt x="428716" y="155480"/>
                  </a:lnTo>
                  <a:lnTo>
                    <a:pt x="430799" y="162346"/>
                  </a:lnTo>
                  <a:lnTo>
                    <a:pt x="432540" y="169298"/>
                  </a:lnTo>
                  <a:lnTo>
                    <a:pt x="433940" y="176335"/>
                  </a:lnTo>
                  <a:lnTo>
                    <a:pt x="435340" y="183372"/>
                  </a:lnTo>
                  <a:lnTo>
                    <a:pt x="436391" y="190461"/>
                  </a:lnTo>
                  <a:lnTo>
                    <a:pt x="437095" y="197601"/>
                  </a:lnTo>
                  <a:lnTo>
                    <a:pt x="437798" y="204742"/>
                  </a:lnTo>
                  <a:lnTo>
                    <a:pt x="438150" y="211900"/>
                  </a:lnTo>
                  <a:lnTo>
                    <a:pt x="438149" y="219074"/>
                  </a:lnTo>
                  <a:close/>
                </a:path>
              </a:pathLst>
            </a:custGeom>
            <a:ln w="9524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7120" y="2169824"/>
              <a:ext cx="130387" cy="235508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044753" y="2638298"/>
            <a:ext cx="1905000" cy="8623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50" dirty="0">
                <a:solidFill>
                  <a:srgbClr val="545759"/>
                </a:solidFill>
                <a:latin typeface="Verdana"/>
                <a:cs typeface="Verdana"/>
              </a:rPr>
              <a:t>Real</a:t>
            </a:r>
            <a:r>
              <a:rPr sz="1450" spc="-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0" dirty="0">
                <a:solidFill>
                  <a:srgbClr val="545759"/>
                </a:solidFill>
                <a:latin typeface="Verdana"/>
                <a:cs typeface="Verdana"/>
              </a:rPr>
              <a:t>IoT</a:t>
            </a:r>
            <a:r>
              <a:rPr sz="1450" spc="-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Sensors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1065"/>
              </a:spcBef>
            </a:pP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Live</a:t>
            </a:r>
            <a:r>
              <a:rPr sz="1150" spc="-10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bin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data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50" dirty="0">
                <a:solidFill>
                  <a:srgbClr val="545759"/>
                </a:solidFill>
                <a:latin typeface="Lucida Sans Unicode"/>
                <a:cs typeface="Lucida Sans Unicode"/>
              </a:rPr>
              <a:t>from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deployed hardware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696" y="2419223"/>
            <a:ext cx="1952625" cy="852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Advanced</a:t>
            </a:r>
            <a:r>
              <a:rPr sz="1450" spc="-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50" dirty="0">
                <a:solidFill>
                  <a:srgbClr val="545759"/>
                </a:solidFill>
                <a:latin typeface="Verdana"/>
                <a:cs typeface="Verdana"/>
              </a:rPr>
              <a:t>ML</a:t>
            </a:r>
            <a:r>
              <a:rPr sz="1450" spc="-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Models</a:t>
            </a:r>
            <a:endParaRPr sz="1450">
              <a:latin typeface="Verdana"/>
              <a:cs typeface="Verdana"/>
            </a:endParaRPr>
          </a:p>
          <a:p>
            <a:pPr marL="12700" marR="369570">
              <a:lnSpc>
                <a:spcPct val="135900"/>
              </a:lnSpc>
              <a:spcBef>
                <a:spcPts val="990"/>
              </a:spcBef>
            </a:pP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Deep</a:t>
            </a:r>
            <a:r>
              <a:rPr sz="1150" spc="-10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learning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for</a:t>
            </a:r>
            <a:r>
              <a:rPr sz="115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more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accurate</a:t>
            </a:r>
            <a:r>
              <a:rPr sz="1150" spc="-1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predictions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905499" y="4051696"/>
            <a:ext cx="2390775" cy="447675"/>
            <a:chOff x="5905499" y="4051696"/>
            <a:chExt cx="2390775" cy="447675"/>
          </a:xfrm>
        </p:grpSpPr>
        <p:sp>
          <p:nvSpPr>
            <p:cNvPr id="27" name="object 27"/>
            <p:cNvSpPr/>
            <p:nvPr/>
          </p:nvSpPr>
          <p:spPr>
            <a:xfrm>
              <a:off x="6138861" y="4205286"/>
              <a:ext cx="2152650" cy="142875"/>
            </a:xfrm>
            <a:custGeom>
              <a:avLst/>
              <a:gdLst/>
              <a:ahLst/>
              <a:cxnLst/>
              <a:rect l="l" t="t" r="r" b="b"/>
              <a:pathLst>
                <a:path w="2152650" h="142875">
                  <a:moveTo>
                    <a:pt x="2085902" y="142874"/>
                  </a:moveTo>
                  <a:lnTo>
                    <a:pt x="66746" y="142874"/>
                  </a:lnTo>
                  <a:lnTo>
                    <a:pt x="62100" y="142416"/>
                  </a:lnTo>
                  <a:lnTo>
                    <a:pt x="24239" y="125267"/>
                  </a:lnTo>
                  <a:lnTo>
                    <a:pt x="2287" y="89974"/>
                  </a:lnTo>
                  <a:lnTo>
                    <a:pt x="0" y="714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6" y="0"/>
                  </a:lnTo>
                  <a:lnTo>
                    <a:pt x="2085902" y="0"/>
                  </a:lnTo>
                  <a:lnTo>
                    <a:pt x="2124800" y="14645"/>
                  </a:lnTo>
                  <a:lnTo>
                    <a:pt x="2149005" y="48432"/>
                  </a:lnTo>
                  <a:lnTo>
                    <a:pt x="2152649" y="66746"/>
                  </a:lnTo>
                  <a:lnTo>
                    <a:pt x="2152649" y="76127"/>
                  </a:lnTo>
                  <a:lnTo>
                    <a:pt x="2138003" y="115025"/>
                  </a:lnTo>
                  <a:lnTo>
                    <a:pt x="2104215" y="139231"/>
                  </a:lnTo>
                  <a:lnTo>
                    <a:pt x="2085902" y="142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38861" y="4205286"/>
              <a:ext cx="2152650" cy="142875"/>
            </a:xfrm>
            <a:custGeom>
              <a:avLst/>
              <a:gdLst/>
              <a:ahLst/>
              <a:cxnLst/>
              <a:rect l="l" t="t" r="r" b="b"/>
              <a:pathLst>
                <a:path w="2152650" h="142875">
                  <a:moveTo>
                    <a:pt x="0" y="71437"/>
                  </a:moveTo>
                  <a:lnTo>
                    <a:pt x="12038" y="31748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62100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2081212" y="0"/>
                  </a:lnTo>
                  <a:lnTo>
                    <a:pt x="2085902" y="0"/>
                  </a:lnTo>
                  <a:lnTo>
                    <a:pt x="2090548" y="457"/>
                  </a:lnTo>
                  <a:lnTo>
                    <a:pt x="2128408" y="17606"/>
                  </a:lnTo>
                  <a:lnTo>
                    <a:pt x="2131725" y="20923"/>
                  </a:lnTo>
                  <a:lnTo>
                    <a:pt x="2135042" y="24239"/>
                  </a:lnTo>
                  <a:lnTo>
                    <a:pt x="2152191" y="62101"/>
                  </a:lnTo>
                  <a:lnTo>
                    <a:pt x="2152649" y="71437"/>
                  </a:lnTo>
                  <a:lnTo>
                    <a:pt x="2152649" y="76127"/>
                  </a:lnTo>
                  <a:lnTo>
                    <a:pt x="2138003" y="115025"/>
                  </a:lnTo>
                  <a:lnTo>
                    <a:pt x="2104215" y="139231"/>
                  </a:lnTo>
                  <a:lnTo>
                    <a:pt x="2095148" y="141501"/>
                  </a:lnTo>
                  <a:lnTo>
                    <a:pt x="2090547" y="142416"/>
                  </a:lnTo>
                  <a:lnTo>
                    <a:pt x="2085902" y="142874"/>
                  </a:lnTo>
                  <a:lnTo>
                    <a:pt x="2081212" y="142874"/>
                  </a:lnTo>
                  <a:lnTo>
                    <a:pt x="71437" y="142874"/>
                  </a:lnTo>
                  <a:lnTo>
                    <a:pt x="66746" y="142874"/>
                  </a:lnTo>
                  <a:lnTo>
                    <a:pt x="62100" y="142416"/>
                  </a:lnTo>
                  <a:lnTo>
                    <a:pt x="57499" y="141501"/>
                  </a:lnTo>
                  <a:lnTo>
                    <a:pt x="52899" y="140586"/>
                  </a:lnTo>
                  <a:lnTo>
                    <a:pt x="48432" y="139231"/>
                  </a:lnTo>
                  <a:lnTo>
                    <a:pt x="44099" y="137436"/>
                  </a:lnTo>
                  <a:lnTo>
                    <a:pt x="39765" y="135641"/>
                  </a:lnTo>
                  <a:lnTo>
                    <a:pt x="12038" y="111125"/>
                  </a:lnTo>
                  <a:lnTo>
                    <a:pt x="9432" y="107225"/>
                  </a:lnTo>
                  <a:lnTo>
                    <a:pt x="0" y="76127"/>
                  </a:lnTo>
                  <a:lnTo>
                    <a:pt x="0" y="71437"/>
                  </a:lnTo>
                  <a:close/>
                </a:path>
              </a:pathLst>
            </a:custGeom>
            <a:ln w="9524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10262" y="4056458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226249" y="438149"/>
                  </a:moveTo>
                  <a:lnTo>
                    <a:pt x="211900" y="438149"/>
                  </a:lnTo>
                  <a:lnTo>
                    <a:pt x="204742" y="437798"/>
                  </a:lnTo>
                  <a:lnTo>
                    <a:pt x="162346" y="430799"/>
                  </a:lnTo>
                  <a:lnTo>
                    <a:pt x="122131" y="415664"/>
                  </a:lnTo>
                  <a:lnTo>
                    <a:pt x="85641" y="392973"/>
                  </a:lnTo>
                  <a:lnTo>
                    <a:pt x="54279" y="363600"/>
                  </a:lnTo>
                  <a:lnTo>
                    <a:pt x="29250" y="328673"/>
                  </a:lnTo>
                  <a:lnTo>
                    <a:pt x="11516" y="289535"/>
                  </a:lnTo>
                  <a:lnTo>
                    <a:pt x="1758" y="247688"/>
                  </a:lnTo>
                  <a:lnTo>
                    <a:pt x="0" y="226249"/>
                  </a:lnTo>
                  <a:lnTo>
                    <a:pt x="0" y="211900"/>
                  </a:lnTo>
                  <a:lnTo>
                    <a:pt x="5609" y="169298"/>
                  </a:lnTo>
                  <a:lnTo>
                    <a:pt x="19421" y="128609"/>
                  </a:lnTo>
                  <a:lnTo>
                    <a:pt x="40906" y="91397"/>
                  </a:lnTo>
                  <a:lnTo>
                    <a:pt x="69239" y="59092"/>
                  </a:lnTo>
                  <a:lnTo>
                    <a:pt x="103329" y="32934"/>
                  </a:lnTo>
                  <a:lnTo>
                    <a:pt x="141867" y="13930"/>
                  </a:lnTo>
                  <a:lnTo>
                    <a:pt x="183372" y="2809"/>
                  </a:lnTo>
                  <a:lnTo>
                    <a:pt x="211900" y="0"/>
                  </a:lnTo>
                  <a:lnTo>
                    <a:pt x="226249" y="0"/>
                  </a:lnTo>
                  <a:lnTo>
                    <a:pt x="268851" y="5609"/>
                  </a:lnTo>
                  <a:lnTo>
                    <a:pt x="309540" y="19421"/>
                  </a:lnTo>
                  <a:lnTo>
                    <a:pt x="346752" y="40906"/>
                  </a:lnTo>
                  <a:lnTo>
                    <a:pt x="379057" y="69239"/>
                  </a:lnTo>
                  <a:lnTo>
                    <a:pt x="405215" y="103329"/>
                  </a:lnTo>
                  <a:lnTo>
                    <a:pt x="424219" y="141867"/>
                  </a:lnTo>
                  <a:lnTo>
                    <a:pt x="435340" y="183372"/>
                  </a:lnTo>
                  <a:lnTo>
                    <a:pt x="438150" y="211900"/>
                  </a:lnTo>
                  <a:lnTo>
                    <a:pt x="438149" y="219074"/>
                  </a:lnTo>
                  <a:lnTo>
                    <a:pt x="438150" y="226249"/>
                  </a:lnTo>
                  <a:lnTo>
                    <a:pt x="432540" y="268851"/>
                  </a:lnTo>
                  <a:lnTo>
                    <a:pt x="418728" y="309540"/>
                  </a:lnTo>
                  <a:lnTo>
                    <a:pt x="397242" y="346752"/>
                  </a:lnTo>
                  <a:lnTo>
                    <a:pt x="368910" y="379057"/>
                  </a:lnTo>
                  <a:lnTo>
                    <a:pt x="334820" y="405215"/>
                  </a:lnTo>
                  <a:lnTo>
                    <a:pt x="296282" y="424219"/>
                  </a:lnTo>
                  <a:lnTo>
                    <a:pt x="254777" y="435340"/>
                  </a:lnTo>
                  <a:lnTo>
                    <a:pt x="233407" y="437798"/>
                  </a:lnTo>
                  <a:lnTo>
                    <a:pt x="226249" y="438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10262" y="4056458"/>
              <a:ext cx="438150" cy="438150"/>
            </a:xfrm>
            <a:custGeom>
              <a:avLst/>
              <a:gdLst/>
              <a:ahLst/>
              <a:cxnLst/>
              <a:rect l="l" t="t" r="r" b="b"/>
              <a:pathLst>
                <a:path w="438150" h="438150">
                  <a:moveTo>
                    <a:pt x="438149" y="219074"/>
                  </a:moveTo>
                  <a:lnTo>
                    <a:pt x="433940" y="261814"/>
                  </a:lnTo>
                  <a:lnTo>
                    <a:pt x="432540" y="268851"/>
                  </a:lnTo>
                  <a:lnTo>
                    <a:pt x="430799" y="275803"/>
                  </a:lnTo>
                  <a:lnTo>
                    <a:pt x="428716" y="282669"/>
                  </a:lnTo>
                  <a:lnTo>
                    <a:pt x="426633" y="289535"/>
                  </a:lnTo>
                  <a:lnTo>
                    <a:pt x="424219" y="296282"/>
                  </a:lnTo>
                  <a:lnTo>
                    <a:pt x="421473" y="302911"/>
                  </a:lnTo>
                  <a:lnTo>
                    <a:pt x="418728" y="309540"/>
                  </a:lnTo>
                  <a:lnTo>
                    <a:pt x="397242" y="346752"/>
                  </a:lnTo>
                  <a:lnTo>
                    <a:pt x="388422" y="358054"/>
                  </a:lnTo>
                  <a:lnTo>
                    <a:pt x="383870" y="363600"/>
                  </a:lnTo>
                  <a:lnTo>
                    <a:pt x="379057" y="368910"/>
                  </a:lnTo>
                  <a:lnTo>
                    <a:pt x="373984" y="373984"/>
                  </a:lnTo>
                  <a:lnTo>
                    <a:pt x="368910" y="379057"/>
                  </a:lnTo>
                  <a:lnTo>
                    <a:pt x="363600" y="383870"/>
                  </a:lnTo>
                  <a:lnTo>
                    <a:pt x="358054" y="388422"/>
                  </a:lnTo>
                  <a:lnTo>
                    <a:pt x="352508" y="392973"/>
                  </a:lnTo>
                  <a:lnTo>
                    <a:pt x="316018" y="415664"/>
                  </a:lnTo>
                  <a:lnTo>
                    <a:pt x="302911" y="421473"/>
                  </a:lnTo>
                  <a:lnTo>
                    <a:pt x="296282" y="424219"/>
                  </a:lnTo>
                  <a:lnTo>
                    <a:pt x="289535" y="426633"/>
                  </a:lnTo>
                  <a:lnTo>
                    <a:pt x="282669" y="428716"/>
                  </a:lnTo>
                  <a:lnTo>
                    <a:pt x="275803" y="430799"/>
                  </a:lnTo>
                  <a:lnTo>
                    <a:pt x="268851" y="432540"/>
                  </a:lnTo>
                  <a:lnTo>
                    <a:pt x="261814" y="433940"/>
                  </a:lnTo>
                  <a:lnTo>
                    <a:pt x="254777" y="435340"/>
                  </a:lnTo>
                  <a:lnTo>
                    <a:pt x="247688" y="436391"/>
                  </a:lnTo>
                  <a:lnTo>
                    <a:pt x="240548" y="437095"/>
                  </a:lnTo>
                  <a:lnTo>
                    <a:pt x="233407" y="437798"/>
                  </a:lnTo>
                  <a:lnTo>
                    <a:pt x="226249" y="438149"/>
                  </a:lnTo>
                  <a:lnTo>
                    <a:pt x="219074" y="438149"/>
                  </a:lnTo>
                  <a:lnTo>
                    <a:pt x="211900" y="438149"/>
                  </a:lnTo>
                  <a:lnTo>
                    <a:pt x="176335" y="433940"/>
                  </a:lnTo>
                  <a:lnTo>
                    <a:pt x="169298" y="432540"/>
                  </a:lnTo>
                  <a:lnTo>
                    <a:pt x="162346" y="430799"/>
                  </a:lnTo>
                  <a:lnTo>
                    <a:pt x="155480" y="428716"/>
                  </a:lnTo>
                  <a:lnTo>
                    <a:pt x="148614" y="426633"/>
                  </a:lnTo>
                  <a:lnTo>
                    <a:pt x="141867" y="424219"/>
                  </a:lnTo>
                  <a:lnTo>
                    <a:pt x="135238" y="421473"/>
                  </a:lnTo>
                  <a:lnTo>
                    <a:pt x="128609" y="418728"/>
                  </a:lnTo>
                  <a:lnTo>
                    <a:pt x="91397" y="397242"/>
                  </a:lnTo>
                  <a:lnTo>
                    <a:pt x="80095" y="388422"/>
                  </a:lnTo>
                  <a:lnTo>
                    <a:pt x="74548" y="383870"/>
                  </a:lnTo>
                  <a:lnTo>
                    <a:pt x="69239" y="379057"/>
                  </a:lnTo>
                  <a:lnTo>
                    <a:pt x="64165" y="373984"/>
                  </a:lnTo>
                  <a:lnTo>
                    <a:pt x="59092" y="368910"/>
                  </a:lnTo>
                  <a:lnTo>
                    <a:pt x="32934" y="334820"/>
                  </a:lnTo>
                  <a:lnTo>
                    <a:pt x="16676" y="302911"/>
                  </a:lnTo>
                  <a:lnTo>
                    <a:pt x="13930" y="296282"/>
                  </a:lnTo>
                  <a:lnTo>
                    <a:pt x="4209" y="261814"/>
                  </a:lnTo>
                  <a:lnTo>
                    <a:pt x="2809" y="254777"/>
                  </a:lnTo>
                  <a:lnTo>
                    <a:pt x="1758" y="247688"/>
                  </a:lnTo>
                  <a:lnTo>
                    <a:pt x="1054" y="240548"/>
                  </a:lnTo>
                  <a:lnTo>
                    <a:pt x="351" y="233407"/>
                  </a:lnTo>
                  <a:lnTo>
                    <a:pt x="0" y="226249"/>
                  </a:lnTo>
                  <a:lnTo>
                    <a:pt x="0" y="219074"/>
                  </a:lnTo>
                  <a:lnTo>
                    <a:pt x="0" y="211900"/>
                  </a:lnTo>
                  <a:lnTo>
                    <a:pt x="351" y="204742"/>
                  </a:lnTo>
                  <a:lnTo>
                    <a:pt x="1054" y="197601"/>
                  </a:lnTo>
                  <a:lnTo>
                    <a:pt x="1758" y="190461"/>
                  </a:lnTo>
                  <a:lnTo>
                    <a:pt x="9433" y="155480"/>
                  </a:lnTo>
                  <a:lnTo>
                    <a:pt x="11516" y="148614"/>
                  </a:lnTo>
                  <a:lnTo>
                    <a:pt x="25868" y="115803"/>
                  </a:lnTo>
                  <a:lnTo>
                    <a:pt x="29250" y="109475"/>
                  </a:lnTo>
                  <a:lnTo>
                    <a:pt x="49727" y="80095"/>
                  </a:lnTo>
                  <a:lnTo>
                    <a:pt x="54279" y="74548"/>
                  </a:lnTo>
                  <a:lnTo>
                    <a:pt x="59092" y="69239"/>
                  </a:lnTo>
                  <a:lnTo>
                    <a:pt x="64165" y="64165"/>
                  </a:lnTo>
                  <a:lnTo>
                    <a:pt x="69239" y="59092"/>
                  </a:lnTo>
                  <a:lnTo>
                    <a:pt x="74548" y="54279"/>
                  </a:lnTo>
                  <a:lnTo>
                    <a:pt x="80095" y="49727"/>
                  </a:lnTo>
                  <a:lnTo>
                    <a:pt x="85641" y="45175"/>
                  </a:lnTo>
                  <a:lnTo>
                    <a:pt x="91397" y="40906"/>
                  </a:lnTo>
                  <a:lnTo>
                    <a:pt x="97363" y="36920"/>
                  </a:lnTo>
                  <a:lnTo>
                    <a:pt x="103329" y="32934"/>
                  </a:lnTo>
                  <a:lnTo>
                    <a:pt x="109475" y="29250"/>
                  </a:lnTo>
                  <a:lnTo>
                    <a:pt x="115803" y="25868"/>
                  </a:lnTo>
                  <a:lnTo>
                    <a:pt x="122131" y="22485"/>
                  </a:lnTo>
                  <a:lnTo>
                    <a:pt x="162346" y="7350"/>
                  </a:lnTo>
                  <a:lnTo>
                    <a:pt x="197601" y="1054"/>
                  </a:lnTo>
                  <a:lnTo>
                    <a:pt x="204742" y="351"/>
                  </a:lnTo>
                  <a:lnTo>
                    <a:pt x="211900" y="0"/>
                  </a:lnTo>
                  <a:lnTo>
                    <a:pt x="219074" y="0"/>
                  </a:lnTo>
                  <a:lnTo>
                    <a:pt x="226249" y="0"/>
                  </a:lnTo>
                  <a:lnTo>
                    <a:pt x="261814" y="4209"/>
                  </a:lnTo>
                  <a:lnTo>
                    <a:pt x="268851" y="5609"/>
                  </a:lnTo>
                  <a:lnTo>
                    <a:pt x="275803" y="7350"/>
                  </a:lnTo>
                  <a:lnTo>
                    <a:pt x="282669" y="9433"/>
                  </a:lnTo>
                  <a:lnTo>
                    <a:pt x="289535" y="11516"/>
                  </a:lnTo>
                  <a:lnTo>
                    <a:pt x="296282" y="13930"/>
                  </a:lnTo>
                  <a:lnTo>
                    <a:pt x="302911" y="16676"/>
                  </a:lnTo>
                  <a:lnTo>
                    <a:pt x="309540" y="19421"/>
                  </a:lnTo>
                  <a:lnTo>
                    <a:pt x="346752" y="40906"/>
                  </a:lnTo>
                  <a:lnTo>
                    <a:pt x="373984" y="64165"/>
                  </a:lnTo>
                  <a:lnTo>
                    <a:pt x="379057" y="69239"/>
                  </a:lnTo>
                  <a:lnTo>
                    <a:pt x="383870" y="74548"/>
                  </a:lnTo>
                  <a:lnTo>
                    <a:pt x="388422" y="80095"/>
                  </a:lnTo>
                  <a:lnTo>
                    <a:pt x="392973" y="85641"/>
                  </a:lnTo>
                  <a:lnTo>
                    <a:pt x="397242" y="91397"/>
                  </a:lnTo>
                  <a:lnTo>
                    <a:pt x="401229" y="97363"/>
                  </a:lnTo>
                  <a:lnTo>
                    <a:pt x="405215" y="103329"/>
                  </a:lnTo>
                  <a:lnTo>
                    <a:pt x="421473" y="135238"/>
                  </a:lnTo>
                  <a:lnTo>
                    <a:pt x="424219" y="141867"/>
                  </a:lnTo>
                  <a:lnTo>
                    <a:pt x="426633" y="148614"/>
                  </a:lnTo>
                  <a:lnTo>
                    <a:pt x="428716" y="155480"/>
                  </a:lnTo>
                  <a:lnTo>
                    <a:pt x="430799" y="162346"/>
                  </a:lnTo>
                  <a:lnTo>
                    <a:pt x="432540" y="169298"/>
                  </a:lnTo>
                  <a:lnTo>
                    <a:pt x="433940" y="176335"/>
                  </a:lnTo>
                  <a:lnTo>
                    <a:pt x="435340" y="183372"/>
                  </a:lnTo>
                  <a:lnTo>
                    <a:pt x="436391" y="190461"/>
                  </a:lnTo>
                  <a:lnTo>
                    <a:pt x="437095" y="197601"/>
                  </a:lnTo>
                  <a:lnTo>
                    <a:pt x="437798" y="204742"/>
                  </a:lnTo>
                  <a:lnTo>
                    <a:pt x="438150" y="211900"/>
                  </a:lnTo>
                  <a:lnTo>
                    <a:pt x="438149" y="219074"/>
                  </a:lnTo>
                  <a:close/>
                </a:path>
              </a:pathLst>
            </a:custGeom>
            <a:ln w="9524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55058" y="4161012"/>
              <a:ext cx="154511" cy="23499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044753" y="4629022"/>
            <a:ext cx="1678305" cy="8623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545759"/>
                </a:solidFill>
                <a:latin typeface="Verdana"/>
                <a:cs typeface="Verdana"/>
              </a:rPr>
              <a:t>Mobile</a:t>
            </a:r>
            <a:r>
              <a:rPr sz="1450" spc="-114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Application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1065"/>
              </a:spcBef>
            </a:pPr>
            <a:r>
              <a:rPr sz="11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User-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facing</a:t>
            </a:r>
            <a:r>
              <a:rPr sz="115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app</a:t>
            </a:r>
            <a:r>
              <a:rPr sz="11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for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complaints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and</a:t>
            </a:r>
            <a:r>
              <a:rPr sz="115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tracking</a:t>
            </a:r>
            <a:endParaRPr sz="1150">
              <a:latin typeface="Lucida Sans Unicode"/>
              <a:cs typeface="Lucida Sans Unicode"/>
            </a:endParaRPr>
          </a:p>
        </p:txBody>
      </p: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48675" y="1832371"/>
            <a:ext cx="2390774" cy="457199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8448675" y="3823096"/>
            <a:ext cx="2390775" cy="457200"/>
            <a:chOff x="8448675" y="3823096"/>
            <a:chExt cx="2390775" cy="457200"/>
          </a:xfrm>
        </p:grpSpPr>
        <p:sp>
          <p:nvSpPr>
            <p:cNvPr id="35" name="object 35"/>
            <p:cNvSpPr/>
            <p:nvPr/>
          </p:nvSpPr>
          <p:spPr>
            <a:xfrm>
              <a:off x="8682037" y="3976687"/>
              <a:ext cx="2152650" cy="142875"/>
            </a:xfrm>
            <a:custGeom>
              <a:avLst/>
              <a:gdLst/>
              <a:ahLst/>
              <a:cxnLst/>
              <a:rect l="l" t="t" r="r" b="b"/>
              <a:pathLst>
                <a:path w="2152650" h="142875">
                  <a:moveTo>
                    <a:pt x="2085902" y="142874"/>
                  </a:moveTo>
                  <a:lnTo>
                    <a:pt x="66746" y="142874"/>
                  </a:lnTo>
                  <a:lnTo>
                    <a:pt x="62100" y="142416"/>
                  </a:lnTo>
                  <a:lnTo>
                    <a:pt x="24239" y="125267"/>
                  </a:lnTo>
                  <a:lnTo>
                    <a:pt x="2287" y="89973"/>
                  </a:lnTo>
                  <a:lnTo>
                    <a:pt x="0" y="76127"/>
                  </a:lnTo>
                  <a:lnTo>
                    <a:pt x="0" y="7143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1" y="3642"/>
                  </a:lnTo>
                  <a:lnTo>
                    <a:pt x="66746" y="0"/>
                  </a:lnTo>
                  <a:lnTo>
                    <a:pt x="2085902" y="0"/>
                  </a:lnTo>
                  <a:lnTo>
                    <a:pt x="2124800" y="14644"/>
                  </a:lnTo>
                  <a:lnTo>
                    <a:pt x="2149005" y="48432"/>
                  </a:lnTo>
                  <a:lnTo>
                    <a:pt x="2152649" y="66746"/>
                  </a:lnTo>
                  <a:lnTo>
                    <a:pt x="2152649" y="76127"/>
                  </a:lnTo>
                  <a:lnTo>
                    <a:pt x="2138004" y="115025"/>
                  </a:lnTo>
                  <a:lnTo>
                    <a:pt x="2104215" y="139231"/>
                  </a:lnTo>
                  <a:lnTo>
                    <a:pt x="2090547" y="142416"/>
                  </a:lnTo>
                  <a:lnTo>
                    <a:pt x="2085902" y="1428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682037" y="3976686"/>
              <a:ext cx="2152650" cy="142875"/>
            </a:xfrm>
            <a:custGeom>
              <a:avLst/>
              <a:gdLst/>
              <a:ahLst/>
              <a:cxnLst/>
              <a:rect l="l" t="t" r="r" b="b"/>
              <a:pathLst>
                <a:path w="2152650" h="142875">
                  <a:moveTo>
                    <a:pt x="0" y="71437"/>
                  </a:moveTo>
                  <a:lnTo>
                    <a:pt x="0" y="66746"/>
                  </a:lnTo>
                  <a:lnTo>
                    <a:pt x="457" y="62100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27848" y="14644"/>
                  </a:lnTo>
                  <a:lnTo>
                    <a:pt x="31748" y="12038"/>
                  </a:lnTo>
                  <a:lnTo>
                    <a:pt x="35648" y="9432"/>
                  </a:lnTo>
                  <a:lnTo>
                    <a:pt x="57499" y="1372"/>
                  </a:lnTo>
                  <a:lnTo>
                    <a:pt x="62100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2081212" y="0"/>
                  </a:lnTo>
                  <a:lnTo>
                    <a:pt x="2120900" y="12038"/>
                  </a:lnTo>
                  <a:lnTo>
                    <a:pt x="2131725" y="20923"/>
                  </a:lnTo>
                  <a:lnTo>
                    <a:pt x="2135042" y="24239"/>
                  </a:lnTo>
                  <a:lnTo>
                    <a:pt x="2147210" y="44098"/>
                  </a:lnTo>
                  <a:lnTo>
                    <a:pt x="2149005" y="48432"/>
                  </a:lnTo>
                  <a:lnTo>
                    <a:pt x="2150361" y="52899"/>
                  </a:lnTo>
                  <a:lnTo>
                    <a:pt x="2151277" y="57500"/>
                  </a:lnTo>
                  <a:lnTo>
                    <a:pt x="2152192" y="62100"/>
                  </a:lnTo>
                  <a:lnTo>
                    <a:pt x="2152649" y="66746"/>
                  </a:lnTo>
                  <a:lnTo>
                    <a:pt x="2152649" y="71437"/>
                  </a:lnTo>
                  <a:lnTo>
                    <a:pt x="2152649" y="76127"/>
                  </a:lnTo>
                  <a:lnTo>
                    <a:pt x="2147210" y="98774"/>
                  </a:lnTo>
                  <a:lnTo>
                    <a:pt x="2145416" y="103108"/>
                  </a:lnTo>
                  <a:lnTo>
                    <a:pt x="2116999" y="133440"/>
                  </a:lnTo>
                  <a:lnTo>
                    <a:pt x="2095148" y="141501"/>
                  </a:lnTo>
                  <a:lnTo>
                    <a:pt x="2090547" y="142416"/>
                  </a:lnTo>
                  <a:lnTo>
                    <a:pt x="2085902" y="142874"/>
                  </a:lnTo>
                  <a:lnTo>
                    <a:pt x="2081212" y="142874"/>
                  </a:lnTo>
                  <a:lnTo>
                    <a:pt x="71437" y="142874"/>
                  </a:lnTo>
                  <a:lnTo>
                    <a:pt x="66746" y="142874"/>
                  </a:lnTo>
                  <a:lnTo>
                    <a:pt x="62100" y="142416"/>
                  </a:lnTo>
                  <a:lnTo>
                    <a:pt x="57499" y="141501"/>
                  </a:lnTo>
                  <a:lnTo>
                    <a:pt x="52899" y="140586"/>
                  </a:lnTo>
                  <a:lnTo>
                    <a:pt x="31748" y="130834"/>
                  </a:lnTo>
                  <a:lnTo>
                    <a:pt x="27848" y="128228"/>
                  </a:lnTo>
                  <a:lnTo>
                    <a:pt x="3642" y="94441"/>
                  </a:lnTo>
                  <a:lnTo>
                    <a:pt x="0" y="76127"/>
                  </a:lnTo>
                  <a:lnTo>
                    <a:pt x="0" y="71437"/>
                  </a:lnTo>
                  <a:close/>
                </a:path>
              </a:pathLst>
            </a:custGeom>
            <a:ln w="9524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453437" y="3827858"/>
              <a:ext cx="438150" cy="447675"/>
            </a:xfrm>
            <a:custGeom>
              <a:avLst/>
              <a:gdLst/>
              <a:ahLst/>
              <a:cxnLst/>
              <a:rect l="l" t="t" r="r" b="b"/>
              <a:pathLst>
                <a:path w="438150" h="447675">
                  <a:moveTo>
                    <a:pt x="226249" y="447674"/>
                  </a:moveTo>
                  <a:lnTo>
                    <a:pt x="211900" y="447674"/>
                  </a:lnTo>
                  <a:lnTo>
                    <a:pt x="204742" y="447323"/>
                  </a:lnTo>
                  <a:lnTo>
                    <a:pt x="162346" y="440324"/>
                  </a:lnTo>
                  <a:lnTo>
                    <a:pt x="122131" y="425189"/>
                  </a:lnTo>
                  <a:lnTo>
                    <a:pt x="85641" y="402498"/>
                  </a:lnTo>
                  <a:lnTo>
                    <a:pt x="54279" y="373125"/>
                  </a:lnTo>
                  <a:lnTo>
                    <a:pt x="29250" y="338198"/>
                  </a:lnTo>
                  <a:lnTo>
                    <a:pt x="11516" y="299060"/>
                  </a:lnTo>
                  <a:lnTo>
                    <a:pt x="1758" y="257213"/>
                  </a:lnTo>
                  <a:lnTo>
                    <a:pt x="0" y="235774"/>
                  </a:lnTo>
                  <a:lnTo>
                    <a:pt x="0" y="228599"/>
                  </a:lnTo>
                  <a:lnTo>
                    <a:pt x="0" y="211900"/>
                  </a:lnTo>
                  <a:lnTo>
                    <a:pt x="5609" y="169298"/>
                  </a:lnTo>
                  <a:lnTo>
                    <a:pt x="19421" y="128609"/>
                  </a:lnTo>
                  <a:lnTo>
                    <a:pt x="40906" y="91397"/>
                  </a:lnTo>
                  <a:lnTo>
                    <a:pt x="69239" y="59092"/>
                  </a:lnTo>
                  <a:lnTo>
                    <a:pt x="103329" y="32934"/>
                  </a:lnTo>
                  <a:lnTo>
                    <a:pt x="141867" y="13930"/>
                  </a:lnTo>
                  <a:lnTo>
                    <a:pt x="183372" y="2809"/>
                  </a:lnTo>
                  <a:lnTo>
                    <a:pt x="211900" y="0"/>
                  </a:lnTo>
                  <a:lnTo>
                    <a:pt x="226249" y="0"/>
                  </a:lnTo>
                  <a:lnTo>
                    <a:pt x="268851" y="5609"/>
                  </a:lnTo>
                  <a:lnTo>
                    <a:pt x="309540" y="19421"/>
                  </a:lnTo>
                  <a:lnTo>
                    <a:pt x="346752" y="40906"/>
                  </a:lnTo>
                  <a:lnTo>
                    <a:pt x="379057" y="69239"/>
                  </a:lnTo>
                  <a:lnTo>
                    <a:pt x="405215" y="103329"/>
                  </a:lnTo>
                  <a:lnTo>
                    <a:pt x="424219" y="141867"/>
                  </a:lnTo>
                  <a:lnTo>
                    <a:pt x="435340" y="183372"/>
                  </a:lnTo>
                  <a:lnTo>
                    <a:pt x="438150" y="211900"/>
                  </a:lnTo>
                  <a:lnTo>
                    <a:pt x="438150" y="235774"/>
                  </a:lnTo>
                  <a:lnTo>
                    <a:pt x="432540" y="278376"/>
                  </a:lnTo>
                  <a:lnTo>
                    <a:pt x="418728" y="319065"/>
                  </a:lnTo>
                  <a:lnTo>
                    <a:pt x="397242" y="356277"/>
                  </a:lnTo>
                  <a:lnTo>
                    <a:pt x="368910" y="388582"/>
                  </a:lnTo>
                  <a:lnTo>
                    <a:pt x="334820" y="414740"/>
                  </a:lnTo>
                  <a:lnTo>
                    <a:pt x="296282" y="433744"/>
                  </a:lnTo>
                  <a:lnTo>
                    <a:pt x="254777" y="444865"/>
                  </a:lnTo>
                  <a:lnTo>
                    <a:pt x="233407" y="447323"/>
                  </a:lnTo>
                  <a:lnTo>
                    <a:pt x="226249" y="447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453437" y="3827858"/>
              <a:ext cx="438150" cy="447675"/>
            </a:xfrm>
            <a:custGeom>
              <a:avLst/>
              <a:gdLst/>
              <a:ahLst/>
              <a:cxnLst/>
              <a:rect l="l" t="t" r="r" b="b"/>
              <a:pathLst>
                <a:path w="438150" h="447675">
                  <a:moveTo>
                    <a:pt x="0" y="228599"/>
                  </a:moveTo>
                  <a:lnTo>
                    <a:pt x="0" y="219074"/>
                  </a:lnTo>
                  <a:lnTo>
                    <a:pt x="0" y="211900"/>
                  </a:lnTo>
                  <a:lnTo>
                    <a:pt x="351" y="204742"/>
                  </a:lnTo>
                  <a:lnTo>
                    <a:pt x="1054" y="197601"/>
                  </a:lnTo>
                  <a:lnTo>
                    <a:pt x="1758" y="190461"/>
                  </a:lnTo>
                  <a:lnTo>
                    <a:pt x="2809" y="183372"/>
                  </a:lnTo>
                  <a:lnTo>
                    <a:pt x="4209" y="176335"/>
                  </a:lnTo>
                  <a:lnTo>
                    <a:pt x="5609" y="169298"/>
                  </a:lnTo>
                  <a:lnTo>
                    <a:pt x="7350" y="162346"/>
                  </a:lnTo>
                  <a:lnTo>
                    <a:pt x="9433" y="155480"/>
                  </a:lnTo>
                  <a:lnTo>
                    <a:pt x="11516" y="148614"/>
                  </a:lnTo>
                  <a:lnTo>
                    <a:pt x="25868" y="115803"/>
                  </a:lnTo>
                  <a:lnTo>
                    <a:pt x="29250" y="109475"/>
                  </a:lnTo>
                  <a:lnTo>
                    <a:pt x="49727" y="80095"/>
                  </a:lnTo>
                  <a:lnTo>
                    <a:pt x="54279" y="74548"/>
                  </a:lnTo>
                  <a:lnTo>
                    <a:pt x="59092" y="69239"/>
                  </a:lnTo>
                  <a:lnTo>
                    <a:pt x="64165" y="64165"/>
                  </a:lnTo>
                  <a:lnTo>
                    <a:pt x="69239" y="59092"/>
                  </a:lnTo>
                  <a:lnTo>
                    <a:pt x="74548" y="54279"/>
                  </a:lnTo>
                  <a:lnTo>
                    <a:pt x="80095" y="49727"/>
                  </a:lnTo>
                  <a:lnTo>
                    <a:pt x="85641" y="45175"/>
                  </a:lnTo>
                  <a:lnTo>
                    <a:pt x="91397" y="40906"/>
                  </a:lnTo>
                  <a:lnTo>
                    <a:pt x="97363" y="36920"/>
                  </a:lnTo>
                  <a:lnTo>
                    <a:pt x="103329" y="32934"/>
                  </a:lnTo>
                  <a:lnTo>
                    <a:pt x="109475" y="29250"/>
                  </a:lnTo>
                  <a:lnTo>
                    <a:pt x="115803" y="25868"/>
                  </a:lnTo>
                  <a:lnTo>
                    <a:pt x="122131" y="22485"/>
                  </a:lnTo>
                  <a:lnTo>
                    <a:pt x="162346" y="7350"/>
                  </a:lnTo>
                  <a:lnTo>
                    <a:pt x="197601" y="1054"/>
                  </a:lnTo>
                  <a:lnTo>
                    <a:pt x="204742" y="351"/>
                  </a:lnTo>
                  <a:lnTo>
                    <a:pt x="211900" y="0"/>
                  </a:lnTo>
                  <a:lnTo>
                    <a:pt x="219074" y="0"/>
                  </a:lnTo>
                  <a:lnTo>
                    <a:pt x="226249" y="0"/>
                  </a:lnTo>
                  <a:lnTo>
                    <a:pt x="261814" y="4209"/>
                  </a:lnTo>
                  <a:lnTo>
                    <a:pt x="268851" y="5609"/>
                  </a:lnTo>
                  <a:lnTo>
                    <a:pt x="275803" y="7350"/>
                  </a:lnTo>
                  <a:lnTo>
                    <a:pt x="282669" y="9433"/>
                  </a:lnTo>
                  <a:lnTo>
                    <a:pt x="289535" y="11516"/>
                  </a:lnTo>
                  <a:lnTo>
                    <a:pt x="296282" y="13930"/>
                  </a:lnTo>
                  <a:lnTo>
                    <a:pt x="302911" y="16676"/>
                  </a:lnTo>
                  <a:lnTo>
                    <a:pt x="309540" y="19421"/>
                  </a:lnTo>
                  <a:lnTo>
                    <a:pt x="346752" y="40906"/>
                  </a:lnTo>
                  <a:lnTo>
                    <a:pt x="373984" y="64165"/>
                  </a:lnTo>
                  <a:lnTo>
                    <a:pt x="379057" y="69239"/>
                  </a:lnTo>
                  <a:lnTo>
                    <a:pt x="383870" y="74548"/>
                  </a:lnTo>
                  <a:lnTo>
                    <a:pt x="388422" y="80095"/>
                  </a:lnTo>
                  <a:lnTo>
                    <a:pt x="392973" y="85641"/>
                  </a:lnTo>
                  <a:lnTo>
                    <a:pt x="397242" y="91397"/>
                  </a:lnTo>
                  <a:lnTo>
                    <a:pt x="401229" y="97363"/>
                  </a:lnTo>
                  <a:lnTo>
                    <a:pt x="405215" y="103329"/>
                  </a:lnTo>
                  <a:lnTo>
                    <a:pt x="421473" y="135238"/>
                  </a:lnTo>
                  <a:lnTo>
                    <a:pt x="424219" y="141867"/>
                  </a:lnTo>
                  <a:lnTo>
                    <a:pt x="426633" y="148614"/>
                  </a:lnTo>
                  <a:lnTo>
                    <a:pt x="428716" y="155480"/>
                  </a:lnTo>
                  <a:lnTo>
                    <a:pt x="430799" y="162346"/>
                  </a:lnTo>
                  <a:lnTo>
                    <a:pt x="432540" y="169298"/>
                  </a:lnTo>
                  <a:lnTo>
                    <a:pt x="433940" y="176335"/>
                  </a:lnTo>
                  <a:lnTo>
                    <a:pt x="435340" y="183372"/>
                  </a:lnTo>
                  <a:lnTo>
                    <a:pt x="436391" y="190461"/>
                  </a:lnTo>
                  <a:lnTo>
                    <a:pt x="437095" y="197601"/>
                  </a:lnTo>
                  <a:lnTo>
                    <a:pt x="437798" y="204742"/>
                  </a:lnTo>
                  <a:lnTo>
                    <a:pt x="438150" y="211900"/>
                  </a:lnTo>
                  <a:lnTo>
                    <a:pt x="438149" y="219074"/>
                  </a:lnTo>
                  <a:lnTo>
                    <a:pt x="438149" y="228599"/>
                  </a:lnTo>
                  <a:lnTo>
                    <a:pt x="433940" y="271339"/>
                  </a:lnTo>
                  <a:lnTo>
                    <a:pt x="432540" y="278376"/>
                  </a:lnTo>
                  <a:lnTo>
                    <a:pt x="430799" y="285328"/>
                  </a:lnTo>
                  <a:lnTo>
                    <a:pt x="428716" y="292194"/>
                  </a:lnTo>
                  <a:lnTo>
                    <a:pt x="426633" y="299060"/>
                  </a:lnTo>
                  <a:lnTo>
                    <a:pt x="424219" y="305807"/>
                  </a:lnTo>
                  <a:lnTo>
                    <a:pt x="421473" y="312436"/>
                  </a:lnTo>
                  <a:lnTo>
                    <a:pt x="418728" y="319065"/>
                  </a:lnTo>
                  <a:lnTo>
                    <a:pt x="401229" y="350311"/>
                  </a:lnTo>
                  <a:lnTo>
                    <a:pt x="397242" y="356277"/>
                  </a:lnTo>
                  <a:lnTo>
                    <a:pt x="373984" y="383509"/>
                  </a:lnTo>
                  <a:lnTo>
                    <a:pt x="368910" y="388582"/>
                  </a:lnTo>
                  <a:lnTo>
                    <a:pt x="363600" y="393395"/>
                  </a:lnTo>
                  <a:lnTo>
                    <a:pt x="358054" y="397947"/>
                  </a:lnTo>
                  <a:lnTo>
                    <a:pt x="352508" y="402498"/>
                  </a:lnTo>
                  <a:lnTo>
                    <a:pt x="316018" y="425189"/>
                  </a:lnTo>
                  <a:lnTo>
                    <a:pt x="302911" y="430998"/>
                  </a:lnTo>
                  <a:lnTo>
                    <a:pt x="296282" y="433744"/>
                  </a:lnTo>
                  <a:lnTo>
                    <a:pt x="254777" y="444865"/>
                  </a:lnTo>
                  <a:lnTo>
                    <a:pt x="226249" y="447674"/>
                  </a:lnTo>
                  <a:lnTo>
                    <a:pt x="219074" y="447674"/>
                  </a:lnTo>
                  <a:lnTo>
                    <a:pt x="211900" y="447674"/>
                  </a:lnTo>
                  <a:lnTo>
                    <a:pt x="176335" y="443465"/>
                  </a:lnTo>
                  <a:lnTo>
                    <a:pt x="169298" y="442065"/>
                  </a:lnTo>
                  <a:lnTo>
                    <a:pt x="162346" y="440324"/>
                  </a:lnTo>
                  <a:lnTo>
                    <a:pt x="155480" y="438241"/>
                  </a:lnTo>
                  <a:lnTo>
                    <a:pt x="148614" y="436158"/>
                  </a:lnTo>
                  <a:lnTo>
                    <a:pt x="141867" y="433744"/>
                  </a:lnTo>
                  <a:lnTo>
                    <a:pt x="135238" y="430998"/>
                  </a:lnTo>
                  <a:lnTo>
                    <a:pt x="128609" y="428253"/>
                  </a:lnTo>
                  <a:lnTo>
                    <a:pt x="122131" y="425189"/>
                  </a:lnTo>
                  <a:lnTo>
                    <a:pt x="115803" y="421806"/>
                  </a:lnTo>
                  <a:lnTo>
                    <a:pt x="109475" y="418424"/>
                  </a:lnTo>
                  <a:lnTo>
                    <a:pt x="74548" y="393395"/>
                  </a:lnTo>
                  <a:lnTo>
                    <a:pt x="64165" y="383509"/>
                  </a:lnTo>
                  <a:lnTo>
                    <a:pt x="59092" y="378435"/>
                  </a:lnTo>
                  <a:lnTo>
                    <a:pt x="36920" y="350311"/>
                  </a:lnTo>
                  <a:lnTo>
                    <a:pt x="32934" y="344345"/>
                  </a:lnTo>
                  <a:lnTo>
                    <a:pt x="29250" y="338198"/>
                  </a:lnTo>
                  <a:lnTo>
                    <a:pt x="25868" y="331871"/>
                  </a:lnTo>
                  <a:lnTo>
                    <a:pt x="22485" y="325543"/>
                  </a:lnTo>
                  <a:lnTo>
                    <a:pt x="19421" y="319065"/>
                  </a:lnTo>
                  <a:lnTo>
                    <a:pt x="16676" y="312436"/>
                  </a:lnTo>
                  <a:lnTo>
                    <a:pt x="13930" y="305807"/>
                  </a:lnTo>
                  <a:lnTo>
                    <a:pt x="2809" y="264302"/>
                  </a:lnTo>
                  <a:lnTo>
                    <a:pt x="0" y="235774"/>
                  </a:lnTo>
                  <a:lnTo>
                    <a:pt x="0" y="228599"/>
                  </a:lnTo>
                  <a:close/>
                </a:path>
              </a:pathLst>
            </a:custGeom>
            <a:ln w="9524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58181" y="3932407"/>
              <a:ext cx="234614" cy="234957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8585696" y="4409947"/>
            <a:ext cx="2057400" cy="1090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80" dirty="0">
                <a:solidFill>
                  <a:srgbClr val="545759"/>
                </a:solidFill>
                <a:latin typeface="Verdana"/>
                <a:cs typeface="Verdana"/>
              </a:rPr>
              <a:t>Smart</a:t>
            </a:r>
            <a:r>
              <a:rPr sz="1450" spc="-9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25" dirty="0">
                <a:solidFill>
                  <a:srgbClr val="545759"/>
                </a:solidFill>
                <a:latin typeface="Verdana"/>
                <a:cs typeface="Verdana"/>
              </a:rPr>
              <a:t>City</a:t>
            </a:r>
            <a:r>
              <a:rPr sz="1450" spc="-10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50" spc="-10" dirty="0">
                <a:solidFill>
                  <a:srgbClr val="545759"/>
                </a:solidFill>
                <a:latin typeface="Verdana"/>
                <a:cs typeface="Verdana"/>
              </a:rPr>
              <a:t>Integration</a:t>
            </a:r>
            <a:endParaRPr sz="1450">
              <a:latin typeface="Verdana"/>
              <a:cs typeface="Verdana"/>
            </a:endParaRPr>
          </a:p>
          <a:p>
            <a:pPr marL="12700" marR="5080">
              <a:lnSpc>
                <a:spcPct val="135900"/>
              </a:lnSpc>
              <a:spcBef>
                <a:spcPts val="990"/>
              </a:spcBef>
            </a:pPr>
            <a:r>
              <a:rPr sz="1150" spc="-50" dirty="0">
                <a:solidFill>
                  <a:srgbClr val="545759"/>
                </a:solidFill>
                <a:latin typeface="Lucida Sans Unicode"/>
                <a:cs typeface="Lucida Sans Unicode"/>
              </a:rPr>
              <a:t>Full</a:t>
            </a:r>
            <a:r>
              <a:rPr sz="11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integration</a:t>
            </a:r>
            <a:r>
              <a:rPr sz="11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with</a:t>
            </a:r>
            <a:r>
              <a:rPr sz="11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city-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wide </a:t>
            </a:r>
            <a:r>
              <a:rPr sz="1150" spc="-65" dirty="0">
                <a:solidFill>
                  <a:srgbClr val="545759"/>
                </a:solidFill>
                <a:latin typeface="Lucida Sans Unicode"/>
                <a:cs typeface="Lucida Sans Unicode"/>
              </a:rPr>
              <a:t>IoT</a:t>
            </a:r>
            <a:r>
              <a:rPr sz="1150" spc="-13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infrastructure</a:t>
            </a:r>
            <a:r>
              <a:rPr sz="11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and</a:t>
            </a:r>
            <a:r>
              <a:rPr sz="115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waste </a:t>
            </a:r>
            <a:r>
              <a:rPr sz="1150" dirty="0">
                <a:solidFill>
                  <a:srgbClr val="545759"/>
                </a:solidFill>
                <a:latin typeface="Lucida Sans Unicode"/>
                <a:cs typeface="Lucida Sans Unicode"/>
              </a:rPr>
              <a:t>segregation</a:t>
            </a:r>
            <a:r>
              <a:rPr sz="1150" spc="-13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features</a:t>
            </a:r>
            <a:endParaRPr sz="11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97756" y="1036410"/>
            <a:ext cx="1042669" cy="252729"/>
          </a:xfrm>
          <a:custGeom>
            <a:avLst/>
            <a:gdLst/>
            <a:ahLst/>
            <a:cxnLst/>
            <a:rect l="l" t="t" r="r" b="b"/>
            <a:pathLst>
              <a:path w="1042670" h="252730">
                <a:moveTo>
                  <a:pt x="1042454" y="252730"/>
                </a:moveTo>
                <a:lnTo>
                  <a:pt x="2660" y="252722"/>
                </a:lnTo>
                <a:lnTo>
                  <a:pt x="1684" y="252216"/>
                </a:lnTo>
                <a:lnTo>
                  <a:pt x="214" y="250204"/>
                </a:lnTo>
                <a:lnTo>
                  <a:pt x="0" y="249082"/>
                </a:lnTo>
                <a:lnTo>
                  <a:pt x="1788" y="242144"/>
                </a:lnTo>
                <a:lnTo>
                  <a:pt x="3771" y="240578"/>
                </a:lnTo>
                <a:lnTo>
                  <a:pt x="118690" y="239952"/>
                </a:lnTo>
                <a:lnTo>
                  <a:pt x="121091" y="238616"/>
                </a:lnTo>
                <a:lnTo>
                  <a:pt x="122612" y="235166"/>
                </a:lnTo>
                <a:lnTo>
                  <a:pt x="122758" y="234351"/>
                </a:lnTo>
                <a:lnTo>
                  <a:pt x="120419" y="184577"/>
                </a:lnTo>
                <a:lnTo>
                  <a:pt x="123795" y="137741"/>
                </a:lnTo>
                <a:lnTo>
                  <a:pt x="135520" y="94401"/>
                </a:lnTo>
                <a:lnTo>
                  <a:pt x="158289" y="55969"/>
                </a:lnTo>
                <a:lnTo>
                  <a:pt x="194795" y="23853"/>
                </a:lnTo>
                <a:lnTo>
                  <a:pt x="244838" y="3523"/>
                </a:lnTo>
                <a:lnTo>
                  <a:pt x="281978" y="0"/>
                </a:lnTo>
                <a:lnTo>
                  <a:pt x="300495" y="1225"/>
                </a:lnTo>
                <a:lnTo>
                  <a:pt x="337671" y="9571"/>
                </a:lnTo>
                <a:lnTo>
                  <a:pt x="359045" y="25105"/>
                </a:lnTo>
                <a:lnTo>
                  <a:pt x="354774" y="26248"/>
                </a:lnTo>
                <a:lnTo>
                  <a:pt x="344811" y="24479"/>
                </a:lnTo>
                <a:lnTo>
                  <a:pt x="320821" y="18528"/>
                </a:lnTo>
                <a:lnTo>
                  <a:pt x="291286" y="13917"/>
                </a:lnTo>
                <a:lnTo>
                  <a:pt x="233460" y="21418"/>
                </a:lnTo>
                <a:lnTo>
                  <a:pt x="175749" y="57931"/>
                </a:lnTo>
                <a:lnTo>
                  <a:pt x="139764" y="124985"/>
                </a:lnTo>
                <a:lnTo>
                  <a:pt x="134349" y="168107"/>
                </a:lnTo>
                <a:lnTo>
                  <a:pt x="134036" y="236031"/>
                </a:lnTo>
                <a:lnTo>
                  <a:pt x="134599" y="237389"/>
                </a:lnTo>
                <a:lnTo>
                  <a:pt x="136849" y="239640"/>
                </a:lnTo>
                <a:lnTo>
                  <a:pt x="138207" y="240202"/>
                </a:lnTo>
                <a:lnTo>
                  <a:pt x="1042454" y="240202"/>
                </a:lnTo>
                <a:lnTo>
                  <a:pt x="1042454" y="252730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36550" y="1412961"/>
            <a:ext cx="336550" cy="154306"/>
          </a:xfrm>
          <a:custGeom>
            <a:avLst/>
            <a:gdLst/>
            <a:ahLst/>
            <a:cxnLst/>
            <a:rect l="l" t="t" r="r" b="b"/>
            <a:pathLst>
              <a:path w="336550" h="233680">
                <a:moveTo>
                  <a:pt x="0" y="233544"/>
                </a:moveTo>
                <a:lnTo>
                  <a:pt x="0" y="220973"/>
                </a:lnTo>
                <a:lnTo>
                  <a:pt x="303480" y="221603"/>
                </a:lnTo>
                <a:lnTo>
                  <a:pt x="304329" y="222021"/>
                </a:lnTo>
                <a:lnTo>
                  <a:pt x="305576" y="223572"/>
                </a:lnTo>
                <a:lnTo>
                  <a:pt x="305789" y="224448"/>
                </a:lnTo>
                <a:lnTo>
                  <a:pt x="305281" y="226990"/>
                </a:lnTo>
                <a:lnTo>
                  <a:pt x="304446" y="230832"/>
                </a:lnTo>
                <a:lnTo>
                  <a:pt x="302066" y="232752"/>
                </a:lnTo>
                <a:lnTo>
                  <a:pt x="0" y="233544"/>
                </a:lnTo>
                <a:close/>
              </a:path>
              <a:path w="336550" h="233680">
                <a:moveTo>
                  <a:pt x="87955" y="106805"/>
                </a:moveTo>
                <a:lnTo>
                  <a:pt x="70706" y="106805"/>
                </a:lnTo>
                <a:lnTo>
                  <a:pt x="71406" y="106518"/>
                </a:lnTo>
                <a:lnTo>
                  <a:pt x="72660" y="105583"/>
                </a:lnTo>
                <a:lnTo>
                  <a:pt x="73135" y="104994"/>
                </a:lnTo>
                <a:lnTo>
                  <a:pt x="73460" y="104283"/>
                </a:lnTo>
                <a:lnTo>
                  <a:pt x="78694" y="93376"/>
                </a:lnTo>
                <a:lnTo>
                  <a:pt x="102641" y="53954"/>
                </a:lnTo>
                <a:lnTo>
                  <a:pt x="148562" y="16465"/>
                </a:lnTo>
                <a:lnTo>
                  <a:pt x="187397" y="1464"/>
                </a:lnTo>
                <a:lnTo>
                  <a:pt x="208506" y="0"/>
                </a:lnTo>
                <a:lnTo>
                  <a:pt x="230743" y="2560"/>
                </a:lnTo>
                <a:lnTo>
                  <a:pt x="258890" y="14575"/>
                </a:lnTo>
                <a:lnTo>
                  <a:pt x="202010" y="14575"/>
                </a:lnTo>
                <a:lnTo>
                  <a:pt x="165537" y="25109"/>
                </a:lnTo>
                <a:lnTo>
                  <a:pt x="128847" y="48818"/>
                </a:lnTo>
                <a:lnTo>
                  <a:pt x="98488" y="87183"/>
                </a:lnTo>
                <a:lnTo>
                  <a:pt x="91515" y="99961"/>
                </a:lnTo>
                <a:lnTo>
                  <a:pt x="87955" y="106805"/>
                </a:lnTo>
                <a:close/>
              </a:path>
              <a:path w="336550" h="233680">
                <a:moveTo>
                  <a:pt x="317203" y="216822"/>
                </a:moveTo>
                <a:lnTo>
                  <a:pt x="315115" y="214901"/>
                </a:lnTo>
                <a:lnTo>
                  <a:pt x="313549" y="213398"/>
                </a:lnTo>
                <a:lnTo>
                  <a:pt x="310991" y="211025"/>
                </a:lnTo>
                <a:lnTo>
                  <a:pt x="310156" y="208582"/>
                </a:lnTo>
                <a:lnTo>
                  <a:pt x="311044" y="206069"/>
                </a:lnTo>
                <a:lnTo>
                  <a:pt x="320717" y="167116"/>
                </a:lnTo>
                <a:lnTo>
                  <a:pt x="321121" y="134725"/>
                </a:lnTo>
                <a:lnTo>
                  <a:pt x="321175" y="130372"/>
                </a:lnTo>
                <a:lnTo>
                  <a:pt x="312418" y="95835"/>
                </a:lnTo>
                <a:lnTo>
                  <a:pt x="294445" y="63506"/>
                </a:lnTo>
                <a:lnTo>
                  <a:pt x="268120" y="35882"/>
                </a:lnTo>
                <a:lnTo>
                  <a:pt x="236756" y="18869"/>
                </a:lnTo>
                <a:lnTo>
                  <a:pt x="202010" y="14575"/>
                </a:lnTo>
                <a:lnTo>
                  <a:pt x="258890" y="14575"/>
                </a:lnTo>
                <a:lnTo>
                  <a:pt x="303668" y="51354"/>
                </a:lnTo>
                <a:lnTo>
                  <a:pt x="325010" y="91155"/>
                </a:lnTo>
                <a:lnTo>
                  <a:pt x="335535" y="134725"/>
                </a:lnTo>
                <a:lnTo>
                  <a:pt x="336291" y="154757"/>
                </a:lnTo>
                <a:lnTo>
                  <a:pt x="333985" y="174641"/>
                </a:lnTo>
                <a:lnTo>
                  <a:pt x="328618" y="194375"/>
                </a:lnTo>
                <a:lnTo>
                  <a:pt x="320189" y="213961"/>
                </a:lnTo>
                <a:lnTo>
                  <a:pt x="318894" y="216508"/>
                </a:lnTo>
                <a:lnTo>
                  <a:pt x="317203" y="216822"/>
                </a:lnTo>
                <a:close/>
              </a:path>
              <a:path w="336550" h="233680">
                <a:moveTo>
                  <a:pt x="73353" y="133811"/>
                </a:moveTo>
                <a:lnTo>
                  <a:pt x="68910" y="133811"/>
                </a:lnTo>
                <a:lnTo>
                  <a:pt x="67670" y="133130"/>
                </a:lnTo>
                <a:lnTo>
                  <a:pt x="66633" y="131342"/>
                </a:lnTo>
                <a:lnTo>
                  <a:pt x="48818" y="106805"/>
                </a:lnTo>
                <a:lnTo>
                  <a:pt x="48577" y="106518"/>
                </a:lnTo>
                <a:lnTo>
                  <a:pt x="26106" y="86885"/>
                </a:lnTo>
                <a:lnTo>
                  <a:pt x="0" y="74853"/>
                </a:lnTo>
                <a:lnTo>
                  <a:pt x="0" y="61134"/>
                </a:lnTo>
                <a:lnTo>
                  <a:pt x="17799" y="66090"/>
                </a:lnTo>
                <a:lnTo>
                  <a:pt x="43262" y="82624"/>
                </a:lnTo>
                <a:lnTo>
                  <a:pt x="65818" y="105348"/>
                </a:lnTo>
                <a:lnTo>
                  <a:pt x="66325" y="105943"/>
                </a:lnTo>
                <a:lnTo>
                  <a:pt x="66944" y="106380"/>
                </a:lnTo>
                <a:lnTo>
                  <a:pt x="68061" y="106805"/>
                </a:lnTo>
                <a:lnTo>
                  <a:pt x="87955" y="106805"/>
                </a:lnTo>
                <a:lnTo>
                  <a:pt x="83924" y="114556"/>
                </a:lnTo>
                <a:lnTo>
                  <a:pt x="75715" y="130967"/>
                </a:lnTo>
                <a:lnTo>
                  <a:pt x="74828" y="132834"/>
                </a:lnTo>
                <a:lnTo>
                  <a:pt x="73353" y="133811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6627" y="1731697"/>
            <a:ext cx="18415" cy="124460"/>
          </a:xfrm>
          <a:custGeom>
            <a:avLst/>
            <a:gdLst/>
            <a:ahLst/>
            <a:cxnLst/>
            <a:rect l="l" t="t" r="r" b="b"/>
            <a:pathLst>
              <a:path w="18414" h="124460">
                <a:moveTo>
                  <a:pt x="11978" y="124397"/>
                </a:moveTo>
                <a:lnTo>
                  <a:pt x="0" y="6388"/>
                </a:lnTo>
                <a:lnTo>
                  <a:pt x="848" y="4318"/>
                </a:lnTo>
                <a:lnTo>
                  <a:pt x="4261" y="881"/>
                </a:lnTo>
                <a:lnTo>
                  <a:pt x="6325" y="18"/>
                </a:lnTo>
                <a:lnTo>
                  <a:pt x="8747" y="9"/>
                </a:lnTo>
                <a:lnTo>
                  <a:pt x="11544" y="0"/>
                </a:lnTo>
                <a:lnTo>
                  <a:pt x="13614" y="848"/>
                </a:lnTo>
                <a:lnTo>
                  <a:pt x="17050" y="4261"/>
                </a:lnTo>
                <a:lnTo>
                  <a:pt x="17914" y="6325"/>
                </a:lnTo>
                <a:lnTo>
                  <a:pt x="18304" y="118027"/>
                </a:lnTo>
                <a:lnTo>
                  <a:pt x="17455" y="120097"/>
                </a:lnTo>
                <a:lnTo>
                  <a:pt x="14042" y="123533"/>
                </a:lnTo>
                <a:lnTo>
                  <a:pt x="11978" y="124397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7211" y="1931237"/>
            <a:ext cx="18415" cy="154305"/>
          </a:xfrm>
          <a:custGeom>
            <a:avLst/>
            <a:gdLst/>
            <a:ahLst/>
            <a:cxnLst/>
            <a:rect l="l" t="t" r="r" b="b"/>
            <a:pathLst>
              <a:path w="18414" h="154305">
                <a:moveTo>
                  <a:pt x="11779" y="154087"/>
                </a:moveTo>
                <a:lnTo>
                  <a:pt x="0" y="6413"/>
                </a:lnTo>
                <a:lnTo>
                  <a:pt x="858" y="4329"/>
                </a:lnTo>
                <a:lnTo>
                  <a:pt x="4301" y="874"/>
                </a:lnTo>
                <a:lnTo>
                  <a:pt x="6381" y="8"/>
                </a:lnTo>
                <a:lnTo>
                  <a:pt x="8820" y="4"/>
                </a:lnTo>
                <a:lnTo>
                  <a:pt x="11510" y="0"/>
                </a:lnTo>
                <a:lnTo>
                  <a:pt x="13593" y="858"/>
                </a:lnTo>
                <a:lnTo>
                  <a:pt x="17048" y="4301"/>
                </a:lnTo>
                <a:lnTo>
                  <a:pt x="17914" y="6381"/>
                </a:lnTo>
                <a:lnTo>
                  <a:pt x="18160" y="147683"/>
                </a:lnTo>
                <a:lnTo>
                  <a:pt x="17302" y="149766"/>
                </a:lnTo>
                <a:lnTo>
                  <a:pt x="13859" y="153221"/>
                </a:lnTo>
                <a:lnTo>
                  <a:pt x="11779" y="154087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7916" y="2303833"/>
            <a:ext cx="12065" cy="234315"/>
          </a:xfrm>
          <a:custGeom>
            <a:avLst/>
            <a:gdLst/>
            <a:ahLst/>
            <a:cxnLst/>
            <a:rect l="l" t="t" r="r" b="b"/>
            <a:pathLst>
              <a:path w="12064" h="234314">
                <a:moveTo>
                  <a:pt x="7785" y="234264"/>
                </a:moveTo>
                <a:lnTo>
                  <a:pt x="3989" y="234264"/>
                </a:lnTo>
                <a:lnTo>
                  <a:pt x="2690" y="233725"/>
                </a:lnTo>
                <a:lnTo>
                  <a:pt x="538" y="231573"/>
                </a:lnTo>
                <a:lnTo>
                  <a:pt x="0" y="230274"/>
                </a:lnTo>
                <a:lnTo>
                  <a:pt x="0" y="3990"/>
                </a:lnTo>
                <a:lnTo>
                  <a:pt x="538" y="2690"/>
                </a:lnTo>
                <a:lnTo>
                  <a:pt x="2690" y="538"/>
                </a:lnTo>
                <a:lnTo>
                  <a:pt x="3989" y="0"/>
                </a:lnTo>
                <a:lnTo>
                  <a:pt x="5512" y="0"/>
                </a:lnTo>
                <a:lnTo>
                  <a:pt x="7785" y="0"/>
                </a:lnTo>
                <a:lnTo>
                  <a:pt x="9085" y="538"/>
                </a:lnTo>
                <a:lnTo>
                  <a:pt x="11237" y="2690"/>
                </a:lnTo>
                <a:lnTo>
                  <a:pt x="11775" y="3990"/>
                </a:lnTo>
                <a:lnTo>
                  <a:pt x="11775" y="230274"/>
                </a:lnTo>
                <a:lnTo>
                  <a:pt x="11237" y="231573"/>
                </a:lnTo>
                <a:lnTo>
                  <a:pt x="9085" y="233725"/>
                </a:lnTo>
                <a:lnTo>
                  <a:pt x="7785" y="234264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36550" y="2865630"/>
            <a:ext cx="3640454" cy="2325370"/>
            <a:chOff x="0" y="2856254"/>
            <a:chExt cx="3640454" cy="232537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856254"/>
              <a:ext cx="3640211" cy="228781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20152" y="5168912"/>
              <a:ext cx="209550" cy="12700"/>
            </a:xfrm>
            <a:custGeom>
              <a:avLst/>
              <a:gdLst/>
              <a:ahLst/>
              <a:cxnLst/>
              <a:rect l="l" t="t" r="r" b="b"/>
              <a:pathLst>
                <a:path w="209550" h="12700">
                  <a:moveTo>
                    <a:pt x="208965" y="1270"/>
                  </a:moveTo>
                  <a:lnTo>
                    <a:pt x="48285" y="1270"/>
                  </a:lnTo>
                  <a:lnTo>
                    <a:pt x="48285" y="0"/>
                  </a:lnTo>
                  <a:lnTo>
                    <a:pt x="6921" y="0"/>
                  </a:lnTo>
                  <a:lnTo>
                    <a:pt x="6921" y="1270"/>
                  </a:lnTo>
                  <a:lnTo>
                    <a:pt x="1092" y="1270"/>
                  </a:lnTo>
                  <a:lnTo>
                    <a:pt x="1092" y="2540"/>
                  </a:lnTo>
                  <a:lnTo>
                    <a:pt x="0" y="2540"/>
                  </a:lnTo>
                  <a:lnTo>
                    <a:pt x="0" y="8890"/>
                  </a:lnTo>
                  <a:lnTo>
                    <a:pt x="203" y="8890"/>
                  </a:lnTo>
                  <a:lnTo>
                    <a:pt x="203" y="10160"/>
                  </a:lnTo>
                  <a:lnTo>
                    <a:pt x="3886" y="10160"/>
                  </a:lnTo>
                  <a:lnTo>
                    <a:pt x="3886" y="11430"/>
                  </a:lnTo>
                  <a:lnTo>
                    <a:pt x="164312" y="11430"/>
                  </a:lnTo>
                  <a:lnTo>
                    <a:pt x="164312" y="12700"/>
                  </a:lnTo>
                  <a:lnTo>
                    <a:pt x="208546" y="12700"/>
                  </a:lnTo>
                  <a:lnTo>
                    <a:pt x="208546" y="11430"/>
                  </a:lnTo>
                  <a:lnTo>
                    <a:pt x="208965" y="11430"/>
                  </a:lnTo>
                  <a:lnTo>
                    <a:pt x="208965" y="10160"/>
                  </a:lnTo>
                  <a:lnTo>
                    <a:pt x="208965" y="8890"/>
                  </a:lnTo>
                  <a:lnTo>
                    <a:pt x="208965" y="2540"/>
                  </a:lnTo>
                  <a:lnTo>
                    <a:pt x="208965" y="1270"/>
                  </a:lnTo>
                  <a:close/>
                </a:path>
              </a:pathLst>
            </a:custGeom>
            <a:solidFill>
              <a:srgbClr val="5457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76311" y="5350428"/>
            <a:ext cx="1071880" cy="398145"/>
          </a:xfrm>
          <a:custGeom>
            <a:avLst/>
            <a:gdLst/>
            <a:ahLst/>
            <a:cxnLst/>
            <a:rect l="l" t="t" r="r" b="b"/>
            <a:pathLst>
              <a:path w="1071880" h="398145">
                <a:moveTo>
                  <a:pt x="58511" y="397586"/>
                </a:moveTo>
                <a:lnTo>
                  <a:pt x="9896" y="396244"/>
                </a:lnTo>
                <a:lnTo>
                  <a:pt x="1837" y="395868"/>
                </a:lnTo>
                <a:lnTo>
                  <a:pt x="0" y="392277"/>
                </a:lnTo>
                <a:lnTo>
                  <a:pt x="22294" y="357769"/>
                </a:lnTo>
                <a:lnTo>
                  <a:pt x="56776" y="305467"/>
                </a:lnTo>
                <a:lnTo>
                  <a:pt x="97483" y="247155"/>
                </a:lnTo>
                <a:lnTo>
                  <a:pt x="123787" y="213985"/>
                </a:lnTo>
                <a:lnTo>
                  <a:pt x="152259" y="181354"/>
                </a:lnTo>
                <a:lnTo>
                  <a:pt x="182901" y="149264"/>
                </a:lnTo>
                <a:lnTo>
                  <a:pt x="220546" y="114192"/>
                </a:lnTo>
                <a:lnTo>
                  <a:pt x="260284" y="82864"/>
                </a:lnTo>
                <a:lnTo>
                  <a:pt x="302335" y="55809"/>
                </a:lnTo>
                <a:lnTo>
                  <a:pt x="346923" y="33557"/>
                </a:lnTo>
                <a:lnTo>
                  <a:pt x="394270" y="16635"/>
                </a:lnTo>
                <a:lnTo>
                  <a:pt x="444600" y="5574"/>
                </a:lnTo>
                <a:lnTo>
                  <a:pt x="498251" y="0"/>
                </a:lnTo>
                <a:lnTo>
                  <a:pt x="549232" y="0"/>
                </a:lnTo>
                <a:lnTo>
                  <a:pt x="599502" y="5371"/>
                </a:lnTo>
                <a:lnTo>
                  <a:pt x="648408" y="16181"/>
                </a:lnTo>
                <a:lnTo>
                  <a:pt x="695950" y="32430"/>
                </a:lnTo>
                <a:lnTo>
                  <a:pt x="742128" y="54118"/>
                </a:lnTo>
                <a:lnTo>
                  <a:pt x="748965" y="58092"/>
                </a:lnTo>
                <a:lnTo>
                  <a:pt x="405907" y="58092"/>
                </a:lnTo>
                <a:lnTo>
                  <a:pt x="397739" y="59270"/>
                </a:lnTo>
                <a:lnTo>
                  <a:pt x="356131" y="74724"/>
                </a:lnTo>
                <a:lnTo>
                  <a:pt x="306627" y="109092"/>
                </a:lnTo>
                <a:lnTo>
                  <a:pt x="291848" y="134749"/>
                </a:lnTo>
                <a:lnTo>
                  <a:pt x="292286" y="136565"/>
                </a:lnTo>
                <a:lnTo>
                  <a:pt x="294500" y="138783"/>
                </a:lnTo>
                <a:lnTo>
                  <a:pt x="295293" y="139222"/>
                </a:lnTo>
                <a:lnTo>
                  <a:pt x="298258" y="139890"/>
                </a:lnTo>
                <a:lnTo>
                  <a:pt x="864366" y="139890"/>
                </a:lnTo>
                <a:lnTo>
                  <a:pt x="882123" y="155591"/>
                </a:lnTo>
                <a:lnTo>
                  <a:pt x="903434" y="176355"/>
                </a:lnTo>
                <a:lnTo>
                  <a:pt x="281686" y="176355"/>
                </a:lnTo>
                <a:lnTo>
                  <a:pt x="278935" y="176801"/>
                </a:lnTo>
                <a:lnTo>
                  <a:pt x="256426" y="204599"/>
                </a:lnTo>
                <a:lnTo>
                  <a:pt x="256527" y="206693"/>
                </a:lnTo>
                <a:lnTo>
                  <a:pt x="256560" y="207383"/>
                </a:lnTo>
                <a:lnTo>
                  <a:pt x="256985" y="208396"/>
                </a:lnTo>
                <a:lnTo>
                  <a:pt x="258547" y="209660"/>
                </a:lnTo>
                <a:lnTo>
                  <a:pt x="259625" y="209865"/>
                </a:lnTo>
                <a:lnTo>
                  <a:pt x="936318" y="209865"/>
                </a:lnTo>
                <a:lnTo>
                  <a:pt x="946904" y="220901"/>
                </a:lnTo>
                <a:lnTo>
                  <a:pt x="978490" y="256061"/>
                </a:lnTo>
                <a:lnTo>
                  <a:pt x="1009541" y="292892"/>
                </a:lnTo>
                <a:lnTo>
                  <a:pt x="1040056" y="331393"/>
                </a:lnTo>
                <a:lnTo>
                  <a:pt x="1070035" y="371565"/>
                </a:lnTo>
                <a:lnTo>
                  <a:pt x="1071477" y="375345"/>
                </a:lnTo>
                <a:lnTo>
                  <a:pt x="1069677" y="378726"/>
                </a:lnTo>
                <a:lnTo>
                  <a:pt x="1042140" y="378726"/>
                </a:lnTo>
                <a:lnTo>
                  <a:pt x="956348" y="383153"/>
                </a:lnTo>
                <a:lnTo>
                  <a:pt x="925734" y="384186"/>
                </a:lnTo>
                <a:lnTo>
                  <a:pt x="901540" y="384531"/>
                </a:lnTo>
                <a:lnTo>
                  <a:pt x="676865" y="384531"/>
                </a:lnTo>
                <a:lnTo>
                  <a:pt x="636780" y="385696"/>
                </a:lnTo>
                <a:lnTo>
                  <a:pt x="569922" y="389977"/>
                </a:lnTo>
                <a:lnTo>
                  <a:pt x="536364" y="390920"/>
                </a:lnTo>
                <a:lnTo>
                  <a:pt x="349085" y="390920"/>
                </a:lnTo>
                <a:lnTo>
                  <a:pt x="270825" y="391494"/>
                </a:lnTo>
                <a:lnTo>
                  <a:pt x="251677" y="391922"/>
                </a:lnTo>
                <a:lnTo>
                  <a:pt x="158082" y="395734"/>
                </a:lnTo>
                <a:lnTo>
                  <a:pt x="108361" y="397212"/>
                </a:lnTo>
                <a:lnTo>
                  <a:pt x="58511" y="397586"/>
                </a:lnTo>
                <a:close/>
              </a:path>
              <a:path w="1071880" h="398145">
                <a:moveTo>
                  <a:pt x="864366" y="139890"/>
                </a:moveTo>
                <a:lnTo>
                  <a:pt x="298258" y="139890"/>
                </a:lnTo>
                <a:lnTo>
                  <a:pt x="300054" y="139368"/>
                </a:lnTo>
                <a:lnTo>
                  <a:pt x="301599" y="137864"/>
                </a:lnTo>
                <a:lnTo>
                  <a:pt x="330467" y="109583"/>
                </a:lnTo>
                <a:lnTo>
                  <a:pt x="374372" y="82336"/>
                </a:lnTo>
                <a:lnTo>
                  <a:pt x="413469" y="67209"/>
                </a:lnTo>
                <a:lnTo>
                  <a:pt x="420401" y="64954"/>
                </a:lnTo>
                <a:lnTo>
                  <a:pt x="420526" y="62407"/>
                </a:lnTo>
                <a:lnTo>
                  <a:pt x="413845" y="59568"/>
                </a:lnTo>
                <a:lnTo>
                  <a:pt x="405907" y="58092"/>
                </a:lnTo>
                <a:lnTo>
                  <a:pt x="748965" y="58092"/>
                </a:lnTo>
                <a:lnTo>
                  <a:pt x="778947" y="75517"/>
                </a:lnTo>
                <a:lnTo>
                  <a:pt x="814552" y="99562"/>
                </a:lnTo>
                <a:lnTo>
                  <a:pt x="848944" y="126253"/>
                </a:lnTo>
                <a:lnTo>
                  <a:pt x="864366" y="139890"/>
                </a:lnTo>
                <a:close/>
              </a:path>
              <a:path w="1071880" h="398145">
                <a:moveTo>
                  <a:pt x="936318" y="209865"/>
                </a:moveTo>
                <a:lnTo>
                  <a:pt x="259625" y="209865"/>
                </a:lnTo>
                <a:lnTo>
                  <a:pt x="262376" y="209418"/>
                </a:lnTo>
                <a:lnTo>
                  <a:pt x="263945" y="208784"/>
                </a:lnTo>
                <a:lnTo>
                  <a:pt x="283165" y="187411"/>
                </a:lnTo>
                <a:lnTo>
                  <a:pt x="283279" y="187168"/>
                </a:lnTo>
                <a:lnTo>
                  <a:pt x="284592" y="183287"/>
                </a:lnTo>
                <a:lnTo>
                  <a:pt x="284886" y="181622"/>
                </a:lnTo>
                <a:lnTo>
                  <a:pt x="284873" y="181354"/>
                </a:lnTo>
                <a:lnTo>
                  <a:pt x="284751" y="178838"/>
                </a:lnTo>
                <a:lnTo>
                  <a:pt x="284327" y="177825"/>
                </a:lnTo>
                <a:lnTo>
                  <a:pt x="282765" y="176559"/>
                </a:lnTo>
                <a:lnTo>
                  <a:pt x="281686" y="176355"/>
                </a:lnTo>
                <a:lnTo>
                  <a:pt x="903434" y="176355"/>
                </a:lnTo>
                <a:lnTo>
                  <a:pt x="914781" y="187411"/>
                </a:lnTo>
                <a:lnTo>
                  <a:pt x="936318" y="209865"/>
                </a:lnTo>
                <a:close/>
              </a:path>
              <a:path w="1071880" h="398145">
                <a:moveTo>
                  <a:pt x="1067988" y="380146"/>
                </a:moveTo>
                <a:lnTo>
                  <a:pt x="1061015" y="380146"/>
                </a:lnTo>
                <a:lnTo>
                  <a:pt x="1056296" y="379812"/>
                </a:lnTo>
                <a:lnTo>
                  <a:pt x="1046161" y="378726"/>
                </a:lnTo>
                <a:lnTo>
                  <a:pt x="1069677" y="378726"/>
                </a:lnTo>
                <a:lnTo>
                  <a:pt x="1069341" y="379357"/>
                </a:lnTo>
                <a:lnTo>
                  <a:pt x="1067988" y="380146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1686560" y="5363895"/>
            <a:ext cx="749935" cy="57785"/>
          </a:xfrm>
          <a:custGeom>
            <a:avLst/>
            <a:gdLst/>
            <a:ahLst/>
            <a:cxnLst/>
            <a:rect l="l" t="t" r="r" b="b"/>
            <a:pathLst>
              <a:path w="749935" h="57785">
                <a:moveTo>
                  <a:pt x="674230" y="4356"/>
                </a:moveTo>
                <a:lnTo>
                  <a:pt x="673633" y="2946"/>
                </a:lnTo>
                <a:lnTo>
                  <a:pt x="671283" y="596"/>
                </a:lnTo>
                <a:lnTo>
                  <a:pt x="669874" y="0"/>
                </a:lnTo>
                <a:lnTo>
                  <a:pt x="6007" y="0"/>
                </a:lnTo>
                <a:lnTo>
                  <a:pt x="4343" y="0"/>
                </a:lnTo>
                <a:lnTo>
                  <a:pt x="2933" y="596"/>
                </a:lnTo>
                <a:lnTo>
                  <a:pt x="584" y="2946"/>
                </a:lnTo>
                <a:lnTo>
                  <a:pt x="0" y="4356"/>
                </a:lnTo>
                <a:lnTo>
                  <a:pt x="0" y="8178"/>
                </a:lnTo>
                <a:lnTo>
                  <a:pt x="584" y="9601"/>
                </a:lnTo>
                <a:lnTo>
                  <a:pt x="2933" y="11950"/>
                </a:lnTo>
                <a:lnTo>
                  <a:pt x="4343" y="12534"/>
                </a:lnTo>
                <a:lnTo>
                  <a:pt x="669874" y="12534"/>
                </a:lnTo>
                <a:lnTo>
                  <a:pt x="671283" y="11950"/>
                </a:lnTo>
                <a:lnTo>
                  <a:pt x="673633" y="9601"/>
                </a:lnTo>
                <a:lnTo>
                  <a:pt x="674230" y="8178"/>
                </a:lnTo>
                <a:lnTo>
                  <a:pt x="674230" y="4356"/>
                </a:lnTo>
                <a:close/>
              </a:path>
              <a:path w="749935" h="57785">
                <a:moveTo>
                  <a:pt x="749515" y="43853"/>
                </a:moveTo>
                <a:lnTo>
                  <a:pt x="749134" y="43472"/>
                </a:lnTo>
                <a:lnTo>
                  <a:pt x="748385" y="43472"/>
                </a:lnTo>
                <a:lnTo>
                  <a:pt x="365175" y="43472"/>
                </a:lnTo>
                <a:lnTo>
                  <a:pt x="364794" y="43853"/>
                </a:lnTo>
                <a:lnTo>
                  <a:pt x="364794" y="46443"/>
                </a:lnTo>
                <a:lnTo>
                  <a:pt x="384136" y="57251"/>
                </a:lnTo>
                <a:lnTo>
                  <a:pt x="730173" y="57251"/>
                </a:lnTo>
                <a:lnTo>
                  <a:pt x="749515" y="46443"/>
                </a:lnTo>
                <a:lnTo>
                  <a:pt x="749515" y="43853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30918" y="5499468"/>
            <a:ext cx="409575" cy="160655"/>
          </a:xfrm>
          <a:custGeom>
            <a:avLst/>
            <a:gdLst/>
            <a:ahLst/>
            <a:cxnLst/>
            <a:rect l="l" t="t" r="r" b="b"/>
            <a:pathLst>
              <a:path w="409575" h="160654">
                <a:moveTo>
                  <a:pt x="409282" y="147904"/>
                </a:moveTo>
                <a:lnTo>
                  <a:pt x="26403" y="147675"/>
                </a:lnTo>
                <a:lnTo>
                  <a:pt x="19570" y="145173"/>
                </a:lnTo>
                <a:lnTo>
                  <a:pt x="1968" y="141770"/>
                </a:lnTo>
                <a:lnTo>
                  <a:pt x="40894" y="160375"/>
                </a:lnTo>
                <a:lnTo>
                  <a:pt x="59601" y="160642"/>
                </a:lnTo>
                <a:lnTo>
                  <a:pt x="409282" y="160147"/>
                </a:lnTo>
                <a:lnTo>
                  <a:pt x="409282" y="147904"/>
                </a:lnTo>
                <a:close/>
              </a:path>
              <a:path w="409575" h="160654">
                <a:moveTo>
                  <a:pt x="409282" y="102044"/>
                </a:moveTo>
                <a:lnTo>
                  <a:pt x="396113" y="88938"/>
                </a:lnTo>
                <a:lnTo>
                  <a:pt x="384797" y="78524"/>
                </a:lnTo>
                <a:lnTo>
                  <a:pt x="378129" y="72390"/>
                </a:lnTo>
                <a:lnTo>
                  <a:pt x="377532" y="71882"/>
                </a:lnTo>
                <a:lnTo>
                  <a:pt x="359435" y="56476"/>
                </a:lnTo>
                <a:lnTo>
                  <a:pt x="351205" y="50850"/>
                </a:lnTo>
                <a:lnTo>
                  <a:pt x="322021" y="30886"/>
                </a:lnTo>
                <a:lnTo>
                  <a:pt x="318604" y="28600"/>
                </a:lnTo>
                <a:lnTo>
                  <a:pt x="317969" y="28321"/>
                </a:lnTo>
                <a:lnTo>
                  <a:pt x="274688" y="9347"/>
                </a:lnTo>
                <a:lnTo>
                  <a:pt x="228244" y="0"/>
                </a:lnTo>
                <a:lnTo>
                  <a:pt x="180670" y="2235"/>
                </a:lnTo>
                <a:lnTo>
                  <a:pt x="167297" y="6819"/>
                </a:lnTo>
                <a:lnTo>
                  <a:pt x="167297" y="32131"/>
                </a:lnTo>
                <a:lnTo>
                  <a:pt x="167170" y="33502"/>
                </a:lnTo>
                <a:lnTo>
                  <a:pt x="145148" y="50850"/>
                </a:lnTo>
                <a:lnTo>
                  <a:pt x="139979" y="50850"/>
                </a:lnTo>
                <a:lnTo>
                  <a:pt x="138607" y="50507"/>
                </a:lnTo>
                <a:lnTo>
                  <a:pt x="136093" y="49174"/>
                </a:lnTo>
                <a:lnTo>
                  <a:pt x="135229" y="48361"/>
                </a:lnTo>
                <a:lnTo>
                  <a:pt x="133921" y="45923"/>
                </a:lnTo>
                <a:lnTo>
                  <a:pt x="134048" y="45504"/>
                </a:lnTo>
                <a:lnTo>
                  <a:pt x="164769" y="28600"/>
                </a:lnTo>
                <a:lnTo>
                  <a:pt x="165303" y="28321"/>
                </a:lnTo>
                <a:lnTo>
                  <a:pt x="165646" y="28321"/>
                </a:lnTo>
                <a:lnTo>
                  <a:pt x="167055" y="30886"/>
                </a:lnTo>
                <a:lnTo>
                  <a:pt x="167297" y="32131"/>
                </a:lnTo>
                <a:lnTo>
                  <a:pt x="167297" y="6819"/>
                </a:lnTo>
                <a:lnTo>
                  <a:pt x="133273" y="18453"/>
                </a:lnTo>
                <a:lnTo>
                  <a:pt x="126428" y="22987"/>
                </a:lnTo>
                <a:lnTo>
                  <a:pt x="126428" y="74295"/>
                </a:lnTo>
                <a:lnTo>
                  <a:pt x="126428" y="76123"/>
                </a:lnTo>
                <a:lnTo>
                  <a:pt x="126111" y="76911"/>
                </a:lnTo>
                <a:lnTo>
                  <a:pt x="124802" y="78206"/>
                </a:lnTo>
                <a:lnTo>
                  <a:pt x="124028" y="78524"/>
                </a:lnTo>
                <a:lnTo>
                  <a:pt x="122186" y="78524"/>
                </a:lnTo>
                <a:lnTo>
                  <a:pt x="121412" y="78206"/>
                </a:lnTo>
                <a:lnTo>
                  <a:pt x="120116" y="76911"/>
                </a:lnTo>
                <a:lnTo>
                  <a:pt x="119786" y="76123"/>
                </a:lnTo>
                <a:lnTo>
                  <a:pt x="119786" y="74295"/>
                </a:lnTo>
                <a:lnTo>
                  <a:pt x="120116" y="73507"/>
                </a:lnTo>
                <a:lnTo>
                  <a:pt x="121412" y="72212"/>
                </a:lnTo>
                <a:lnTo>
                  <a:pt x="122186" y="71882"/>
                </a:lnTo>
                <a:lnTo>
                  <a:pt x="124028" y="71882"/>
                </a:lnTo>
                <a:lnTo>
                  <a:pt x="124802" y="72212"/>
                </a:lnTo>
                <a:lnTo>
                  <a:pt x="126098" y="73507"/>
                </a:lnTo>
                <a:lnTo>
                  <a:pt x="126428" y="74295"/>
                </a:lnTo>
                <a:lnTo>
                  <a:pt x="126428" y="22987"/>
                </a:lnTo>
                <a:lnTo>
                  <a:pt x="90398" y="46837"/>
                </a:lnTo>
                <a:lnTo>
                  <a:pt x="53517" y="83515"/>
                </a:lnTo>
                <a:lnTo>
                  <a:pt x="24079" y="124561"/>
                </a:lnTo>
                <a:lnTo>
                  <a:pt x="23622" y="126847"/>
                </a:lnTo>
                <a:lnTo>
                  <a:pt x="23774" y="127406"/>
                </a:lnTo>
                <a:lnTo>
                  <a:pt x="24358" y="128447"/>
                </a:lnTo>
                <a:lnTo>
                  <a:pt x="24650" y="128739"/>
                </a:lnTo>
                <a:lnTo>
                  <a:pt x="25806" y="129476"/>
                </a:lnTo>
                <a:lnTo>
                  <a:pt x="26365" y="129628"/>
                </a:lnTo>
                <a:lnTo>
                  <a:pt x="30708" y="129628"/>
                </a:lnTo>
                <a:lnTo>
                  <a:pt x="409282" y="128739"/>
                </a:lnTo>
                <a:lnTo>
                  <a:pt x="409282" y="102044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5649879"/>
            <a:ext cx="196215" cy="20320"/>
          </a:xfrm>
          <a:custGeom>
            <a:avLst/>
            <a:gdLst/>
            <a:ahLst/>
            <a:cxnLst/>
            <a:rect l="l" t="t" r="r" b="b"/>
            <a:pathLst>
              <a:path w="196215" h="20320">
                <a:moveTo>
                  <a:pt x="0" y="20170"/>
                </a:moveTo>
                <a:lnTo>
                  <a:pt x="0" y="5921"/>
                </a:lnTo>
                <a:lnTo>
                  <a:pt x="38634" y="4339"/>
                </a:lnTo>
                <a:lnTo>
                  <a:pt x="192095" y="0"/>
                </a:lnTo>
                <a:lnTo>
                  <a:pt x="192809" y="156"/>
                </a:lnTo>
                <a:lnTo>
                  <a:pt x="196144" y="4649"/>
                </a:lnTo>
                <a:lnTo>
                  <a:pt x="196087" y="5378"/>
                </a:lnTo>
                <a:lnTo>
                  <a:pt x="135424" y="16302"/>
                </a:lnTo>
                <a:lnTo>
                  <a:pt x="90998" y="16177"/>
                </a:lnTo>
                <a:lnTo>
                  <a:pt x="75872" y="16224"/>
                </a:lnTo>
                <a:lnTo>
                  <a:pt x="55295" y="16929"/>
                </a:lnTo>
                <a:lnTo>
                  <a:pt x="29269" y="18291"/>
                </a:lnTo>
                <a:lnTo>
                  <a:pt x="0" y="20170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68376" y="5677559"/>
            <a:ext cx="472440" cy="38735"/>
          </a:xfrm>
          <a:custGeom>
            <a:avLst/>
            <a:gdLst/>
            <a:ahLst/>
            <a:cxnLst/>
            <a:rect l="l" t="t" r="r" b="b"/>
            <a:pathLst>
              <a:path w="472439" h="38735">
                <a:moveTo>
                  <a:pt x="471834" y="38628"/>
                </a:moveTo>
                <a:lnTo>
                  <a:pt x="383842" y="38545"/>
                </a:lnTo>
                <a:lnTo>
                  <a:pt x="336255" y="38092"/>
                </a:lnTo>
                <a:lnTo>
                  <a:pt x="288703" y="36795"/>
                </a:lnTo>
                <a:lnTo>
                  <a:pt x="241187" y="34654"/>
                </a:lnTo>
                <a:lnTo>
                  <a:pt x="193706" y="31670"/>
                </a:lnTo>
                <a:lnTo>
                  <a:pt x="146260" y="27843"/>
                </a:lnTo>
                <a:lnTo>
                  <a:pt x="98849" y="23171"/>
                </a:lnTo>
                <a:lnTo>
                  <a:pt x="51474" y="17656"/>
                </a:lnTo>
                <a:lnTo>
                  <a:pt x="668" y="10796"/>
                </a:lnTo>
                <a:lnTo>
                  <a:pt x="0" y="9147"/>
                </a:lnTo>
                <a:lnTo>
                  <a:pt x="3340" y="4846"/>
                </a:lnTo>
                <a:lnTo>
                  <a:pt x="4843" y="3740"/>
                </a:lnTo>
                <a:lnTo>
                  <a:pt x="11998" y="939"/>
                </a:lnTo>
                <a:lnTo>
                  <a:pt x="15714" y="0"/>
                </a:lnTo>
                <a:lnTo>
                  <a:pt x="56749" y="4780"/>
                </a:lnTo>
                <a:lnTo>
                  <a:pt x="88444" y="8338"/>
                </a:lnTo>
                <a:lnTo>
                  <a:pt x="130035" y="12425"/>
                </a:lnTo>
                <a:lnTo>
                  <a:pt x="192077" y="16591"/>
                </a:lnTo>
                <a:lnTo>
                  <a:pt x="232189" y="18979"/>
                </a:lnTo>
                <a:lnTo>
                  <a:pt x="278360" y="21570"/>
                </a:lnTo>
                <a:lnTo>
                  <a:pt x="340371" y="24170"/>
                </a:lnTo>
                <a:lnTo>
                  <a:pt x="403635" y="25203"/>
                </a:lnTo>
                <a:lnTo>
                  <a:pt x="471834" y="25481"/>
                </a:lnTo>
                <a:lnTo>
                  <a:pt x="471834" y="38628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5748185"/>
            <a:ext cx="1322070" cy="113030"/>
          </a:xfrm>
          <a:custGeom>
            <a:avLst/>
            <a:gdLst/>
            <a:ahLst/>
            <a:cxnLst/>
            <a:rect l="l" t="t" r="r" b="b"/>
            <a:pathLst>
              <a:path w="1322070" h="113029">
                <a:moveTo>
                  <a:pt x="632739" y="103555"/>
                </a:moveTo>
                <a:lnTo>
                  <a:pt x="632345" y="100723"/>
                </a:lnTo>
                <a:lnTo>
                  <a:pt x="629805" y="96494"/>
                </a:lnTo>
                <a:lnTo>
                  <a:pt x="628154" y="95669"/>
                </a:lnTo>
                <a:lnTo>
                  <a:pt x="590575" y="98196"/>
                </a:lnTo>
                <a:lnTo>
                  <a:pt x="562216" y="99656"/>
                </a:lnTo>
                <a:lnTo>
                  <a:pt x="540905" y="100203"/>
                </a:lnTo>
                <a:lnTo>
                  <a:pt x="526630" y="99847"/>
                </a:lnTo>
                <a:lnTo>
                  <a:pt x="494487" y="97599"/>
                </a:lnTo>
                <a:lnTo>
                  <a:pt x="461848" y="95719"/>
                </a:lnTo>
                <a:lnTo>
                  <a:pt x="428739" y="94195"/>
                </a:lnTo>
                <a:lnTo>
                  <a:pt x="346062" y="91160"/>
                </a:lnTo>
                <a:lnTo>
                  <a:pt x="296748" y="88417"/>
                </a:lnTo>
                <a:lnTo>
                  <a:pt x="247192" y="84785"/>
                </a:lnTo>
                <a:lnTo>
                  <a:pt x="197421" y="80264"/>
                </a:lnTo>
                <a:lnTo>
                  <a:pt x="147421" y="74853"/>
                </a:lnTo>
                <a:lnTo>
                  <a:pt x="97205" y="68541"/>
                </a:lnTo>
                <a:lnTo>
                  <a:pt x="46748" y="61341"/>
                </a:lnTo>
                <a:lnTo>
                  <a:pt x="0" y="53886"/>
                </a:lnTo>
                <a:lnTo>
                  <a:pt x="0" y="67754"/>
                </a:lnTo>
                <a:lnTo>
                  <a:pt x="40170" y="74129"/>
                </a:lnTo>
                <a:lnTo>
                  <a:pt x="88480" y="81089"/>
                </a:lnTo>
                <a:lnTo>
                  <a:pt x="136880" y="87363"/>
                </a:lnTo>
                <a:lnTo>
                  <a:pt x="185381" y="92925"/>
                </a:lnTo>
                <a:lnTo>
                  <a:pt x="233972" y="97802"/>
                </a:lnTo>
                <a:lnTo>
                  <a:pt x="282663" y="101981"/>
                </a:lnTo>
                <a:lnTo>
                  <a:pt x="331457" y="105473"/>
                </a:lnTo>
                <a:lnTo>
                  <a:pt x="380339" y="108267"/>
                </a:lnTo>
                <a:lnTo>
                  <a:pt x="429323" y="110363"/>
                </a:lnTo>
                <a:lnTo>
                  <a:pt x="478409" y="111760"/>
                </a:lnTo>
                <a:lnTo>
                  <a:pt x="527583" y="112471"/>
                </a:lnTo>
                <a:lnTo>
                  <a:pt x="576859" y="112483"/>
                </a:lnTo>
                <a:lnTo>
                  <a:pt x="627672" y="111785"/>
                </a:lnTo>
                <a:lnTo>
                  <a:pt x="628954" y="111315"/>
                </a:lnTo>
                <a:lnTo>
                  <a:pt x="631164" y="109448"/>
                </a:lnTo>
                <a:lnTo>
                  <a:pt x="631850" y="108280"/>
                </a:lnTo>
                <a:lnTo>
                  <a:pt x="632739" y="103555"/>
                </a:lnTo>
                <a:close/>
              </a:path>
              <a:path w="1322070" h="113029">
                <a:moveTo>
                  <a:pt x="1278102" y="8343"/>
                </a:moveTo>
                <a:lnTo>
                  <a:pt x="1276426" y="2794"/>
                </a:lnTo>
                <a:lnTo>
                  <a:pt x="1274089" y="1003"/>
                </a:lnTo>
                <a:lnTo>
                  <a:pt x="1237183" y="152"/>
                </a:lnTo>
                <a:lnTo>
                  <a:pt x="1208646" y="0"/>
                </a:lnTo>
                <a:lnTo>
                  <a:pt x="1184846" y="406"/>
                </a:lnTo>
                <a:lnTo>
                  <a:pt x="1165783" y="1371"/>
                </a:lnTo>
                <a:lnTo>
                  <a:pt x="1131925" y="3683"/>
                </a:lnTo>
                <a:lnTo>
                  <a:pt x="1103325" y="5143"/>
                </a:lnTo>
                <a:lnTo>
                  <a:pt x="1079969" y="5778"/>
                </a:lnTo>
                <a:lnTo>
                  <a:pt x="1043190" y="5422"/>
                </a:lnTo>
                <a:lnTo>
                  <a:pt x="999553" y="5435"/>
                </a:lnTo>
                <a:lnTo>
                  <a:pt x="837374" y="5880"/>
                </a:lnTo>
                <a:lnTo>
                  <a:pt x="796010" y="7620"/>
                </a:lnTo>
                <a:lnTo>
                  <a:pt x="760844" y="10414"/>
                </a:lnTo>
                <a:lnTo>
                  <a:pt x="744905" y="11493"/>
                </a:lnTo>
                <a:lnTo>
                  <a:pt x="732066" y="12115"/>
                </a:lnTo>
                <a:lnTo>
                  <a:pt x="722312" y="12268"/>
                </a:lnTo>
                <a:lnTo>
                  <a:pt x="655091" y="11849"/>
                </a:lnTo>
                <a:lnTo>
                  <a:pt x="593115" y="11671"/>
                </a:lnTo>
                <a:lnTo>
                  <a:pt x="536397" y="11734"/>
                </a:lnTo>
                <a:lnTo>
                  <a:pt x="484924" y="12065"/>
                </a:lnTo>
                <a:lnTo>
                  <a:pt x="438708" y="12636"/>
                </a:lnTo>
                <a:lnTo>
                  <a:pt x="397738" y="13449"/>
                </a:lnTo>
                <a:lnTo>
                  <a:pt x="338429" y="16967"/>
                </a:lnTo>
                <a:lnTo>
                  <a:pt x="332524" y="17322"/>
                </a:lnTo>
                <a:lnTo>
                  <a:pt x="177876" y="19138"/>
                </a:lnTo>
                <a:lnTo>
                  <a:pt x="176911" y="20459"/>
                </a:lnTo>
                <a:lnTo>
                  <a:pt x="179438" y="28181"/>
                </a:lnTo>
                <a:lnTo>
                  <a:pt x="181838" y="29984"/>
                </a:lnTo>
                <a:lnTo>
                  <a:pt x="246494" y="30924"/>
                </a:lnTo>
                <a:lnTo>
                  <a:pt x="301967" y="31330"/>
                </a:lnTo>
                <a:lnTo>
                  <a:pt x="351929" y="31280"/>
                </a:lnTo>
                <a:lnTo>
                  <a:pt x="396367" y="30784"/>
                </a:lnTo>
                <a:lnTo>
                  <a:pt x="435292" y="29832"/>
                </a:lnTo>
                <a:lnTo>
                  <a:pt x="485571" y="27305"/>
                </a:lnTo>
                <a:lnTo>
                  <a:pt x="502145" y="26022"/>
                </a:lnTo>
                <a:lnTo>
                  <a:pt x="518680" y="24980"/>
                </a:lnTo>
                <a:lnTo>
                  <a:pt x="535406" y="24549"/>
                </a:lnTo>
                <a:lnTo>
                  <a:pt x="594880" y="24561"/>
                </a:lnTo>
                <a:lnTo>
                  <a:pt x="699071" y="24345"/>
                </a:lnTo>
                <a:lnTo>
                  <a:pt x="783577" y="23799"/>
                </a:lnTo>
                <a:lnTo>
                  <a:pt x="842429" y="22834"/>
                </a:lnTo>
                <a:lnTo>
                  <a:pt x="905484" y="19481"/>
                </a:lnTo>
                <a:lnTo>
                  <a:pt x="930071" y="18364"/>
                </a:lnTo>
                <a:lnTo>
                  <a:pt x="953427" y="17818"/>
                </a:lnTo>
                <a:lnTo>
                  <a:pt x="975563" y="17843"/>
                </a:lnTo>
                <a:lnTo>
                  <a:pt x="1025969" y="18453"/>
                </a:lnTo>
                <a:lnTo>
                  <a:pt x="1075029" y="18732"/>
                </a:lnTo>
                <a:lnTo>
                  <a:pt x="1122730" y="18669"/>
                </a:lnTo>
                <a:lnTo>
                  <a:pt x="1169085" y="18275"/>
                </a:lnTo>
                <a:lnTo>
                  <a:pt x="1214081" y="17538"/>
                </a:lnTo>
                <a:lnTo>
                  <a:pt x="1257490" y="13144"/>
                </a:lnTo>
                <a:lnTo>
                  <a:pt x="1277340" y="9601"/>
                </a:lnTo>
                <a:lnTo>
                  <a:pt x="1278102" y="8343"/>
                </a:lnTo>
                <a:close/>
              </a:path>
              <a:path w="1322070" h="113029">
                <a:moveTo>
                  <a:pt x="1321714" y="40335"/>
                </a:moveTo>
                <a:lnTo>
                  <a:pt x="1316812" y="33515"/>
                </a:lnTo>
                <a:lnTo>
                  <a:pt x="1264043" y="42951"/>
                </a:lnTo>
                <a:lnTo>
                  <a:pt x="1212697" y="51168"/>
                </a:lnTo>
                <a:lnTo>
                  <a:pt x="1161516" y="58420"/>
                </a:lnTo>
                <a:lnTo>
                  <a:pt x="1110500" y="64693"/>
                </a:lnTo>
                <a:lnTo>
                  <a:pt x="1059649" y="69989"/>
                </a:lnTo>
                <a:lnTo>
                  <a:pt x="1008976" y="74320"/>
                </a:lnTo>
                <a:lnTo>
                  <a:pt x="954036" y="77914"/>
                </a:lnTo>
                <a:lnTo>
                  <a:pt x="950226" y="79603"/>
                </a:lnTo>
                <a:lnTo>
                  <a:pt x="945184" y="84582"/>
                </a:lnTo>
                <a:lnTo>
                  <a:pt x="944181" y="85712"/>
                </a:lnTo>
                <a:lnTo>
                  <a:pt x="942924" y="89712"/>
                </a:lnTo>
                <a:lnTo>
                  <a:pt x="943952" y="91567"/>
                </a:lnTo>
                <a:lnTo>
                  <a:pt x="947115" y="91694"/>
                </a:lnTo>
                <a:lnTo>
                  <a:pt x="954900" y="91617"/>
                </a:lnTo>
                <a:lnTo>
                  <a:pt x="1015212" y="87820"/>
                </a:lnTo>
                <a:lnTo>
                  <a:pt x="1068628" y="83375"/>
                </a:lnTo>
                <a:lnTo>
                  <a:pt x="1120546" y="78117"/>
                </a:lnTo>
                <a:lnTo>
                  <a:pt x="1170990" y="72034"/>
                </a:lnTo>
                <a:lnTo>
                  <a:pt x="1219936" y="65125"/>
                </a:lnTo>
                <a:lnTo>
                  <a:pt x="1267396" y="57404"/>
                </a:lnTo>
                <a:lnTo>
                  <a:pt x="1317205" y="48094"/>
                </a:lnTo>
                <a:lnTo>
                  <a:pt x="1319923" y="45466"/>
                </a:lnTo>
                <a:lnTo>
                  <a:pt x="1321714" y="40335"/>
                </a:lnTo>
                <a:close/>
              </a:path>
            </a:pathLst>
          </a:custGeom>
          <a:solidFill>
            <a:srgbClr val="5457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6141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Conclusion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4149840" y="2248841"/>
            <a:ext cx="5048250" cy="2952750"/>
            <a:chOff x="4149840" y="2248841"/>
            <a:chExt cx="5048250" cy="2952750"/>
          </a:xfrm>
        </p:grpSpPr>
        <p:sp>
          <p:nvSpPr>
            <p:cNvPr id="18" name="object 18"/>
            <p:cNvSpPr/>
            <p:nvPr/>
          </p:nvSpPr>
          <p:spPr>
            <a:xfrm>
              <a:off x="4153885" y="2252886"/>
              <a:ext cx="5039995" cy="2945130"/>
            </a:xfrm>
            <a:custGeom>
              <a:avLst/>
              <a:gdLst/>
              <a:ahLst/>
              <a:cxnLst/>
              <a:rect l="l" t="t" r="r" b="b"/>
              <a:pathLst>
                <a:path w="5039995" h="2945129">
                  <a:moveTo>
                    <a:pt x="4954168" y="2944525"/>
                  </a:moveTo>
                  <a:lnTo>
                    <a:pt x="85502" y="2944525"/>
                  </a:lnTo>
                  <a:lnTo>
                    <a:pt x="79551" y="2943939"/>
                  </a:lnTo>
                  <a:lnTo>
                    <a:pt x="35673" y="2925765"/>
                  </a:lnTo>
                  <a:lnTo>
                    <a:pt x="9264" y="2893586"/>
                  </a:lnTo>
                  <a:lnTo>
                    <a:pt x="0" y="2859023"/>
                  </a:lnTo>
                  <a:lnTo>
                    <a:pt x="0" y="2853015"/>
                  </a:lnTo>
                  <a:lnTo>
                    <a:pt x="0" y="85502"/>
                  </a:lnTo>
                  <a:lnTo>
                    <a:pt x="12083" y="45665"/>
                  </a:lnTo>
                  <a:lnTo>
                    <a:pt x="45666" y="12083"/>
                  </a:lnTo>
                  <a:lnTo>
                    <a:pt x="85502" y="0"/>
                  </a:lnTo>
                  <a:lnTo>
                    <a:pt x="4954168" y="0"/>
                  </a:lnTo>
                  <a:lnTo>
                    <a:pt x="4994003" y="12083"/>
                  </a:lnTo>
                  <a:lnTo>
                    <a:pt x="5027584" y="45665"/>
                  </a:lnTo>
                  <a:lnTo>
                    <a:pt x="5039669" y="85502"/>
                  </a:lnTo>
                  <a:lnTo>
                    <a:pt x="5039669" y="2859023"/>
                  </a:lnTo>
                  <a:lnTo>
                    <a:pt x="5027584" y="2898859"/>
                  </a:lnTo>
                  <a:lnTo>
                    <a:pt x="4994003" y="2932442"/>
                  </a:lnTo>
                  <a:lnTo>
                    <a:pt x="4960118" y="2943939"/>
                  </a:lnTo>
                  <a:lnTo>
                    <a:pt x="4954168" y="29445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53885" y="2252886"/>
              <a:ext cx="5039995" cy="2945130"/>
            </a:xfrm>
            <a:custGeom>
              <a:avLst/>
              <a:gdLst/>
              <a:ahLst/>
              <a:cxnLst/>
              <a:rect l="l" t="t" r="r" b="b"/>
              <a:pathLst>
                <a:path w="5039995" h="2945129">
                  <a:moveTo>
                    <a:pt x="0" y="2853015"/>
                  </a:moveTo>
                  <a:lnTo>
                    <a:pt x="0" y="91510"/>
                  </a:lnTo>
                  <a:lnTo>
                    <a:pt x="0" y="85502"/>
                  </a:lnTo>
                  <a:lnTo>
                    <a:pt x="586" y="79551"/>
                  </a:lnTo>
                  <a:lnTo>
                    <a:pt x="1758" y="73657"/>
                  </a:lnTo>
                  <a:lnTo>
                    <a:pt x="2930" y="67764"/>
                  </a:lnTo>
                  <a:lnTo>
                    <a:pt x="4666" y="62042"/>
                  </a:lnTo>
                  <a:lnTo>
                    <a:pt x="6965" y="56490"/>
                  </a:lnTo>
                  <a:lnTo>
                    <a:pt x="9264" y="50939"/>
                  </a:lnTo>
                  <a:lnTo>
                    <a:pt x="12083" y="45665"/>
                  </a:lnTo>
                  <a:lnTo>
                    <a:pt x="15421" y="40669"/>
                  </a:lnTo>
                  <a:lnTo>
                    <a:pt x="18759" y="35673"/>
                  </a:lnTo>
                  <a:lnTo>
                    <a:pt x="22553" y="31051"/>
                  </a:lnTo>
                  <a:lnTo>
                    <a:pt x="26802" y="26802"/>
                  </a:lnTo>
                  <a:lnTo>
                    <a:pt x="31051" y="22553"/>
                  </a:lnTo>
                  <a:lnTo>
                    <a:pt x="35673" y="18760"/>
                  </a:lnTo>
                  <a:lnTo>
                    <a:pt x="40669" y="15422"/>
                  </a:lnTo>
                  <a:lnTo>
                    <a:pt x="45666" y="12083"/>
                  </a:lnTo>
                  <a:lnTo>
                    <a:pt x="73657" y="1758"/>
                  </a:lnTo>
                  <a:lnTo>
                    <a:pt x="79551" y="586"/>
                  </a:lnTo>
                  <a:lnTo>
                    <a:pt x="85502" y="0"/>
                  </a:lnTo>
                  <a:lnTo>
                    <a:pt x="91510" y="0"/>
                  </a:lnTo>
                  <a:lnTo>
                    <a:pt x="4948159" y="0"/>
                  </a:lnTo>
                  <a:lnTo>
                    <a:pt x="4954168" y="0"/>
                  </a:lnTo>
                  <a:lnTo>
                    <a:pt x="4960118" y="586"/>
                  </a:lnTo>
                  <a:lnTo>
                    <a:pt x="4998999" y="15422"/>
                  </a:lnTo>
                  <a:lnTo>
                    <a:pt x="5003994" y="18760"/>
                  </a:lnTo>
                  <a:lnTo>
                    <a:pt x="5024245" y="40669"/>
                  </a:lnTo>
                  <a:lnTo>
                    <a:pt x="5027584" y="45665"/>
                  </a:lnTo>
                  <a:lnTo>
                    <a:pt x="5030402" y="50939"/>
                  </a:lnTo>
                  <a:lnTo>
                    <a:pt x="5032702" y="56490"/>
                  </a:lnTo>
                  <a:lnTo>
                    <a:pt x="5035002" y="62042"/>
                  </a:lnTo>
                  <a:lnTo>
                    <a:pt x="5036738" y="67764"/>
                  </a:lnTo>
                  <a:lnTo>
                    <a:pt x="5037910" y="73657"/>
                  </a:lnTo>
                  <a:lnTo>
                    <a:pt x="5039082" y="79551"/>
                  </a:lnTo>
                  <a:lnTo>
                    <a:pt x="5039669" y="85502"/>
                  </a:lnTo>
                  <a:lnTo>
                    <a:pt x="5039670" y="91510"/>
                  </a:lnTo>
                  <a:lnTo>
                    <a:pt x="5039670" y="2853015"/>
                  </a:lnTo>
                  <a:lnTo>
                    <a:pt x="5032702" y="2888035"/>
                  </a:lnTo>
                  <a:lnTo>
                    <a:pt x="5030402" y="2893586"/>
                  </a:lnTo>
                  <a:lnTo>
                    <a:pt x="5027584" y="2898859"/>
                  </a:lnTo>
                  <a:lnTo>
                    <a:pt x="5024245" y="2903855"/>
                  </a:lnTo>
                  <a:lnTo>
                    <a:pt x="5020908" y="2908851"/>
                  </a:lnTo>
                  <a:lnTo>
                    <a:pt x="4988729" y="2935260"/>
                  </a:lnTo>
                  <a:lnTo>
                    <a:pt x="4948159" y="2944526"/>
                  </a:lnTo>
                  <a:lnTo>
                    <a:pt x="91510" y="2944526"/>
                  </a:lnTo>
                  <a:lnTo>
                    <a:pt x="50939" y="2935260"/>
                  </a:lnTo>
                  <a:lnTo>
                    <a:pt x="18759" y="2908851"/>
                  </a:lnTo>
                  <a:lnTo>
                    <a:pt x="15421" y="2903855"/>
                  </a:lnTo>
                  <a:lnTo>
                    <a:pt x="12083" y="2898859"/>
                  </a:lnTo>
                  <a:lnTo>
                    <a:pt x="9264" y="2893586"/>
                  </a:lnTo>
                  <a:lnTo>
                    <a:pt x="6965" y="2888035"/>
                  </a:lnTo>
                  <a:lnTo>
                    <a:pt x="4666" y="2882484"/>
                  </a:lnTo>
                  <a:lnTo>
                    <a:pt x="2930" y="2876761"/>
                  </a:lnTo>
                  <a:lnTo>
                    <a:pt x="1758" y="2870868"/>
                  </a:lnTo>
                  <a:lnTo>
                    <a:pt x="586" y="2864974"/>
                  </a:lnTo>
                  <a:lnTo>
                    <a:pt x="0" y="2859023"/>
                  </a:lnTo>
                  <a:lnTo>
                    <a:pt x="0" y="2853015"/>
                  </a:lnTo>
                  <a:close/>
                </a:path>
              </a:pathLst>
            </a:custGeom>
            <a:ln w="8089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57929" y="2256942"/>
              <a:ext cx="5031740" cy="1464310"/>
            </a:xfrm>
            <a:custGeom>
              <a:avLst/>
              <a:gdLst/>
              <a:ahLst/>
              <a:cxnLst/>
              <a:rect l="l" t="t" r="r" b="b"/>
              <a:pathLst>
                <a:path w="5031740" h="1464310">
                  <a:moveTo>
                    <a:pt x="5031575" y="89281"/>
                  </a:moveTo>
                  <a:lnTo>
                    <a:pt x="5018951" y="47675"/>
                  </a:lnTo>
                  <a:lnTo>
                    <a:pt x="4983886" y="12611"/>
                  </a:lnTo>
                  <a:lnTo>
                    <a:pt x="4942294" y="0"/>
                  </a:lnTo>
                  <a:lnTo>
                    <a:pt x="89281" y="0"/>
                  </a:lnTo>
                  <a:lnTo>
                    <a:pt x="47675" y="12611"/>
                  </a:lnTo>
                  <a:lnTo>
                    <a:pt x="12611" y="47675"/>
                  </a:lnTo>
                  <a:lnTo>
                    <a:pt x="0" y="89281"/>
                  </a:lnTo>
                  <a:lnTo>
                    <a:pt x="0" y="728040"/>
                  </a:lnTo>
                  <a:lnTo>
                    <a:pt x="0" y="1464170"/>
                  </a:lnTo>
                  <a:lnTo>
                    <a:pt x="5031575" y="1464170"/>
                  </a:lnTo>
                  <a:lnTo>
                    <a:pt x="5031575" y="728040"/>
                  </a:lnTo>
                  <a:lnTo>
                    <a:pt x="5031575" y="892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57929" y="2984973"/>
              <a:ext cx="5031740" cy="16510"/>
            </a:xfrm>
            <a:custGeom>
              <a:avLst/>
              <a:gdLst/>
              <a:ahLst/>
              <a:cxnLst/>
              <a:rect l="l" t="t" r="r" b="b"/>
              <a:pathLst>
                <a:path w="5031740" h="16510">
                  <a:moveTo>
                    <a:pt x="5025725" y="16178"/>
                  </a:moveTo>
                  <a:lnTo>
                    <a:pt x="5855" y="16178"/>
                  </a:lnTo>
                  <a:lnTo>
                    <a:pt x="3948" y="15388"/>
                  </a:lnTo>
                  <a:lnTo>
                    <a:pt x="790" y="12229"/>
                  </a:lnTo>
                  <a:lnTo>
                    <a:pt x="0" y="10322"/>
                  </a:lnTo>
                  <a:lnTo>
                    <a:pt x="0" y="8089"/>
                  </a:lnTo>
                  <a:lnTo>
                    <a:pt x="0" y="5855"/>
                  </a:lnTo>
                  <a:lnTo>
                    <a:pt x="790" y="3948"/>
                  </a:lnTo>
                  <a:lnTo>
                    <a:pt x="3948" y="789"/>
                  </a:lnTo>
                  <a:lnTo>
                    <a:pt x="5855" y="0"/>
                  </a:lnTo>
                  <a:lnTo>
                    <a:pt x="5025725" y="0"/>
                  </a:lnTo>
                  <a:lnTo>
                    <a:pt x="5027632" y="789"/>
                  </a:lnTo>
                  <a:lnTo>
                    <a:pt x="5030790" y="3948"/>
                  </a:lnTo>
                  <a:lnTo>
                    <a:pt x="5031580" y="5855"/>
                  </a:lnTo>
                  <a:lnTo>
                    <a:pt x="5031580" y="10322"/>
                  </a:lnTo>
                  <a:lnTo>
                    <a:pt x="5030790" y="12229"/>
                  </a:lnTo>
                  <a:lnTo>
                    <a:pt x="5027632" y="15388"/>
                  </a:lnTo>
                  <a:lnTo>
                    <a:pt x="5025725" y="16178"/>
                  </a:lnTo>
                  <a:close/>
                </a:path>
              </a:pathLst>
            </a:custGeom>
            <a:solidFill>
              <a:srgbClr val="E45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57930" y="3721104"/>
              <a:ext cx="5031740" cy="736600"/>
            </a:xfrm>
            <a:custGeom>
              <a:avLst/>
              <a:gdLst/>
              <a:ahLst/>
              <a:cxnLst/>
              <a:rect l="l" t="t" r="r" b="b"/>
              <a:pathLst>
                <a:path w="5031740" h="736600">
                  <a:moveTo>
                    <a:pt x="5031580" y="736131"/>
                  </a:moveTo>
                  <a:lnTo>
                    <a:pt x="0" y="736131"/>
                  </a:lnTo>
                  <a:lnTo>
                    <a:pt x="0" y="0"/>
                  </a:lnTo>
                  <a:lnTo>
                    <a:pt x="5031580" y="0"/>
                  </a:lnTo>
                  <a:lnTo>
                    <a:pt x="5031580" y="7361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57929" y="3721104"/>
              <a:ext cx="5031740" cy="16510"/>
            </a:xfrm>
            <a:custGeom>
              <a:avLst/>
              <a:gdLst/>
              <a:ahLst/>
              <a:cxnLst/>
              <a:rect l="l" t="t" r="r" b="b"/>
              <a:pathLst>
                <a:path w="5031740" h="16510">
                  <a:moveTo>
                    <a:pt x="5025725" y="16178"/>
                  </a:moveTo>
                  <a:lnTo>
                    <a:pt x="5855" y="16178"/>
                  </a:lnTo>
                  <a:lnTo>
                    <a:pt x="3948" y="15388"/>
                  </a:lnTo>
                  <a:lnTo>
                    <a:pt x="790" y="12229"/>
                  </a:lnTo>
                  <a:lnTo>
                    <a:pt x="0" y="10322"/>
                  </a:lnTo>
                  <a:lnTo>
                    <a:pt x="0" y="8089"/>
                  </a:lnTo>
                  <a:lnTo>
                    <a:pt x="0" y="5855"/>
                  </a:lnTo>
                  <a:lnTo>
                    <a:pt x="790" y="3948"/>
                  </a:lnTo>
                  <a:lnTo>
                    <a:pt x="3948" y="789"/>
                  </a:lnTo>
                  <a:lnTo>
                    <a:pt x="5855" y="0"/>
                  </a:lnTo>
                  <a:lnTo>
                    <a:pt x="5025725" y="0"/>
                  </a:lnTo>
                  <a:lnTo>
                    <a:pt x="5027632" y="789"/>
                  </a:lnTo>
                  <a:lnTo>
                    <a:pt x="5030790" y="3948"/>
                  </a:lnTo>
                  <a:lnTo>
                    <a:pt x="5031580" y="5855"/>
                  </a:lnTo>
                  <a:lnTo>
                    <a:pt x="5031580" y="10322"/>
                  </a:lnTo>
                  <a:lnTo>
                    <a:pt x="5030790" y="12229"/>
                  </a:lnTo>
                  <a:lnTo>
                    <a:pt x="5027632" y="15388"/>
                  </a:lnTo>
                  <a:lnTo>
                    <a:pt x="5025725" y="16178"/>
                  </a:lnTo>
                  <a:close/>
                </a:path>
              </a:pathLst>
            </a:custGeom>
            <a:solidFill>
              <a:srgbClr val="E45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57930" y="4457236"/>
              <a:ext cx="5031740" cy="736600"/>
            </a:xfrm>
            <a:custGeom>
              <a:avLst/>
              <a:gdLst/>
              <a:ahLst/>
              <a:cxnLst/>
              <a:rect l="l" t="t" r="r" b="b"/>
              <a:pathLst>
                <a:path w="5031740" h="736600">
                  <a:moveTo>
                    <a:pt x="4942299" y="736131"/>
                  </a:moveTo>
                  <a:lnTo>
                    <a:pt x="89281" y="736131"/>
                  </a:lnTo>
                  <a:lnTo>
                    <a:pt x="83067" y="735518"/>
                  </a:lnTo>
                  <a:lnTo>
                    <a:pt x="37250" y="716541"/>
                  </a:lnTo>
                  <a:lnTo>
                    <a:pt x="9674" y="682939"/>
                  </a:lnTo>
                  <a:lnTo>
                    <a:pt x="0" y="646849"/>
                  </a:lnTo>
                  <a:lnTo>
                    <a:pt x="0" y="640576"/>
                  </a:lnTo>
                  <a:lnTo>
                    <a:pt x="0" y="0"/>
                  </a:lnTo>
                  <a:lnTo>
                    <a:pt x="5031580" y="0"/>
                  </a:lnTo>
                  <a:lnTo>
                    <a:pt x="5031579" y="646849"/>
                  </a:lnTo>
                  <a:lnTo>
                    <a:pt x="5018960" y="688446"/>
                  </a:lnTo>
                  <a:lnTo>
                    <a:pt x="4983894" y="723512"/>
                  </a:lnTo>
                  <a:lnTo>
                    <a:pt x="4948513" y="735518"/>
                  </a:lnTo>
                  <a:lnTo>
                    <a:pt x="4942299" y="7361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57929" y="4457236"/>
              <a:ext cx="5031740" cy="16510"/>
            </a:xfrm>
            <a:custGeom>
              <a:avLst/>
              <a:gdLst/>
              <a:ahLst/>
              <a:cxnLst/>
              <a:rect l="l" t="t" r="r" b="b"/>
              <a:pathLst>
                <a:path w="5031740" h="16510">
                  <a:moveTo>
                    <a:pt x="5025725" y="16178"/>
                  </a:moveTo>
                  <a:lnTo>
                    <a:pt x="5855" y="16178"/>
                  </a:lnTo>
                  <a:lnTo>
                    <a:pt x="3948" y="15388"/>
                  </a:lnTo>
                  <a:lnTo>
                    <a:pt x="790" y="12229"/>
                  </a:lnTo>
                  <a:lnTo>
                    <a:pt x="0" y="10322"/>
                  </a:lnTo>
                  <a:lnTo>
                    <a:pt x="0" y="8089"/>
                  </a:lnTo>
                  <a:lnTo>
                    <a:pt x="0" y="5855"/>
                  </a:lnTo>
                  <a:lnTo>
                    <a:pt x="790" y="3948"/>
                  </a:lnTo>
                  <a:lnTo>
                    <a:pt x="3948" y="789"/>
                  </a:lnTo>
                  <a:lnTo>
                    <a:pt x="5855" y="0"/>
                  </a:lnTo>
                  <a:lnTo>
                    <a:pt x="5025725" y="0"/>
                  </a:lnTo>
                  <a:lnTo>
                    <a:pt x="5027632" y="789"/>
                  </a:lnTo>
                  <a:lnTo>
                    <a:pt x="5030790" y="3948"/>
                  </a:lnTo>
                  <a:lnTo>
                    <a:pt x="5031580" y="5855"/>
                  </a:lnTo>
                  <a:lnTo>
                    <a:pt x="5031580" y="10322"/>
                  </a:lnTo>
                  <a:lnTo>
                    <a:pt x="5030790" y="12229"/>
                  </a:lnTo>
                  <a:lnTo>
                    <a:pt x="5027632" y="15388"/>
                  </a:lnTo>
                  <a:lnTo>
                    <a:pt x="5025725" y="16178"/>
                  </a:lnTo>
                  <a:close/>
                </a:path>
              </a:pathLst>
            </a:custGeom>
            <a:solidFill>
              <a:srgbClr val="E456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149840" y="906482"/>
            <a:ext cx="5022215" cy="420397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73660">
              <a:lnSpc>
                <a:spcPct val="135400"/>
              </a:lnSpc>
              <a:spcBef>
                <a:spcPts val="130"/>
              </a:spcBef>
            </a:pPr>
            <a:r>
              <a:rPr sz="100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This</a:t>
            </a:r>
            <a:r>
              <a:rPr sz="100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project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demonstrates</a:t>
            </a:r>
            <a:r>
              <a:rPr sz="100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how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114" dirty="0">
                <a:solidFill>
                  <a:srgbClr val="545759"/>
                </a:solidFill>
                <a:latin typeface="Arial Black"/>
                <a:cs typeface="Arial Black"/>
              </a:rPr>
              <a:t>AI</a:t>
            </a:r>
            <a:r>
              <a:rPr sz="1000" spc="-9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000" spc="-80" dirty="0">
                <a:solidFill>
                  <a:srgbClr val="545759"/>
                </a:solidFill>
                <a:latin typeface="Arial Black"/>
                <a:cs typeface="Arial Black"/>
              </a:rPr>
              <a:t>can</a:t>
            </a:r>
            <a:r>
              <a:rPr sz="1000" spc="-9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000" spc="-105" dirty="0">
                <a:solidFill>
                  <a:srgbClr val="545759"/>
                </a:solidFill>
                <a:latin typeface="Arial Black"/>
                <a:cs typeface="Arial Black"/>
              </a:rPr>
              <a:t>make</a:t>
            </a:r>
            <a:r>
              <a:rPr sz="1000" spc="-9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000" spc="-100" dirty="0">
                <a:solidFill>
                  <a:srgbClr val="545759"/>
                </a:solidFill>
                <a:latin typeface="Arial Black"/>
                <a:cs typeface="Arial Black"/>
              </a:rPr>
              <a:t>waste</a:t>
            </a:r>
            <a:r>
              <a:rPr sz="1000" spc="-9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000" spc="-75" dirty="0">
                <a:solidFill>
                  <a:srgbClr val="545759"/>
                </a:solidFill>
                <a:latin typeface="Arial Black"/>
                <a:cs typeface="Arial Black"/>
              </a:rPr>
              <a:t>management</a:t>
            </a:r>
            <a:r>
              <a:rPr sz="1000" spc="-9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000" spc="-75" dirty="0">
                <a:solidFill>
                  <a:srgbClr val="545759"/>
                </a:solidFill>
                <a:latin typeface="Arial Black"/>
                <a:cs typeface="Arial Black"/>
              </a:rPr>
              <a:t>smarter</a:t>
            </a:r>
            <a:r>
              <a:rPr sz="1000" spc="-9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000" spc="-70" dirty="0">
                <a:solidFill>
                  <a:srgbClr val="545759"/>
                </a:solidFill>
                <a:latin typeface="Arial Black"/>
                <a:cs typeface="Arial Black"/>
              </a:rPr>
              <a:t>and</a:t>
            </a:r>
            <a:r>
              <a:rPr sz="1000" spc="-9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000" spc="-25" dirty="0">
                <a:solidFill>
                  <a:srgbClr val="545759"/>
                </a:solidFill>
                <a:latin typeface="Arial Black"/>
                <a:cs typeface="Arial Black"/>
              </a:rPr>
              <a:t>more </a:t>
            </a:r>
            <a:r>
              <a:rPr sz="1000" spc="-55" dirty="0">
                <a:solidFill>
                  <a:srgbClr val="545759"/>
                </a:solidFill>
                <a:latin typeface="Arial Black"/>
                <a:cs typeface="Arial Black"/>
              </a:rPr>
              <a:t>efficient</a:t>
            </a:r>
            <a:r>
              <a:rPr sz="100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.</a:t>
            </a:r>
            <a:r>
              <a:rPr sz="100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545759"/>
                </a:solidFill>
                <a:latin typeface="Lucida Sans Unicode"/>
                <a:cs typeface="Lucida Sans Unicode"/>
              </a:rPr>
              <a:t>By</a:t>
            </a:r>
            <a:r>
              <a:rPr sz="100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predicting</a:t>
            </a:r>
            <a:r>
              <a:rPr sz="100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fill</a:t>
            </a:r>
            <a:r>
              <a:rPr sz="1000" spc="-6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levels</a:t>
            </a:r>
            <a:r>
              <a:rPr sz="100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and</a:t>
            </a:r>
            <a:r>
              <a:rPr sz="100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dynamically</a:t>
            </a:r>
            <a:r>
              <a:rPr sz="1000" spc="-6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optimising</a:t>
            </a:r>
            <a:r>
              <a:rPr sz="100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collection</a:t>
            </a:r>
            <a:r>
              <a:rPr sz="100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routes,</a:t>
            </a:r>
            <a:r>
              <a:rPr sz="1000" spc="-6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the system</a:t>
            </a:r>
            <a:r>
              <a:rPr sz="100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reduces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overflow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and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improves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overall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urban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cleanliness.</a:t>
            </a:r>
            <a:endParaRPr sz="10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32700"/>
              </a:lnSpc>
              <a:spcBef>
                <a:spcPts val="1145"/>
              </a:spcBef>
            </a:pPr>
            <a:r>
              <a:rPr sz="100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While</a:t>
            </a:r>
            <a:r>
              <a:rPr sz="100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still</a:t>
            </a:r>
            <a:r>
              <a:rPr sz="100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545759"/>
                </a:solidFill>
                <a:latin typeface="Lucida Sans Unicode"/>
                <a:cs typeface="Lucida Sans Unicode"/>
              </a:rPr>
              <a:t>a</a:t>
            </a:r>
            <a:r>
              <a:rPr sz="100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prototype</a:t>
            </a:r>
            <a:r>
              <a:rPr sz="100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using</a:t>
            </a:r>
            <a:r>
              <a:rPr sz="100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simulated</a:t>
            </a:r>
            <a:r>
              <a:rPr sz="100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data,</a:t>
            </a:r>
            <a:r>
              <a:rPr sz="100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it</a:t>
            </a:r>
            <a:r>
              <a:rPr sz="100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provides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dirty="0">
                <a:solidFill>
                  <a:srgbClr val="545759"/>
                </a:solidFill>
                <a:latin typeface="Lucida Sans Unicode"/>
                <a:cs typeface="Lucida Sans Unicode"/>
              </a:rPr>
              <a:t>a</a:t>
            </a:r>
            <a:r>
              <a:rPr sz="100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65" dirty="0">
                <a:solidFill>
                  <a:srgbClr val="545759"/>
                </a:solidFill>
                <a:latin typeface="Arial Black"/>
                <a:cs typeface="Arial Black"/>
              </a:rPr>
              <a:t>solid</a:t>
            </a:r>
            <a:r>
              <a:rPr sz="1000" spc="-9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000" spc="-55" dirty="0">
                <a:solidFill>
                  <a:srgbClr val="545759"/>
                </a:solidFill>
                <a:latin typeface="Arial Black"/>
                <a:cs typeface="Arial Black"/>
              </a:rPr>
              <a:t>foundation</a:t>
            </a:r>
            <a:r>
              <a:rPr sz="1000" spc="-9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00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for</a:t>
            </a:r>
            <a:r>
              <a:rPr sz="1000" spc="-8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building </a:t>
            </a:r>
            <a:r>
              <a:rPr sz="100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advanced,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practical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smart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city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solutions.</a:t>
            </a:r>
            <a:endParaRPr sz="10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000" dirty="0">
              <a:latin typeface="Lucida Sans Unicode"/>
              <a:cs typeface="Lucida Sans Unicode"/>
            </a:endParaRPr>
          </a:p>
          <a:p>
            <a:pPr marL="147955">
              <a:lnSpc>
                <a:spcPct val="100000"/>
              </a:lnSpc>
            </a:pPr>
            <a:r>
              <a:rPr sz="1250" spc="-10" dirty="0">
                <a:solidFill>
                  <a:srgbClr val="545759"/>
                </a:solidFill>
                <a:latin typeface="Verdana"/>
                <a:cs typeface="Verdana"/>
              </a:rPr>
              <a:t>Predict</a:t>
            </a:r>
            <a:endParaRPr sz="1250" dirty="0">
              <a:latin typeface="Verdana"/>
              <a:cs typeface="Verdana"/>
            </a:endParaRPr>
          </a:p>
          <a:p>
            <a:pPr marL="147955">
              <a:lnSpc>
                <a:spcPct val="100000"/>
              </a:lnSpc>
              <a:spcBef>
                <a:spcPts val="915"/>
              </a:spcBef>
            </a:pPr>
            <a:r>
              <a:rPr sz="100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Anticipate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bin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fill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levels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before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overflow</a:t>
            </a:r>
            <a:endParaRPr sz="10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000" dirty="0">
              <a:latin typeface="Lucida Sans Unicode"/>
              <a:cs typeface="Lucida Sans Unicode"/>
            </a:endParaRPr>
          </a:p>
          <a:p>
            <a:pPr marL="147955">
              <a:lnSpc>
                <a:spcPct val="100000"/>
              </a:lnSpc>
            </a:pPr>
            <a:r>
              <a:rPr sz="1250" spc="-10" dirty="0">
                <a:solidFill>
                  <a:srgbClr val="545759"/>
                </a:solidFill>
                <a:latin typeface="Verdana"/>
                <a:cs typeface="Verdana"/>
              </a:rPr>
              <a:t>Prioritise</a:t>
            </a:r>
            <a:endParaRPr sz="1250" dirty="0">
              <a:latin typeface="Verdana"/>
              <a:cs typeface="Verdana"/>
            </a:endParaRPr>
          </a:p>
          <a:p>
            <a:pPr marL="147955">
              <a:lnSpc>
                <a:spcPct val="100000"/>
              </a:lnSpc>
              <a:spcBef>
                <a:spcPts val="850"/>
              </a:spcBef>
            </a:pPr>
            <a:r>
              <a:rPr sz="1000" spc="-40" dirty="0">
                <a:solidFill>
                  <a:srgbClr val="545759"/>
                </a:solidFill>
                <a:latin typeface="Lucida Sans Unicode"/>
                <a:cs typeface="Lucida Sans Unicode"/>
              </a:rPr>
              <a:t>Rank</a:t>
            </a:r>
            <a:r>
              <a:rPr sz="100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bins</a:t>
            </a:r>
            <a:r>
              <a:rPr sz="100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using</a:t>
            </a:r>
            <a:r>
              <a:rPr sz="100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AI</a:t>
            </a:r>
            <a:r>
              <a:rPr sz="100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and</a:t>
            </a:r>
            <a:r>
              <a:rPr sz="100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5" dirty="0">
                <a:solidFill>
                  <a:srgbClr val="545759"/>
                </a:solidFill>
                <a:latin typeface="Lucida Sans Unicode"/>
                <a:cs typeface="Lucida Sans Unicode"/>
              </a:rPr>
              <a:t>citizen</a:t>
            </a:r>
            <a:r>
              <a:rPr sz="100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input</a:t>
            </a:r>
            <a:endParaRPr sz="10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000" dirty="0">
              <a:latin typeface="Lucida Sans Unicode"/>
              <a:cs typeface="Lucida Sans Unicode"/>
            </a:endParaRPr>
          </a:p>
          <a:p>
            <a:pPr marL="147955">
              <a:lnSpc>
                <a:spcPct val="100000"/>
              </a:lnSpc>
            </a:pPr>
            <a:r>
              <a:rPr sz="1250" spc="-10" dirty="0">
                <a:solidFill>
                  <a:srgbClr val="545759"/>
                </a:solidFill>
                <a:latin typeface="Verdana"/>
                <a:cs typeface="Verdana"/>
              </a:rPr>
              <a:t>Optimise</a:t>
            </a:r>
            <a:endParaRPr sz="1250" dirty="0">
              <a:latin typeface="Verdana"/>
              <a:cs typeface="Verdana"/>
            </a:endParaRPr>
          </a:p>
          <a:p>
            <a:pPr marL="147955">
              <a:lnSpc>
                <a:spcPct val="100000"/>
              </a:lnSpc>
              <a:spcBef>
                <a:spcPts val="850"/>
              </a:spcBef>
            </a:pPr>
            <a:r>
              <a:rPr sz="100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Route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collection</a:t>
            </a:r>
            <a:r>
              <a:rPr sz="100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vehicles</a:t>
            </a:r>
            <a:r>
              <a:rPr sz="1000" spc="-7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efficiently</a:t>
            </a:r>
            <a:endParaRPr sz="10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000" dirty="0">
              <a:latin typeface="Lucida Sans Unicode"/>
              <a:cs typeface="Lucida Sans Unicode"/>
            </a:endParaRPr>
          </a:p>
          <a:p>
            <a:pPr marL="147955">
              <a:lnSpc>
                <a:spcPct val="100000"/>
              </a:lnSpc>
            </a:pPr>
            <a:endParaRPr lang="en-IN" sz="1250" spc="-10" dirty="0">
              <a:solidFill>
                <a:srgbClr val="545759"/>
              </a:solidFill>
              <a:latin typeface="Verdana"/>
              <a:cs typeface="Verdana"/>
            </a:endParaRPr>
          </a:p>
          <a:p>
            <a:pPr marL="147955">
              <a:lnSpc>
                <a:spcPct val="100000"/>
              </a:lnSpc>
            </a:pPr>
            <a:r>
              <a:rPr sz="1250" spc="-10" dirty="0">
                <a:solidFill>
                  <a:srgbClr val="545759"/>
                </a:solidFill>
                <a:latin typeface="Verdana"/>
                <a:cs typeface="Verdana"/>
              </a:rPr>
              <a:t>Scale</a:t>
            </a:r>
            <a:endParaRPr sz="1250" dirty="0">
              <a:latin typeface="Verdana"/>
              <a:cs typeface="Verdana"/>
            </a:endParaRPr>
          </a:p>
          <a:p>
            <a:pPr marL="147955">
              <a:lnSpc>
                <a:spcPct val="100000"/>
              </a:lnSpc>
              <a:spcBef>
                <a:spcPts val="850"/>
              </a:spcBef>
            </a:pPr>
            <a:r>
              <a:rPr sz="100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Expand</a:t>
            </a:r>
            <a:r>
              <a:rPr sz="100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545759"/>
                </a:solidFill>
                <a:latin typeface="Lucida Sans Unicode"/>
                <a:cs typeface="Lucida Sans Unicode"/>
              </a:rPr>
              <a:t>to</a:t>
            </a:r>
            <a:r>
              <a:rPr sz="100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45" dirty="0">
                <a:solidFill>
                  <a:srgbClr val="545759"/>
                </a:solidFill>
                <a:latin typeface="Lucida Sans Unicode"/>
                <a:cs typeface="Lucida Sans Unicode"/>
              </a:rPr>
              <a:t>full</a:t>
            </a:r>
            <a:r>
              <a:rPr sz="100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smart</a:t>
            </a:r>
            <a:r>
              <a:rPr sz="1000" spc="-9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city</a:t>
            </a:r>
            <a:r>
              <a:rPr sz="1000" spc="-9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000" spc="-10" dirty="0">
                <a:solidFill>
                  <a:srgbClr val="545759"/>
                </a:solidFill>
                <a:latin typeface="Lucida Sans Unicode"/>
                <a:cs typeface="Lucida Sans Unicode"/>
              </a:rPr>
              <a:t>deployment</a:t>
            </a:r>
            <a:endParaRPr sz="1000" dirty="0">
              <a:latin typeface="Lucida Sans Unicode"/>
              <a:cs typeface="Lucida Sans Unicod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149840" y="5338976"/>
            <a:ext cx="5048250" cy="744220"/>
            <a:chOff x="4149840" y="5338976"/>
            <a:chExt cx="5048250" cy="744220"/>
          </a:xfrm>
        </p:grpSpPr>
        <p:sp>
          <p:nvSpPr>
            <p:cNvPr id="28" name="object 28"/>
            <p:cNvSpPr/>
            <p:nvPr/>
          </p:nvSpPr>
          <p:spPr>
            <a:xfrm>
              <a:off x="4149840" y="5338976"/>
              <a:ext cx="5048250" cy="744220"/>
            </a:xfrm>
            <a:custGeom>
              <a:avLst/>
              <a:gdLst/>
              <a:ahLst/>
              <a:cxnLst/>
              <a:rect l="l" t="t" r="r" b="b"/>
              <a:pathLst>
                <a:path w="5048250" h="744220">
                  <a:moveTo>
                    <a:pt x="4958477" y="744220"/>
                  </a:moveTo>
                  <a:lnTo>
                    <a:pt x="89281" y="744220"/>
                  </a:lnTo>
                  <a:lnTo>
                    <a:pt x="83067" y="743608"/>
                  </a:lnTo>
                  <a:lnTo>
                    <a:pt x="37250" y="724631"/>
                  </a:lnTo>
                  <a:lnTo>
                    <a:pt x="9674" y="691028"/>
                  </a:lnTo>
                  <a:lnTo>
                    <a:pt x="0" y="654939"/>
                  </a:lnTo>
                  <a:lnTo>
                    <a:pt x="0" y="648665"/>
                  </a:lnTo>
                  <a:lnTo>
                    <a:pt x="0" y="89281"/>
                  </a:lnTo>
                  <a:lnTo>
                    <a:pt x="12617" y="47683"/>
                  </a:lnTo>
                  <a:lnTo>
                    <a:pt x="47683" y="12617"/>
                  </a:lnTo>
                  <a:lnTo>
                    <a:pt x="89281" y="0"/>
                  </a:lnTo>
                  <a:lnTo>
                    <a:pt x="4958477" y="0"/>
                  </a:lnTo>
                  <a:lnTo>
                    <a:pt x="5000073" y="12617"/>
                  </a:lnTo>
                  <a:lnTo>
                    <a:pt x="5035140" y="47683"/>
                  </a:lnTo>
                  <a:lnTo>
                    <a:pt x="5047759" y="89281"/>
                  </a:lnTo>
                  <a:lnTo>
                    <a:pt x="5047759" y="654939"/>
                  </a:lnTo>
                  <a:lnTo>
                    <a:pt x="5035140" y="696535"/>
                  </a:lnTo>
                  <a:lnTo>
                    <a:pt x="5000073" y="731602"/>
                  </a:lnTo>
                  <a:lnTo>
                    <a:pt x="4964691" y="743608"/>
                  </a:lnTo>
                  <a:lnTo>
                    <a:pt x="4958477" y="744220"/>
                  </a:lnTo>
                  <a:close/>
                </a:path>
              </a:pathLst>
            </a:custGeom>
            <a:solidFill>
              <a:srgbClr val="B5FB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5196" y="5533121"/>
              <a:ext cx="127407" cy="12740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4551214" y="5456919"/>
            <a:ext cx="3923029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100"/>
              </a:spcBef>
            </a:pPr>
            <a:r>
              <a:rPr sz="1000" spc="-35" dirty="0">
                <a:latin typeface="Lucida Sans Unicode"/>
                <a:cs typeface="Lucida Sans Unicode"/>
              </a:rPr>
              <a:t>Keywords: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Lucida Sans Unicode"/>
                <a:cs typeface="Lucida Sans Unicode"/>
              </a:rPr>
              <a:t>Smart</a:t>
            </a:r>
            <a:r>
              <a:rPr sz="1000" spc="-65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Waste</a:t>
            </a:r>
            <a:r>
              <a:rPr sz="1000" spc="-65" dirty="0">
                <a:latin typeface="Lucida Sans Unicode"/>
                <a:cs typeface="Lucida Sans Unicode"/>
              </a:rPr>
              <a:t> </a:t>
            </a:r>
            <a:r>
              <a:rPr sz="1000" spc="-25" dirty="0">
                <a:latin typeface="Lucida Sans Unicode"/>
                <a:cs typeface="Lucida Sans Unicode"/>
              </a:rPr>
              <a:t>Management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1000" spc="-415" dirty="0">
                <a:latin typeface="Lucida Sans Unicode"/>
                <a:cs typeface="Lucida Sans Unicode"/>
              </a:rPr>
              <a:t>·</a:t>
            </a:r>
            <a:r>
              <a:rPr sz="1000" spc="-65" dirty="0">
                <a:latin typeface="Lucida Sans Unicode"/>
                <a:cs typeface="Lucida Sans Unicode"/>
              </a:rPr>
              <a:t> </a:t>
            </a:r>
            <a:r>
              <a:rPr sz="1000" spc="-35" dirty="0">
                <a:latin typeface="Lucida Sans Unicode"/>
                <a:cs typeface="Lucida Sans Unicode"/>
              </a:rPr>
              <a:t>Artificial</a:t>
            </a:r>
            <a:r>
              <a:rPr sz="1000" spc="-65" dirty="0">
                <a:latin typeface="Lucida Sans Unicode"/>
                <a:cs typeface="Lucida Sans Unicode"/>
              </a:rPr>
              <a:t> </a:t>
            </a:r>
            <a:r>
              <a:rPr sz="1000" spc="-30" dirty="0">
                <a:latin typeface="Lucida Sans Unicode"/>
                <a:cs typeface="Lucida Sans Unicode"/>
              </a:rPr>
              <a:t>Intelligence</a:t>
            </a:r>
            <a:r>
              <a:rPr sz="1000" spc="-70" dirty="0">
                <a:latin typeface="Lucida Sans Unicode"/>
                <a:cs typeface="Lucida Sans Unicode"/>
              </a:rPr>
              <a:t> </a:t>
            </a:r>
            <a:r>
              <a:rPr sz="1000" spc="-415" dirty="0">
                <a:latin typeface="Lucida Sans Unicode"/>
                <a:cs typeface="Lucida Sans Unicode"/>
              </a:rPr>
              <a:t>·</a:t>
            </a:r>
            <a:r>
              <a:rPr sz="1000" spc="-65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Lucida Sans Unicode"/>
                <a:cs typeface="Lucida Sans Unicode"/>
              </a:rPr>
              <a:t>Route </a:t>
            </a:r>
            <a:r>
              <a:rPr sz="1000" spc="-35" dirty="0">
                <a:latin typeface="Lucida Sans Unicode"/>
                <a:cs typeface="Lucida Sans Unicode"/>
              </a:rPr>
              <a:t>Optimisation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spc="-415" dirty="0">
                <a:latin typeface="Lucida Sans Unicode"/>
                <a:cs typeface="Lucida Sans Unicode"/>
              </a:rPr>
              <a:t>·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Lucida Sans Unicode"/>
                <a:cs typeface="Lucida Sans Unicode"/>
              </a:rPr>
              <a:t>Predictive</a:t>
            </a:r>
            <a:r>
              <a:rPr sz="1000" spc="-90" dirty="0">
                <a:latin typeface="Lucida Sans Unicode"/>
                <a:cs typeface="Lucida Sans Unicode"/>
              </a:rPr>
              <a:t> </a:t>
            </a:r>
            <a:r>
              <a:rPr sz="1000" spc="-30" dirty="0">
                <a:latin typeface="Lucida Sans Unicode"/>
                <a:cs typeface="Lucida Sans Unicode"/>
              </a:rPr>
              <a:t>Analysis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spc="-415" dirty="0">
                <a:latin typeface="Lucida Sans Unicode"/>
                <a:cs typeface="Lucida Sans Unicode"/>
              </a:rPr>
              <a:t>·</a:t>
            </a:r>
            <a:r>
              <a:rPr sz="1000" spc="-90" dirty="0">
                <a:latin typeface="Lucida Sans Unicode"/>
                <a:cs typeface="Lucida Sans Unicode"/>
              </a:rPr>
              <a:t> </a:t>
            </a:r>
            <a:r>
              <a:rPr sz="1000" spc="-70" dirty="0">
                <a:latin typeface="Lucida Sans Unicode"/>
                <a:cs typeface="Lucida Sans Unicode"/>
              </a:rPr>
              <a:t>IoT</a:t>
            </a:r>
            <a:r>
              <a:rPr sz="1000" spc="-130" dirty="0">
                <a:latin typeface="Lucida Sans Unicode"/>
                <a:cs typeface="Lucida Sans Unicode"/>
              </a:rPr>
              <a:t> </a:t>
            </a:r>
            <a:r>
              <a:rPr sz="1000" spc="-415" dirty="0">
                <a:latin typeface="Lucida Sans Unicode"/>
                <a:cs typeface="Lucida Sans Unicode"/>
              </a:rPr>
              <a:t>·</a:t>
            </a:r>
            <a:r>
              <a:rPr sz="1000" spc="-90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Lucida Sans Unicode"/>
                <a:cs typeface="Lucida Sans Unicode"/>
              </a:rPr>
              <a:t>Smart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Lucida Sans Unicode"/>
                <a:cs typeface="Lucida Sans Unicode"/>
              </a:rPr>
              <a:t>Cities</a:t>
            </a:r>
            <a:r>
              <a:rPr sz="1000" spc="-90" dirty="0">
                <a:latin typeface="Lucida Sans Unicode"/>
                <a:cs typeface="Lucida Sans Unicode"/>
              </a:rPr>
              <a:t> </a:t>
            </a:r>
            <a:r>
              <a:rPr sz="1000" spc="-415" dirty="0">
                <a:latin typeface="Lucida Sans Unicode"/>
                <a:cs typeface="Lucida Sans Unicode"/>
              </a:rPr>
              <a:t>·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Lucida Sans Unicode"/>
                <a:cs typeface="Lucida Sans Unicode"/>
              </a:rPr>
              <a:t>Sustainability</a:t>
            </a:r>
            <a:endParaRPr sz="1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796</Words>
  <Application>Microsoft Office PowerPoint</Application>
  <PresentationFormat>Custom</PresentationFormat>
  <Paragraphs>146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 Black</vt:lpstr>
      <vt:lpstr>Calibri</vt:lpstr>
      <vt:lpstr>Lucida Sans Unicode</vt:lpstr>
      <vt:lpstr>Tahoma</vt:lpstr>
      <vt:lpstr>Verdana</vt:lpstr>
      <vt:lpstr>Office Theme</vt:lpstr>
      <vt:lpstr>AI-Based Smart Waste Management System</vt:lpstr>
      <vt:lpstr>Abstract &amp; Problem Statement</vt:lpstr>
      <vt:lpstr>Literature Survey</vt:lpstr>
      <vt:lpstr>Project Objectives</vt:lpstr>
      <vt:lpstr>System Architecture</vt:lpstr>
      <vt:lpstr>Methodology &amp; Dataset</vt:lpstr>
      <vt:lpstr>Results &amp; Analysis</vt:lpstr>
      <vt:lpstr>Testing, Validation &amp; Advantages</vt:lpstr>
      <vt:lpstr>Limitations &amp; Future Scope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Gunin Bhardwaj</cp:lastModifiedBy>
  <cp:revision>1</cp:revision>
  <dcterms:created xsi:type="dcterms:W3CDTF">2026-04-15T13:29:13Z</dcterms:created>
  <dcterms:modified xsi:type="dcterms:W3CDTF">2026-04-15T13:31:33Z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2026-04-15T00:00:00Z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2026-04-15T00:00:00Z</vt:filetime>
  </property>
  <property fmtid="{D5CDD505-2E9C-101B-9397-08002B2CF9AE}" pid="5" name="Producer">
    <vt:lpwstr>pdf-lib (https://github.com/Hopding/pdf-lib)</vt:lpwstr>
  </property>
</Properties>
</file>